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8" r:id="rId16"/>
    <p:sldId id="270" r:id="rId17"/>
    <p:sldId id="271"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3493"/>
  </p:normalViewPr>
  <p:slideViewPr>
    <p:cSldViewPr snapToGrid="0" snapToObjects="1">
      <p:cViewPr varScale="1">
        <p:scale>
          <a:sx n="52" d="100"/>
          <a:sy n="52" d="100"/>
        </p:scale>
        <p:origin x="2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12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 Good afternoon. I'm Jash Parekh from University of Illinois Urbana-Champaign, presenting joint work with the National Institutes of Health titled Condition-Gated Reasoning for Context-Dependent Biomedical QA. Our paper asks a narrow question: what happens to biomedical QA when the correct answer </a:t>
            </a:r>
            <a:r>
              <a:rPr lang="en-US"/>
              <a:t>depends heavily on </a:t>
            </a:r>
            <a:r>
              <a:rPr lang="en-US" dirty="0"/>
              <a:t>the patient in front of you.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80s — Start with a case. A 68-year-old with hypertension and bilateral renal artery stenosis. Both pipelines read the same source document and extract the same two treatment relations. The standard approach has nowhere to put the stenosis constraint, so it ignores it and returns lisinopril — an ACE inhibitor, which is contraindicated here and can precipitate acute renal failure. CGR carries the condition on the tuple: lisinopril's relation holds only in the absence of BRAS. The query asserts BRAS, so that path is blocked before ranking, and amlodipine — a calcium channel blocker with no blocking condition — is returned instead. Same question, same knowledge, two different correct answers, and what separates them is one clause about the patient.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 That case points at two gaps. First, representation. Every KG-RAG system in this space stores triples. Contraindications, population restrictions, stage-specific guidance — none of it has a home in a triple, so it is dropped at extraction time. Second, evaluation. MedHopQA, BioASQ and PubMedQA all test recall and multi-hop composition. None tests whether a model changes its answer when the patient changes. So we contribute one of each: a benchmark that isolates the behaviour, and a method that produces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 Three parts. The benchmark, so we can measure the behaviour. The method, which is where most of the time goes. Then the evidence across four datasets and three model families.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65s — Conditional is a fuzzy word, so we made it a test with five clauses. A modifier has to be present. A default answer has to exist without it. The two answers have to differ. Both have to be genuinely correct in their own context — this rules out cases where the general answer was simply wrong. And the dependence has to be causal: strike the modifier and the general answer returns. The example on the right: MDD, contraindicated antidepressant. Without the bulimia clause you'd say sertraline. With it, bupropion is the answer, because bupropion lowers the seizure threshold and bulimia raises seizure risk.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 100 questions passing all five criteria. The distribution is deliberately skewed toward what shows up in practice: over half are comorbidity and organ-function cases, where a disease or an organ forces a substitution. A quarter are imaging-modality choices — radiation, contrast. Then special populations, and a small tail of drug-drug interactions. Construction was three stages: Gemini proposed candidates, rule-based filters removed anything failing criteria one through three, and every surviving question was checked by hand.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 Here is the full comparison. Top band, a conventional KG-RAG pipeline on our query. Relation extraction gives treatment triples. Traversal has no reason to prefer one over another, so every treatment edge from hypertension is followed. Evidence assembly retrieves passages about ACE inhibitors, and the final answer is lisinopril. Wrong, and confidently so. Bottom band, same corpus, same query. N-tuple extraction keeps the condition list attached to each edge. Traversal evaluates the query against those lists: the lisinopril and losartan edges carry not-BRAS, the query asserts BRAS, so those paths are masked — the dashed arrows. Amlodipine has no blocking condition, so it is the one path that survives, and the evidence that reaches the generator is about calcium channel blockers in renal stenosis. The difference is not a bigger model or better retrieval. It is that the condition rode along on the edge.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65s — Step one, build the graph. We extract 4-tuples: subject, relation, object, and a list of conditions under which the relation holds or fails. The conditions cover demographics, physiological status, comorbidities, disease stage and explicit contraindication contexts. Entities are normalised through UMLS so heart attack and myocardial infarction land on one node. And we allow multiple edges between the same pair, because the same drug can treat the same disease under different conditions. Bottom row shows two real extractions — note the negation in the metformin tuple: that edge holds provided there is no severe renal impairment.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 Step two happens once per query. We parse the question into three things: the entity keywords to start traversal from, the conditions the patient satisfies or violates, and any entities the question explicitly excludes. Then — and this is what keeps the method cheap — we evaluate every condition appearing anywhere in the graph against this query, in a single batched LLM call, and cache the verdicts in a lookup table. Three-valued: true, false, and null for unknown. Null matters: an unknown condition does not block. Absence of evidence is not a contraindication. After this call, every edge test during traversal is an O(1) dictionary lookup.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85s — Step three is the mechanism the paper is named for. Breadth-first traversal from the seed entities, but each edge passes through a gate. The gate is a product over the edge's conditions of the indicator that the condition is not false. One false condition and the product is zero: the edge is not traversable. Everything else — true, null — passes. Walk the motivating query. Lisinopril's edge carries not-BRAS; the query asserts BRAS, so that condition evaluates false and the edge closes. Losartan carries not-BRAS too, and closes for the same reason. Amlodipine's condition list is empty; there is nothing to violate, so it is traversed. Note we are not ranking these edges down. We remove them from the search space before ranking ever sees them. Traversal stops at max depth, when no outgoing edge passes the gate, or at a leaf.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55s — Step four. Surviving paths are scored by aggregate cosine similarity between the path's relation chain and the query keywords, embedded with MedEmbed-large. Top-N paths become the evidence set, and each path keeps its entity sequence, its source snippets, and the conditions on the edges it traversed — so the generator can see why a path was admissible. The answer is one LLM call over query plus paths plus evidence. Overall: one call for condition evaluation regardless of graph size, then linear traversal with constant-time gate checks.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80s — GPT-5.2 backbone, exact match and F1 on all four datasets. Read the last row against the rest. On CondMedQA, 82.0 EM against 62.0 for the strongest baseline — a 20-point gap. On MedHopQA, 86.8 against 75.8, eleven points. On the conditional slice of MedHopQA, 80.0. And on BioASQ, where no question is conditional at all, we still lead at 40.6 — because when there are no conditions the gate is a no-op and you are left with a well-structured graph traversal. Two things worth flagging: the graph baselines, HippoRAG2 and StructRAG, build graphs but without condition modelling, and they plateau. And RAG with a strong retriever is genuinely competitive on the factoid set — our margin there is smaller and we say so in the paper.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 This is the ablation that matters. Keep everything — the 4-tuple extraction, the normalisation, the path ranking — and remove only the gate, so conditions are extracted but never enforced. CondMedQA drops 25 points. MedHopQA's conditional slice drops 17. Standard MedHopQA drops 14, which is smaller and exactly what you'd expect, because fewer of those questions turn on a condition. Two conclusions. Extracting conditions is not sufficient; you have to act on them during search. And the gate is not doing generic retrieval work — its benefit is concentrated where conditions actually bind.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 We read all 18 remaining CondMedQA errors. Only two are reasoning failures. Eleven are retrieval: the gold entity is in the graph and admissible, but a high-degree generic edge outranks the condition-appropriate path, so it never makes the top-k. That is a ranking problem, and our ranking is purely semantic — it does not know a path survived the gate. Five are extraction: either the entity never made it into the graph, or UMLS normalisation went wrong. Our favourite failure is SSRI resolving to SsrI, a restriction endonuclease. Both dominant categories are fixable without touching the gate.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limitations. CondMedQA is 100 questions: a diagnostic instrument, not a training set, and expanding coverage across specialties is the obvious next step. CGR inherits whatever the source documents get wrong. Path ranking is condition-blind, which our error analysis identified as the dominant failure mode. And UMLS resolution can compound errors — SSRI to SsrI is the example we keep quoting. Future work: condition-aware ranking, multi-modal graphs, privacy-preserving deployment, demographic bias auditing, and other high-stakes domains.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 To close. CondMedQA is a diagnostic benchmark for a behaviour nothing else measured. CGR puts conditions on edges and enforces them during traversal. That is worth 20 points on conditional questions and holds across three model families. And the broader point: in a domain where the wrong answer is a contraindication, structure that can represent when knowledge does not apply is not an optimisation — it is a requirement.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holds here for five minutes. The paper QR is on the left, the benchmark and code on the right.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a:effectLst/>
      </p:bgPr>
    </p:bg>
    <p:spTree>
      <p:nvGrpSpPr>
        <p:cNvPr id="1" name=""/>
        <p:cNvGrpSpPr/>
        <p:nvPr/>
      </p:nvGrpSpPr>
      <p:grpSpPr>
        <a:xfrm>
          <a:off x="0" y="0"/>
          <a:ext cx="0" cy="0"/>
          <a:chOff x="0" y="0"/>
          <a:chExt cx="0" cy="0"/>
        </a:xfrm>
      </p:grpSpPr>
      <p:sp>
        <p:nvSpPr>
          <p:cNvPr id="2" name="Shape 0"/>
          <p:cNvSpPr/>
          <p:nvPr/>
        </p:nvSpPr>
        <p:spPr>
          <a:xfrm>
            <a:off x="990586" y="848591"/>
            <a:ext cx="533346" cy="28548"/>
          </a:xfrm>
          <a:prstGeom prst="rect">
            <a:avLst/>
          </a:prstGeom>
          <a:solidFill>
            <a:srgbClr val="6B8FB5"/>
          </a:solidFill>
          <a:ln/>
        </p:spPr>
        <p:txBody>
          <a:bodyPr/>
          <a:lstStyle/>
          <a:p>
            <a:endParaRPr lang="en-US"/>
          </a:p>
        </p:txBody>
      </p:sp>
      <p:sp>
        <p:nvSpPr>
          <p:cNvPr id="3" name="Text 1"/>
          <p:cNvSpPr/>
          <p:nvPr/>
        </p:nvSpPr>
        <p:spPr>
          <a:xfrm>
            <a:off x="1714432" y="685759"/>
            <a:ext cx="5130552"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432" dirty="0">
                <a:solidFill>
                  <a:srgbClr val="3C5F82"/>
                </a:solidFill>
                <a:latin typeface="Arial" pitchFamily="34" charset="0"/>
                <a:ea typeface="Arial" pitchFamily="34" charset="-122"/>
                <a:cs typeface="Arial" pitchFamily="34" charset="-120"/>
              </a:rPr>
              <a:t>KDD '26 · AI4SCIENCE TRACK</a:t>
            </a:r>
            <a:endParaRPr lang="en-US" sz="1800" dirty="0"/>
          </a:p>
        </p:txBody>
      </p:sp>
      <p:sp>
        <p:nvSpPr>
          <p:cNvPr id="4" name="Shape 2"/>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5" name="Text 3"/>
          <p:cNvSpPr/>
          <p:nvPr/>
        </p:nvSpPr>
        <p:spPr>
          <a:xfrm>
            <a:off x="990586" y="3163003"/>
            <a:ext cx="16285845" cy="2950396"/>
          </a:xfrm>
          <a:prstGeom prst="rect">
            <a:avLst/>
          </a:prstGeom>
          <a:noFill/>
          <a:ln/>
        </p:spPr>
        <p:txBody>
          <a:bodyPr wrap="square" lIns="25400" tIns="25400" rIns="25400" bIns="25400" rtlCol="0" anchor="t">
            <a:normAutofit lnSpcReduction="10000"/>
          </a:bodyPr>
          <a:lstStyle/>
          <a:p>
            <a:pPr marL="0" indent="0" algn="l">
              <a:lnSpc>
                <a:spcPct val="85582"/>
              </a:lnSpc>
              <a:buNone/>
            </a:pPr>
            <a:r>
              <a:rPr lang="en-US" sz="7800" b="1" kern="0" spc="-234" dirty="0">
                <a:solidFill>
                  <a:srgbClr val="201E1D"/>
                </a:solidFill>
                <a:latin typeface="Arial" pitchFamily="34" charset="0"/>
                <a:ea typeface="Arial" pitchFamily="34" charset="-122"/>
                <a:cs typeface="Arial" pitchFamily="34" charset="-120"/>
              </a:rPr>
              <a:t>Condition-Gated Reasoning for Context-Dependent Biomedical Question Answering</a:t>
            </a:r>
            <a:endParaRPr lang="en-US" sz="7800" dirty="0"/>
          </a:p>
        </p:txBody>
      </p:sp>
      <p:sp>
        <p:nvSpPr>
          <p:cNvPr id="6" name="Shape 4"/>
          <p:cNvSpPr/>
          <p:nvPr/>
        </p:nvSpPr>
        <p:spPr>
          <a:xfrm>
            <a:off x="990586" y="7969814"/>
            <a:ext cx="16306827" cy="19009"/>
          </a:xfrm>
          <a:prstGeom prst="rect">
            <a:avLst/>
          </a:prstGeom>
          <a:solidFill>
            <a:srgbClr val="201E1D">
              <a:alpha val="40000"/>
            </a:srgbClr>
          </a:solidFill>
          <a:ln/>
        </p:spPr>
        <p:txBody>
          <a:bodyPr/>
          <a:lstStyle/>
          <a:p>
            <a:endParaRPr lang="en-US"/>
          </a:p>
        </p:txBody>
      </p:sp>
      <p:sp>
        <p:nvSpPr>
          <p:cNvPr id="7" name="Text 5"/>
          <p:cNvSpPr/>
          <p:nvPr/>
        </p:nvSpPr>
        <p:spPr>
          <a:xfrm>
            <a:off x="990585" y="8255496"/>
            <a:ext cx="16285845" cy="961917"/>
          </a:xfrm>
          <a:prstGeom prst="rect">
            <a:avLst/>
          </a:prstGeom>
          <a:noFill/>
          <a:ln/>
        </p:spPr>
        <p:txBody>
          <a:bodyPr wrap="square" lIns="25400" tIns="25400" rIns="25400" bIns="25400" rtlCol="0" anchor="t">
            <a:normAutofit/>
          </a:bodyPr>
          <a:lstStyle/>
          <a:p>
            <a:pPr marL="0" indent="0" algn="l">
              <a:lnSpc>
                <a:spcPct val="125921"/>
              </a:lnSpc>
              <a:buNone/>
            </a:pPr>
            <a:r>
              <a:rPr lang="en-US" sz="2250" dirty="0">
                <a:solidFill>
                  <a:srgbClr val="201E1D"/>
                </a:solidFill>
                <a:latin typeface="Arial" pitchFamily="34" charset="0"/>
                <a:ea typeface="Arial" pitchFamily="34" charset="-122"/>
                <a:cs typeface="Arial" pitchFamily="34" charset="-120"/>
              </a:rPr>
              <a:t>Jash Parekh</a:t>
            </a:r>
            <a:r>
              <a:rPr lang="en-US" sz="1875" baseline="30000" dirty="0">
                <a:solidFill>
                  <a:srgbClr val="201E1D"/>
                </a:solidFill>
                <a:latin typeface="Arial" pitchFamily="34" charset="0"/>
                <a:ea typeface="Arial" pitchFamily="34" charset="-122"/>
                <a:cs typeface="Arial" pitchFamily="34" charset="-120"/>
              </a:rPr>
              <a:t>1</a:t>
            </a:r>
            <a:r>
              <a:rPr lang="en-US" sz="2250" dirty="0">
                <a:solidFill>
                  <a:srgbClr val="201E1D"/>
                </a:solidFill>
                <a:latin typeface="Arial" pitchFamily="34" charset="0"/>
                <a:ea typeface="Arial" pitchFamily="34" charset="-122"/>
                <a:cs typeface="Arial" pitchFamily="34" charset="-120"/>
              </a:rPr>
              <a:t>, Wonbin Kweon</a:t>
            </a:r>
            <a:r>
              <a:rPr lang="en-US" sz="1875" baseline="30000" dirty="0">
                <a:solidFill>
                  <a:srgbClr val="201E1D"/>
                </a:solidFill>
                <a:latin typeface="Arial" pitchFamily="34" charset="0"/>
                <a:ea typeface="Arial" pitchFamily="34" charset="-122"/>
                <a:cs typeface="Arial" pitchFamily="34" charset="-120"/>
              </a:rPr>
              <a:t>1</a:t>
            </a:r>
            <a:r>
              <a:rPr lang="en-US" sz="2250" dirty="0">
                <a:solidFill>
                  <a:srgbClr val="201E1D"/>
                </a:solidFill>
                <a:latin typeface="Arial" pitchFamily="34" charset="0"/>
                <a:ea typeface="Arial" pitchFamily="34" charset="-122"/>
                <a:cs typeface="Arial" pitchFamily="34" charset="-120"/>
              </a:rPr>
              <a:t>, Joey Chan</a:t>
            </a:r>
            <a:r>
              <a:rPr lang="en-US" sz="1875" baseline="30000" dirty="0">
                <a:solidFill>
                  <a:srgbClr val="201E1D"/>
                </a:solidFill>
                <a:latin typeface="Arial" pitchFamily="34" charset="0"/>
                <a:ea typeface="Arial" pitchFamily="34" charset="-122"/>
                <a:cs typeface="Arial" pitchFamily="34" charset="-120"/>
              </a:rPr>
              <a:t>1</a:t>
            </a:r>
            <a:r>
              <a:rPr lang="en-US" sz="2250" dirty="0">
                <a:solidFill>
                  <a:srgbClr val="201E1D"/>
                </a:solidFill>
                <a:latin typeface="Arial" pitchFamily="34" charset="0"/>
                <a:ea typeface="Arial" pitchFamily="34" charset="-122"/>
                <a:cs typeface="Arial" pitchFamily="34" charset="-120"/>
              </a:rPr>
              <a:t>, Rezarta Islamaj</a:t>
            </a:r>
            <a:r>
              <a:rPr lang="en-US" sz="1875" baseline="30000" dirty="0">
                <a:solidFill>
                  <a:srgbClr val="201E1D"/>
                </a:solidFill>
                <a:latin typeface="Arial" pitchFamily="34" charset="0"/>
                <a:ea typeface="Arial" pitchFamily="34" charset="-122"/>
                <a:cs typeface="Arial" pitchFamily="34" charset="-120"/>
              </a:rPr>
              <a:t>2</a:t>
            </a:r>
            <a:r>
              <a:rPr lang="en-US" sz="2250" dirty="0">
                <a:solidFill>
                  <a:srgbClr val="201E1D"/>
                </a:solidFill>
                <a:latin typeface="Arial" pitchFamily="34" charset="0"/>
                <a:ea typeface="Arial" pitchFamily="34" charset="-122"/>
                <a:cs typeface="Arial" pitchFamily="34" charset="-120"/>
              </a:rPr>
              <a:t>, Robert Leaman</a:t>
            </a:r>
            <a:r>
              <a:rPr lang="en-US" sz="1875" baseline="30000" dirty="0">
                <a:solidFill>
                  <a:srgbClr val="201E1D"/>
                </a:solidFill>
                <a:latin typeface="Arial" pitchFamily="34" charset="0"/>
                <a:ea typeface="Arial" pitchFamily="34" charset="-122"/>
                <a:cs typeface="Arial" pitchFamily="34" charset="-120"/>
              </a:rPr>
              <a:t>2</a:t>
            </a:r>
            <a:r>
              <a:rPr lang="en-US" sz="2250" dirty="0">
                <a:solidFill>
                  <a:srgbClr val="201E1D"/>
                </a:solidFill>
                <a:latin typeface="Arial" pitchFamily="34" charset="0"/>
                <a:ea typeface="Arial" pitchFamily="34" charset="-122"/>
                <a:cs typeface="Arial" pitchFamily="34" charset="-120"/>
              </a:rPr>
              <a:t>, Pengcheng Jiang</a:t>
            </a:r>
            <a:r>
              <a:rPr lang="en-US" sz="1875" baseline="30000" dirty="0">
                <a:solidFill>
                  <a:srgbClr val="201E1D"/>
                </a:solidFill>
                <a:latin typeface="Arial" pitchFamily="34" charset="0"/>
                <a:ea typeface="Arial" pitchFamily="34" charset="-122"/>
                <a:cs typeface="Arial" pitchFamily="34" charset="-120"/>
              </a:rPr>
              <a:t>1 </a:t>
            </a:r>
            <a:r>
              <a:rPr lang="en-US" sz="2250" dirty="0">
                <a:solidFill>
                  <a:srgbClr val="201E1D"/>
                </a:solidFill>
                <a:latin typeface="Arial" pitchFamily="34" charset="0"/>
                <a:ea typeface="Arial" pitchFamily="34" charset="-122"/>
                <a:cs typeface="Arial" pitchFamily="34" charset="-120"/>
              </a:rPr>
              <a:t>, Chih-Hsuan Wei </a:t>
            </a:r>
            <a:r>
              <a:rPr lang="en-US" sz="1875" baseline="30000" dirty="0">
                <a:solidFill>
                  <a:srgbClr val="201E1D"/>
                </a:solidFill>
                <a:latin typeface="Arial" pitchFamily="34" charset="0"/>
                <a:ea typeface="Arial" pitchFamily="34" charset="-122"/>
                <a:cs typeface="Arial" pitchFamily="34" charset="-120"/>
              </a:rPr>
              <a:t>2</a:t>
            </a:r>
            <a:r>
              <a:rPr lang="en-US" sz="2250" dirty="0">
                <a:solidFill>
                  <a:srgbClr val="201E1D"/>
                </a:solidFill>
                <a:latin typeface="Arial" pitchFamily="34" charset="0"/>
                <a:ea typeface="Arial" pitchFamily="34" charset="-122"/>
                <a:cs typeface="Arial" pitchFamily="34" charset="-120"/>
              </a:rPr>
              <a:t>, Zhizheng Wang</a:t>
            </a:r>
            <a:r>
              <a:rPr lang="en-US" sz="1875" baseline="30000" dirty="0">
                <a:solidFill>
                  <a:srgbClr val="201E1D"/>
                </a:solidFill>
                <a:latin typeface="Arial" pitchFamily="34" charset="0"/>
                <a:ea typeface="Arial" pitchFamily="34" charset="-122"/>
                <a:cs typeface="Arial" pitchFamily="34" charset="-120"/>
              </a:rPr>
              <a:t>2</a:t>
            </a:r>
            <a:r>
              <a:rPr lang="en-US" sz="2250" dirty="0">
                <a:solidFill>
                  <a:srgbClr val="201E1D"/>
                </a:solidFill>
                <a:latin typeface="Arial" pitchFamily="34" charset="0"/>
                <a:ea typeface="Arial" pitchFamily="34" charset="-122"/>
                <a:cs typeface="Arial" pitchFamily="34" charset="-120"/>
              </a:rPr>
              <a:t>, Zhiyong Lu</a:t>
            </a:r>
            <a:r>
              <a:rPr lang="en-US" sz="1875" baseline="30000" dirty="0">
                <a:solidFill>
                  <a:srgbClr val="201E1D"/>
                </a:solidFill>
                <a:latin typeface="Arial" pitchFamily="34" charset="0"/>
                <a:ea typeface="Arial" pitchFamily="34" charset="-122"/>
                <a:cs typeface="Arial" pitchFamily="34" charset="-120"/>
              </a:rPr>
              <a:t>2</a:t>
            </a:r>
            <a:r>
              <a:rPr lang="en-US" sz="2250" dirty="0">
                <a:solidFill>
                  <a:srgbClr val="201E1D"/>
                </a:solidFill>
                <a:latin typeface="Arial" pitchFamily="34" charset="0"/>
                <a:ea typeface="Arial" pitchFamily="34" charset="-122"/>
                <a:cs typeface="Arial" pitchFamily="34" charset="-120"/>
              </a:rPr>
              <a:t>, Jiawei Han</a:t>
            </a:r>
            <a:r>
              <a:rPr lang="en-US" sz="1875" baseline="30000" dirty="0">
                <a:solidFill>
                  <a:srgbClr val="201E1D"/>
                </a:solidFill>
                <a:latin typeface="Arial" pitchFamily="34" charset="0"/>
                <a:ea typeface="Arial" pitchFamily="34" charset="-122"/>
                <a:cs typeface="Arial" pitchFamily="34" charset="-120"/>
              </a:rPr>
              <a:t>1</a:t>
            </a:r>
            <a:endParaRPr lang="en-US" sz="2250" dirty="0"/>
          </a:p>
        </p:txBody>
      </p:sp>
      <p:sp>
        <p:nvSpPr>
          <p:cNvPr id="8" name="Text 6"/>
          <p:cNvSpPr/>
          <p:nvPr/>
        </p:nvSpPr>
        <p:spPr>
          <a:xfrm>
            <a:off x="990586" y="9369812"/>
            <a:ext cx="17937509"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kern="0" spc="195" dirty="0">
                <a:solidFill>
                  <a:srgbClr val="201E1D">
                    <a:alpha val="50000"/>
                  </a:srgbClr>
                </a:solidFill>
                <a:latin typeface="Arial" pitchFamily="34" charset="0"/>
                <a:ea typeface="Arial" pitchFamily="34" charset="-122"/>
                <a:cs typeface="Arial" pitchFamily="34" charset="-120"/>
              </a:rPr>
              <a:t>1 UNIVERSITY OF ILLINOIS URBANA-CHAMPAIGN · 2 NATIONAL INSTITUTES OF HEALTH</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Motivating Example</a:t>
            </a:r>
            <a:endParaRPr lang="en-US" sz="4650" dirty="0"/>
          </a:p>
        </p:txBody>
      </p:sp>
      <p:sp>
        <p:nvSpPr>
          <p:cNvPr id="7" name="Shape 5"/>
          <p:cNvSpPr/>
          <p:nvPr/>
        </p:nvSpPr>
        <p:spPr>
          <a:xfrm>
            <a:off x="990586" y="2778268"/>
            <a:ext cx="5715000" cy="19009"/>
          </a:xfrm>
          <a:prstGeom prst="rect">
            <a:avLst/>
          </a:prstGeom>
          <a:solidFill>
            <a:srgbClr val="201E1D"/>
          </a:solidFill>
          <a:ln/>
        </p:spPr>
        <p:txBody>
          <a:bodyPr/>
          <a:lstStyle/>
          <a:p>
            <a:endParaRPr lang="en-US"/>
          </a:p>
        </p:txBody>
      </p:sp>
      <p:sp>
        <p:nvSpPr>
          <p:cNvPr id="8" name="Text 6"/>
          <p:cNvSpPr/>
          <p:nvPr/>
        </p:nvSpPr>
        <p:spPr>
          <a:xfrm>
            <a:off x="990586" y="3152173"/>
            <a:ext cx="6286500" cy="427827"/>
          </a:xfrm>
          <a:prstGeom prst="rect">
            <a:avLst/>
          </a:prstGeom>
          <a:noFill/>
          <a:ln/>
        </p:spPr>
        <p:txBody>
          <a:bodyPr wrap="square" lIns="25400" tIns="25400" rIns="25400" bIns="25400" rtlCol="0" anchor="t">
            <a:normAutofit lnSpcReduction="10000"/>
          </a:bodyPr>
          <a:lstStyle/>
          <a:p>
            <a:pPr marL="0" indent="0" algn="l">
              <a:lnSpc>
                <a:spcPct val="115415"/>
              </a:lnSpc>
              <a:buNone/>
            </a:pPr>
            <a:r>
              <a:rPr lang="en-US" sz="2325" b="1" dirty="0">
                <a:solidFill>
                  <a:srgbClr val="201E1D"/>
                </a:solidFill>
                <a:latin typeface="Arial" pitchFamily="34" charset="0"/>
                <a:ea typeface="Arial" pitchFamily="34" charset="-122"/>
                <a:cs typeface="Arial" pitchFamily="34" charset="-120"/>
              </a:rPr>
              <a:t>Biomedical QA is not a fact-lookup task.</a:t>
            </a:r>
            <a:endParaRPr lang="en-US" sz="2325" dirty="0"/>
          </a:p>
        </p:txBody>
      </p:sp>
      <p:sp>
        <p:nvSpPr>
          <p:cNvPr id="9" name="Text 7"/>
          <p:cNvSpPr/>
          <p:nvPr/>
        </p:nvSpPr>
        <p:spPr>
          <a:xfrm>
            <a:off x="990586" y="3868894"/>
            <a:ext cx="5886450" cy="1133610"/>
          </a:xfrm>
          <a:prstGeom prst="rect">
            <a:avLst/>
          </a:prstGeom>
          <a:noFill/>
          <a:ln/>
        </p:spPr>
        <p:txBody>
          <a:bodyPr wrap="square" lIns="25400" tIns="25400" rIns="25400" bIns="25400" rtlCol="0" anchor="t">
            <a:normAutofit lnSpcReduction="10000"/>
          </a:bodyPr>
          <a:lstStyle/>
          <a:p>
            <a:pPr marL="0" indent="0" algn="l">
              <a:lnSpc>
                <a:spcPct val="122243"/>
              </a:lnSpc>
              <a:buNone/>
            </a:pPr>
            <a:r>
              <a:rPr lang="en-US" sz="2025" b="1" dirty="0">
                <a:solidFill>
                  <a:srgbClr val="3C5F82"/>
                </a:solidFill>
                <a:latin typeface="Courier New" pitchFamily="34" charset="0"/>
                <a:ea typeface="Courier New" pitchFamily="34" charset="-122"/>
                <a:cs typeface="Courier New" pitchFamily="34" charset="-120"/>
              </a:rPr>
              <a:t>01 </a:t>
            </a:r>
            <a:r>
              <a:rPr lang="en-US" sz="2025" dirty="0">
                <a:solidFill>
                  <a:srgbClr val="201E1D"/>
                </a:solidFill>
                <a:latin typeface="Arial" pitchFamily="34" charset="0"/>
                <a:ea typeface="Arial" pitchFamily="34" charset="-122"/>
                <a:cs typeface="Arial" pitchFamily="34" charset="-120"/>
              </a:rPr>
              <a:t>The answer depends on patient-specific factors — allergies, comorbidities, concurrent medications.</a:t>
            </a:r>
            <a:endParaRPr lang="en-US" sz="2025" dirty="0"/>
          </a:p>
        </p:txBody>
      </p:sp>
      <p:sp>
        <p:nvSpPr>
          <p:cNvPr id="10" name="Text 8"/>
          <p:cNvSpPr/>
          <p:nvPr/>
        </p:nvSpPr>
        <p:spPr>
          <a:xfrm>
            <a:off x="990586" y="5253155"/>
            <a:ext cx="5886450" cy="768440"/>
          </a:xfrm>
          <a:prstGeom prst="rect">
            <a:avLst/>
          </a:prstGeom>
          <a:noFill/>
          <a:ln/>
        </p:spPr>
        <p:txBody>
          <a:bodyPr wrap="square" lIns="25400" tIns="25400" rIns="25400" bIns="25400" rtlCol="0" anchor="t">
            <a:normAutofit lnSpcReduction="10000"/>
          </a:bodyPr>
          <a:lstStyle/>
          <a:p>
            <a:pPr marL="0" indent="0" algn="l">
              <a:lnSpc>
                <a:spcPct val="122243"/>
              </a:lnSpc>
              <a:buNone/>
            </a:pPr>
            <a:r>
              <a:rPr lang="en-US" sz="2025" b="1" dirty="0">
                <a:solidFill>
                  <a:srgbClr val="3C5F82"/>
                </a:solidFill>
                <a:latin typeface="Courier New" pitchFamily="34" charset="0"/>
                <a:ea typeface="Courier New" pitchFamily="34" charset="-122"/>
                <a:cs typeface="Courier New" pitchFamily="34" charset="-120"/>
              </a:rPr>
              <a:t>02 </a:t>
            </a:r>
            <a:r>
              <a:rPr lang="en-US" sz="2025" dirty="0">
                <a:solidFill>
                  <a:srgbClr val="201E1D"/>
                </a:solidFill>
                <a:latin typeface="Arial" pitchFamily="34" charset="0"/>
                <a:ea typeface="Arial" pitchFamily="34" charset="-122"/>
                <a:cs typeface="Arial" pitchFamily="34" charset="-120"/>
              </a:rPr>
              <a:t>One question can have several correct answers, one per patient context.</a:t>
            </a:r>
            <a:endParaRPr lang="en-US" sz="2025" dirty="0"/>
          </a:p>
        </p:txBody>
      </p:sp>
      <p:sp>
        <p:nvSpPr>
          <p:cNvPr id="11" name="Text 9"/>
          <p:cNvSpPr/>
          <p:nvPr/>
        </p:nvSpPr>
        <p:spPr>
          <a:xfrm>
            <a:off x="990586" y="6272246"/>
            <a:ext cx="5886450" cy="768440"/>
          </a:xfrm>
          <a:prstGeom prst="rect">
            <a:avLst/>
          </a:prstGeom>
          <a:noFill/>
          <a:ln/>
        </p:spPr>
        <p:txBody>
          <a:bodyPr wrap="square" lIns="25400" tIns="25400" rIns="25400" bIns="25400" rtlCol="0" anchor="t">
            <a:normAutofit lnSpcReduction="10000"/>
          </a:bodyPr>
          <a:lstStyle/>
          <a:p>
            <a:pPr marL="0" indent="0" algn="l">
              <a:lnSpc>
                <a:spcPct val="122243"/>
              </a:lnSpc>
              <a:buNone/>
            </a:pPr>
            <a:r>
              <a:rPr lang="en-US" sz="2025" b="1" dirty="0">
                <a:solidFill>
                  <a:srgbClr val="3C5F82"/>
                </a:solidFill>
                <a:latin typeface="Courier New" pitchFamily="34" charset="0"/>
                <a:ea typeface="Courier New" pitchFamily="34" charset="-122"/>
                <a:cs typeface="Courier New" pitchFamily="34" charset="-120"/>
              </a:rPr>
              <a:t>03 </a:t>
            </a:r>
            <a:r>
              <a:rPr lang="en-US" sz="2025" dirty="0">
                <a:solidFill>
                  <a:srgbClr val="201E1D"/>
                </a:solidFill>
                <a:latin typeface="Arial" pitchFamily="34" charset="0"/>
                <a:ea typeface="Arial" pitchFamily="34" charset="-122"/>
                <a:cs typeface="Arial" pitchFamily="34" charset="-120"/>
              </a:rPr>
              <a:t>A default treatment may be contraindicated: the best answer shifts with the constraint.</a:t>
            </a:r>
            <a:endParaRPr lang="en-US" sz="2025" dirty="0"/>
          </a:p>
        </p:txBody>
      </p:sp>
      <p:sp>
        <p:nvSpPr>
          <p:cNvPr id="13" name="Shape 10"/>
          <p:cNvSpPr/>
          <p:nvPr/>
        </p:nvSpPr>
        <p:spPr>
          <a:xfrm>
            <a:off x="990586" y="7791563"/>
            <a:ext cx="16306827" cy="19009"/>
          </a:xfrm>
          <a:prstGeom prst="rect">
            <a:avLst/>
          </a:prstGeom>
          <a:solidFill>
            <a:srgbClr val="201E1D">
              <a:alpha val="40000"/>
            </a:srgbClr>
          </a:solidFill>
          <a:ln/>
        </p:spPr>
        <p:txBody>
          <a:bodyPr/>
          <a:lstStyle/>
          <a:p>
            <a:endParaRPr lang="en-US"/>
          </a:p>
        </p:txBody>
      </p:sp>
      <p:sp>
        <p:nvSpPr>
          <p:cNvPr id="14" name="Text 11"/>
          <p:cNvSpPr/>
          <p:nvPr/>
        </p:nvSpPr>
        <p:spPr>
          <a:xfrm>
            <a:off x="990586" y="8029910"/>
            <a:ext cx="17937509"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1950" dirty="0">
                <a:solidFill>
                  <a:srgbClr val="201E1D"/>
                </a:solidFill>
                <a:latin typeface="Courier New" pitchFamily="34" charset="0"/>
                <a:ea typeface="Courier New" pitchFamily="34" charset="-122"/>
                <a:cs typeface="Courier New" pitchFamily="34" charset="-120"/>
              </a:rPr>
              <a:t>⟨lisinopril, treats, hypertension⟩ </a:t>
            </a:r>
            <a:r>
              <a:rPr lang="en-US" sz="2100" dirty="0">
                <a:solidFill>
                  <a:srgbClr val="201E1D"/>
                </a:solidFill>
                <a:latin typeface="Arial" pitchFamily="34" charset="0"/>
                <a:ea typeface="Arial" pitchFamily="34" charset="-122"/>
                <a:cs typeface="Arial" pitchFamily="34" charset="-120"/>
              </a:rPr>
              <a:t>is true and </a:t>
            </a:r>
            <a:r>
              <a:rPr lang="en-US" sz="2100" b="1" dirty="0">
                <a:solidFill>
                  <a:srgbClr val="201E1D"/>
                </a:solidFill>
                <a:latin typeface="Arial" pitchFamily="34" charset="0"/>
                <a:ea typeface="Arial" pitchFamily="34" charset="-122"/>
                <a:cs typeface="Arial" pitchFamily="34" charset="-120"/>
              </a:rPr>
              <a:t>useless</a:t>
            </a:r>
            <a:r>
              <a:rPr lang="en-US" sz="2100" dirty="0">
                <a:solidFill>
                  <a:srgbClr val="201E1D"/>
                </a:solidFill>
                <a:latin typeface="Arial" pitchFamily="34" charset="0"/>
                <a:ea typeface="Arial" pitchFamily="34" charset="-122"/>
                <a:cs typeface="Arial" pitchFamily="34" charset="-120"/>
              </a:rPr>
              <a:t> without knowing the </a:t>
            </a:r>
            <a:r>
              <a:rPr lang="en-US" sz="2100" i="1" dirty="0">
                <a:solidFill>
                  <a:srgbClr val="201E1D"/>
                </a:solidFill>
                <a:latin typeface="Arial" pitchFamily="34" charset="0"/>
                <a:ea typeface="Arial" pitchFamily="34" charset="-122"/>
                <a:cs typeface="Arial" pitchFamily="34" charset="-120"/>
              </a:rPr>
              <a:t>exact</a:t>
            </a:r>
            <a:r>
              <a:rPr lang="en-US" sz="2100" dirty="0">
                <a:solidFill>
                  <a:srgbClr val="201E1D"/>
                </a:solidFill>
                <a:latin typeface="Arial" pitchFamily="34" charset="0"/>
                <a:ea typeface="Arial" pitchFamily="34" charset="-122"/>
                <a:cs typeface="Arial" pitchFamily="34" charset="-120"/>
              </a:rPr>
              <a:t> conditions about when it applies.</a:t>
            </a:r>
            <a:endParaRPr lang="en-US" sz="2100" dirty="0"/>
          </a:p>
        </p:txBody>
      </p:sp>
      <p:sp>
        <p:nvSpPr>
          <p:cNvPr id="15" name="Text 12"/>
          <p:cNvSpPr/>
          <p:nvPr/>
        </p:nvSpPr>
        <p:spPr>
          <a:xfrm>
            <a:off x="16335712" y="9399375"/>
            <a:ext cx="1037900"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02 / 16</a:t>
            </a:r>
            <a:endParaRPr lang="en-US" sz="1800" dirty="0"/>
          </a:p>
        </p:txBody>
      </p:sp>
      <p:pic>
        <p:nvPicPr>
          <p:cNvPr id="3" name="Picture 2">
            <a:extLst>
              <a:ext uri="{FF2B5EF4-FFF2-40B4-BE49-F238E27FC236}">
                <a16:creationId xmlns:a16="http://schemas.microsoft.com/office/drawing/2014/main" id="{BB3D0155-4CBC-C13E-5983-D5683B4BC723}"/>
              </a:ext>
            </a:extLst>
          </p:cNvPr>
          <p:cNvPicPr>
            <a:picLocks noChangeAspect="1"/>
          </p:cNvPicPr>
          <p:nvPr/>
        </p:nvPicPr>
        <p:blipFill>
          <a:blip r:embed="rId3"/>
          <a:stretch>
            <a:fillRect/>
          </a:stretch>
        </p:blipFill>
        <p:spPr>
          <a:xfrm>
            <a:off x="6705586" y="2592248"/>
            <a:ext cx="10496576" cy="51025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Two Gaps in Current Approaches</a:t>
            </a:r>
            <a:endParaRPr lang="en-US" sz="4650" dirty="0"/>
          </a:p>
        </p:txBody>
      </p:sp>
      <p:sp>
        <p:nvSpPr>
          <p:cNvPr id="7" name="Shape 5"/>
          <p:cNvSpPr/>
          <p:nvPr/>
        </p:nvSpPr>
        <p:spPr>
          <a:xfrm>
            <a:off x="990586" y="2904110"/>
            <a:ext cx="7696240" cy="19009"/>
          </a:xfrm>
          <a:prstGeom prst="rect">
            <a:avLst/>
          </a:prstGeom>
          <a:solidFill>
            <a:srgbClr val="201E1D"/>
          </a:solidFill>
          <a:ln/>
        </p:spPr>
        <p:txBody>
          <a:bodyPr/>
          <a:lstStyle/>
          <a:p>
            <a:endParaRPr lang="en-US"/>
          </a:p>
        </p:txBody>
      </p:sp>
      <p:sp>
        <p:nvSpPr>
          <p:cNvPr id="8" name="Text 6"/>
          <p:cNvSpPr/>
          <p:nvPr/>
        </p:nvSpPr>
        <p:spPr>
          <a:xfrm>
            <a:off x="990586" y="3151706"/>
            <a:ext cx="846586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GAP 01 · REPRESENTATION</a:t>
            </a:r>
            <a:endParaRPr lang="en-US" sz="1800" dirty="0"/>
          </a:p>
        </p:txBody>
      </p:sp>
      <p:sp>
        <p:nvSpPr>
          <p:cNvPr id="9" name="Text 7"/>
          <p:cNvSpPr/>
          <p:nvPr/>
        </p:nvSpPr>
        <p:spPr>
          <a:xfrm>
            <a:off x="990586" y="3696485"/>
            <a:ext cx="8465864" cy="472408"/>
          </a:xfrm>
          <a:prstGeom prst="rect">
            <a:avLst/>
          </a:prstGeom>
          <a:noFill/>
          <a:ln/>
        </p:spPr>
        <p:txBody>
          <a:bodyPr wrap="square" lIns="25400" tIns="25400" rIns="25400" bIns="25400" rtlCol="0" anchor="t">
            <a:normAutofit lnSpcReduction="10000"/>
          </a:bodyPr>
          <a:lstStyle/>
          <a:p>
            <a:pPr marL="0" indent="0" algn="l">
              <a:lnSpc>
                <a:spcPct val="98353"/>
              </a:lnSpc>
              <a:buNone/>
            </a:pPr>
            <a:r>
              <a:rPr lang="en-US" sz="3000" b="1" kern="0" spc="-54" dirty="0">
                <a:solidFill>
                  <a:srgbClr val="201E1D"/>
                </a:solidFill>
                <a:latin typeface="Arial" pitchFamily="34" charset="0"/>
                <a:ea typeface="Arial" pitchFamily="34" charset="-122"/>
                <a:cs typeface="Arial" pitchFamily="34" charset="-120"/>
              </a:rPr>
              <a:t>Triples have no slot for a condition</a:t>
            </a:r>
            <a:endParaRPr lang="en-US" sz="3000" dirty="0"/>
          </a:p>
        </p:txBody>
      </p:sp>
      <p:sp>
        <p:nvSpPr>
          <p:cNvPr id="10" name="Text 8"/>
          <p:cNvSpPr/>
          <p:nvPr/>
        </p:nvSpPr>
        <p:spPr>
          <a:xfrm>
            <a:off x="990586" y="4359379"/>
            <a:ext cx="7927127" cy="1640032"/>
          </a:xfrm>
          <a:prstGeom prst="rect">
            <a:avLst/>
          </a:prstGeom>
          <a:noFill/>
          <a:ln/>
        </p:spPr>
        <p:txBody>
          <a:bodyPr wrap="square" lIns="25400" tIns="25400" rIns="25400" bIns="25400" rtlCol="0" anchor="t">
            <a:normAutofit lnSpcReduction="10000"/>
          </a:bodyPr>
          <a:lstStyle/>
          <a:p>
            <a:pPr marL="0" indent="0" algn="l">
              <a:lnSpc>
                <a:spcPct val="125014"/>
              </a:lnSpc>
              <a:buNone/>
            </a:pPr>
            <a:r>
              <a:rPr lang="en-US" sz="2175" dirty="0">
                <a:solidFill>
                  <a:srgbClr val="201E1D">
                    <a:alpha val="72000"/>
                  </a:srgbClr>
                </a:solidFill>
                <a:latin typeface="Arial" pitchFamily="34" charset="0"/>
                <a:ea typeface="Arial" pitchFamily="34" charset="-122"/>
                <a:cs typeface="Arial" pitchFamily="34" charset="-120"/>
              </a:rPr>
              <a:t>A graph of </a:t>
            </a:r>
            <a:r>
              <a:rPr lang="en-US" sz="1950" dirty="0">
                <a:solidFill>
                  <a:srgbClr val="201E1D">
                    <a:alpha val="72000"/>
                  </a:srgbClr>
                </a:solidFill>
                <a:latin typeface="Courier New" pitchFamily="34" charset="0"/>
                <a:ea typeface="Courier New" pitchFamily="34" charset="-122"/>
                <a:cs typeface="Courier New" pitchFamily="34" charset="-120"/>
              </a:rPr>
              <a:t>⟨entity, relation, entity⟩ </a:t>
            </a:r>
            <a:r>
              <a:rPr lang="en-US" sz="2175" dirty="0">
                <a:solidFill>
                  <a:srgbClr val="201E1D">
                    <a:alpha val="72000"/>
                  </a:srgbClr>
                </a:solidFill>
                <a:latin typeface="Arial" pitchFamily="34" charset="0"/>
                <a:ea typeface="Arial" pitchFamily="34" charset="-122"/>
                <a:cs typeface="Arial" pitchFamily="34" charset="-120"/>
              </a:rPr>
              <a:t>cannot state the circumstances under which the relation holds. Contraindications, patient-population restrictions and stage-specific guidelines are discarded at extraction time.</a:t>
            </a:r>
            <a:endParaRPr lang="en-US" sz="2175" dirty="0"/>
          </a:p>
        </p:txBody>
      </p:sp>
      <p:sp>
        <p:nvSpPr>
          <p:cNvPr id="11" name="Shape 9"/>
          <p:cNvSpPr/>
          <p:nvPr/>
        </p:nvSpPr>
        <p:spPr>
          <a:xfrm>
            <a:off x="9601173" y="2904110"/>
            <a:ext cx="7696240" cy="19009"/>
          </a:xfrm>
          <a:prstGeom prst="rect">
            <a:avLst/>
          </a:prstGeom>
          <a:solidFill>
            <a:srgbClr val="201E1D"/>
          </a:solidFill>
          <a:ln/>
        </p:spPr>
        <p:txBody>
          <a:bodyPr/>
          <a:lstStyle/>
          <a:p>
            <a:endParaRPr lang="en-US"/>
          </a:p>
        </p:txBody>
      </p:sp>
      <p:sp>
        <p:nvSpPr>
          <p:cNvPr id="12" name="Text 10"/>
          <p:cNvSpPr/>
          <p:nvPr/>
        </p:nvSpPr>
        <p:spPr>
          <a:xfrm>
            <a:off x="9601173" y="3151706"/>
            <a:ext cx="846586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GAP 02 · EVALUATION</a:t>
            </a:r>
            <a:endParaRPr lang="en-US" sz="1800" dirty="0"/>
          </a:p>
        </p:txBody>
      </p:sp>
      <p:sp>
        <p:nvSpPr>
          <p:cNvPr id="13" name="Text 11"/>
          <p:cNvSpPr/>
          <p:nvPr/>
        </p:nvSpPr>
        <p:spPr>
          <a:xfrm>
            <a:off x="9601173" y="3696485"/>
            <a:ext cx="8465864" cy="472408"/>
          </a:xfrm>
          <a:prstGeom prst="rect">
            <a:avLst/>
          </a:prstGeom>
          <a:noFill/>
          <a:ln/>
        </p:spPr>
        <p:txBody>
          <a:bodyPr wrap="square" lIns="25400" tIns="25400" rIns="25400" bIns="25400" rtlCol="0" anchor="t">
            <a:normAutofit lnSpcReduction="10000"/>
          </a:bodyPr>
          <a:lstStyle/>
          <a:p>
            <a:pPr marL="0" indent="0" algn="l">
              <a:lnSpc>
                <a:spcPct val="98353"/>
              </a:lnSpc>
              <a:buNone/>
            </a:pPr>
            <a:r>
              <a:rPr lang="en-US" sz="3000" b="1" kern="0" spc="-54" dirty="0">
                <a:solidFill>
                  <a:srgbClr val="201E1D"/>
                </a:solidFill>
                <a:latin typeface="Arial" pitchFamily="34" charset="0"/>
                <a:ea typeface="Arial" pitchFamily="34" charset="-122"/>
                <a:cs typeface="Arial" pitchFamily="34" charset="-120"/>
              </a:rPr>
              <a:t>No benchmark tests answer revision</a:t>
            </a:r>
            <a:endParaRPr lang="en-US" sz="3000" dirty="0"/>
          </a:p>
        </p:txBody>
      </p:sp>
      <p:sp>
        <p:nvSpPr>
          <p:cNvPr id="14" name="Text 12"/>
          <p:cNvSpPr/>
          <p:nvPr/>
        </p:nvSpPr>
        <p:spPr>
          <a:xfrm>
            <a:off x="9601173" y="4359379"/>
            <a:ext cx="7927127" cy="1239549"/>
          </a:xfrm>
          <a:prstGeom prst="rect">
            <a:avLst/>
          </a:prstGeom>
          <a:noFill/>
          <a:ln/>
        </p:spPr>
        <p:txBody>
          <a:bodyPr wrap="square" lIns="25400" tIns="25400" rIns="25400" bIns="25400" rtlCol="0" anchor="t">
            <a:normAutofit lnSpcReduction="10000"/>
          </a:bodyPr>
          <a:lstStyle/>
          <a:p>
            <a:pPr marL="0" indent="0" algn="l">
              <a:lnSpc>
                <a:spcPct val="125014"/>
              </a:lnSpc>
              <a:buNone/>
            </a:pPr>
            <a:r>
              <a:rPr lang="en-US" sz="2175" dirty="0">
                <a:solidFill>
                  <a:srgbClr val="201E1D">
                    <a:alpha val="72000"/>
                  </a:srgbClr>
                </a:solidFill>
                <a:latin typeface="Arial" pitchFamily="34" charset="0"/>
                <a:ea typeface="Arial" pitchFamily="34" charset="-122"/>
                <a:cs typeface="Arial" pitchFamily="34" charset="-120"/>
              </a:rPr>
              <a:t>MedHopQA, BioASQ and PubMedQA measure factual recall and multi-hop composition. None of them measures whether an answer moves when a patient-specific constraint is added.</a:t>
            </a:r>
            <a:endParaRPr lang="en-US" sz="2175" dirty="0"/>
          </a:p>
        </p:txBody>
      </p:sp>
      <p:sp>
        <p:nvSpPr>
          <p:cNvPr id="15" name="Shape 13"/>
          <p:cNvSpPr/>
          <p:nvPr/>
        </p:nvSpPr>
        <p:spPr>
          <a:xfrm>
            <a:off x="990586" y="8536578"/>
            <a:ext cx="16306827" cy="19009"/>
          </a:xfrm>
          <a:prstGeom prst="rect">
            <a:avLst/>
          </a:prstGeom>
          <a:solidFill>
            <a:srgbClr val="201E1D">
              <a:alpha val="40000"/>
            </a:srgbClr>
          </a:solidFill>
          <a:ln/>
        </p:spPr>
        <p:txBody>
          <a:bodyPr/>
          <a:lstStyle/>
          <a:p>
            <a:endParaRPr lang="en-US"/>
          </a:p>
        </p:txBody>
      </p:sp>
      <p:sp>
        <p:nvSpPr>
          <p:cNvPr id="16" name="Text 14"/>
          <p:cNvSpPr/>
          <p:nvPr/>
        </p:nvSpPr>
        <p:spPr>
          <a:xfrm>
            <a:off x="990586" y="8803183"/>
            <a:ext cx="8465864" cy="424783"/>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b="1" dirty="0">
                <a:solidFill>
                  <a:srgbClr val="3C5F82"/>
                </a:solidFill>
                <a:latin typeface="Courier New" pitchFamily="34" charset="0"/>
                <a:ea typeface="Courier New" pitchFamily="34" charset="-122"/>
                <a:cs typeface="Courier New" pitchFamily="34" charset="-120"/>
              </a:rPr>
              <a:t>01 </a:t>
            </a:r>
            <a:r>
              <a:rPr lang="en-US" sz="2175" b="1" dirty="0">
                <a:solidFill>
                  <a:srgbClr val="201E1D"/>
                </a:solidFill>
                <a:latin typeface="Arial" pitchFamily="34" charset="0"/>
                <a:ea typeface="Arial" pitchFamily="34" charset="-122"/>
                <a:cs typeface="Arial" pitchFamily="34" charset="-120"/>
              </a:rPr>
              <a:t>CondMedQA </a:t>
            </a:r>
            <a:r>
              <a:rPr lang="en-US" sz="2175" dirty="0">
                <a:solidFill>
                  <a:srgbClr val="201E1D"/>
                </a:solidFill>
                <a:latin typeface="Arial" pitchFamily="34" charset="0"/>
                <a:ea typeface="Arial" pitchFamily="34" charset="-122"/>
                <a:cs typeface="Arial" pitchFamily="34" charset="-120"/>
              </a:rPr>
              <a:t>— a benchmark that isolates the behaviour.</a:t>
            </a:r>
            <a:endParaRPr lang="en-US" sz="2175" dirty="0"/>
          </a:p>
        </p:txBody>
      </p:sp>
      <p:sp>
        <p:nvSpPr>
          <p:cNvPr id="17" name="Text 15"/>
          <p:cNvSpPr/>
          <p:nvPr/>
        </p:nvSpPr>
        <p:spPr>
          <a:xfrm>
            <a:off x="9601173" y="8803183"/>
            <a:ext cx="8465864" cy="424783"/>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b="1" dirty="0">
                <a:solidFill>
                  <a:srgbClr val="3C5F82"/>
                </a:solidFill>
                <a:latin typeface="Courier New" pitchFamily="34" charset="0"/>
                <a:ea typeface="Courier New" pitchFamily="34" charset="-122"/>
                <a:cs typeface="Courier New" pitchFamily="34" charset="-120"/>
              </a:rPr>
              <a:t>02 </a:t>
            </a:r>
            <a:r>
              <a:rPr lang="en-US" sz="2175" b="1" dirty="0">
                <a:solidFill>
                  <a:srgbClr val="201E1D"/>
                </a:solidFill>
                <a:latin typeface="Arial" pitchFamily="34" charset="0"/>
                <a:ea typeface="Arial" pitchFamily="34" charset="-122"/>
                <a:cs typeface="Arial" pitchFamily="34" charset="-120"/>
              </a:rPr>
              <a:t>Condition-Gated Reasoning </a:t>
            </a:r>
            <a:r>
              <a:rPr lang="en-US" sz="2175" dirty="0">
                <a:solidFill>
                  <a:srgbClr val="201E1D"/>
                </a:solidFill>
                <a:latin typeface="Arial" pitchFamily="34" charset="0"/>
                <a:ea typeface="Arial" pitchFamily="34" charset="-122"/>
                <a:cs typeface="Arial" pitchFamily="34" charset="-120"/>
              </a:rPr>
              <a:t>— a method that produces it.</a:t>
            </a:r>
            <a:endParaRPr lang="en-US" sz="2175" dirty="0"/>
          </a:p>
        </p:txBody>
      </p:sp>
      <p:sp>
        <p:nvSpPr>
          <p:cNvPr id="18" name="Text 16"/>
          <p:cNvSpPr/>
          <p:nvPr/>
        </p:nvSpPr>
        <p:spPr>
          <a:xfrm>
            <a:off x="16334360" y="9399375"/>
            <a:ext cx="1039253"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03 / 16</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Talk Overview</a:t>
            </a:r>
            <a:endParaRPr lang="en-US" sz="4650" dirty="0"/>
          </a:p>
        </p:txBody>
      </p:sp>
      <p:sp>
        <p:nvSpPr>
          <p:cNvPr id="7" name="Shape 5"/>
          <p:cNvSpPr/>
          <p:nvPr/>
        </p:nvSpPr>
        <p:spPr>
          <a:xfrm>
            <a:off x="990586" y="4430748"/>
            <a:ext cx="4927564" cy="19009"/>
          </a:xfrm>
          <a:prstGeom prst="rect">
            <a:avLst/>
          </a:prstGeom>
          <a:solidFill>
            <a:srgbClr val="201E1D"/>
          </a:solidFill>
          <a:ln/>
        </p:spPr>
        <p:txBody>
          <a:bodyPr/>
          <a:lstStyle/>
          <a:p>
            <a:endParaRPr lang="en-US"/>
          </a:p>
        </p:txBody>
      </p:sp>
      <p:sp>
        <p:nvSpPr>
          <p:cNvPr id="8" name="Text 6"/>
          <p:cNvSpPr/>
          <p:nvPr/>
        </p:nvSpPr>
        <p:spPr>
          <a:xfrm>
            <a:off x="990586" y="4716431"/>
            <a:ext cx="5420320" cy="723927"/>
          </a:xfrm>
          <a:prstGeom prst="rect">
            <a:avLst/>
          </a:prstGeom>
          <a:noFill/>
          <a:ln/>
        </p:spPr>
        <p:txBody>
          <a:bodyPr wrap="square" lIns="25400" tIns="25400" rIns="25400" bIns="25400" rtlCol="0" anchor="t">
            <a:normAutofit fontScale="92500" lnSpcReduction="10000"/>
          </a:bodyPr>
          <a:lstStyle/>
          <a:p>
            <a:pPr marL="0" indent="0" algn="l">
              <a:lnSpc>
                <a:spcPct val="88000"/>
              </a:lnSpc>
              <a:buNone/>
            </a:pPr>
            <a:r>
              <a:rPr lang="en-US" sz="5400" b="1" kern="0" spc="-108" dirty="0">
                <a:solidFill>
                  <a:srgbClr val="6B8FB5"/>
                </a:solidFill>
                <a:latin typeface="Courier New" pitchFamily="34" charset="0"/>
                <a:ea typeface="Courier New" pitchFamily="34" charset="-122"/>
                <a:cs typeface="Courier New" pitchFamily="34" charset="-120"/>
              </a:rPr>
              <a:t>01</a:t>
            </a:r>
            <a:endParaRPr lang="en-US" sz="5400" dirty="0"/>
          </a:p>
        </p:txBody>
      </p:sp>
      <p:sp>
        <p:nvSpPr>
          <p:cNvPr id="9" name="Text 7"/>
          <p:cNvSpPr/>
          <p:nvPr/>
        </p:nvSpPr>
        <p:spPr>
          <a:xfrm>
            <a:off x="990586" y="5630844"/>
            <a:ext cx="5420320" cy="507450"/>
          </a:xfrm>
          <a:prstGeom prst="rect">
            <a:avLst/>
          </a:prstGeom>
          <a:noFill/>
          <a:ln/>
        </p:spPr>
        <p:txBody>
          <a:bodyPr wrap="square" lIns="25400" tIns="25400" rIns="25400" bIns="25400" rtlCol="0" anchor="t">
            <a:normAutofit lnSpcReduction="10000"/>
          </a:bodyPr>
          <a:lstStyle/>
          <a:p>
            <a:pPr marL="0" indent="0" algn="l">
              <a:lnSpc>
                <a:spcPct val="96800"/>
              </a:lnSpc>
              <a:buNone/>
            </a:pPr>
            <a:r>
              <a:rPr lang="en-US" sz="3300" b="1" kern="0" spc="-66" dirty="0">
                <a:solidFill>
                  <a:srgbClr val="201E1D"/>
                </a:solidFill>
                <a:latin typeface="Arial" pitchFamily="34" charset="0"/>
                <a:ea typeface="Arial" pitchFamily="34" charset="-122"/>
                <a:cs typeface="Arial" pitchFamily="34" charset="-120"/>
              </a:rPr>
              <a:t>The Benchmark</a:t>
            </a:r>
            <a:endParaRPr lang="en-US" sz="3300" dirty="0"/>
          </a:p>
        </p:txBody>
      </p:sp>
      <p:sp>
        <p:nvSpPr>
          <p:cNvPr id="10" name="Text 8"/>
          <p:cNvSpPr/>
          <p:nvPr/>
        </p:nvSpPr>
        <p:spPr>
          <a:xfrm>
            <a:off x="990586" y="6290694"/>
            <a:ext cx="5075391" cy="839066"/>
          </a:xfrm>
          <a:prstGeom prst="rect">
            <a:avLst/>
          </a:prstGeom>
          <a:noFill/>
          <a:ln/>
        </p:spPr>
        <p:txBody>
          <a:bodyPr wrap="square" lIns="25400" tIns="25400" rIns="25400" bIns="25400" rtlCol="0" anchor="t">
            <a:normAutofit lnSpcReduction="10000"/>
          </a:bodyPr>
          <a:lstStyle/>
          <a:p>
            <a:pPr marL="0" indent="0" algn="l">
              <a:lnSpc>
                <a:spcPct val="125014"/>
              </a:lnSpc>
              <a:buNone/>
            </a:pPr>
            <a:r>
              <a:rPr lang="en-US" sz="2175" dirty="0">
                <a:solidFill>
                  <a:srgbClr val="201E1D">
                    <a:alpha val="72000"/>
                  </a:srgbClr>
                </a:solidFill>
                <a:latin typeface="Arial" pitchFamily="34" charset="0"/>
                <a:ea typeface="Arial" pitchFamily="34" charset="-122"/>
                <a:cs typeface="Arial" pitchFamily="34" charset="-120"/>
              </a:rPr>
              <a:t>What makes a question conditional, and how we built 100 of them.</a:t>
            </a:r>
            <a:endParaRPr lang="en-US" sz="2175" dirty="0"/>
          </a:p>
        </p:txBody>
      </p:sp>
      <p:sp>
        <p:nvSpPr>
          <p:cNvPr id="11" name="Shape 9"/>
          <p:cNvSpPr/>
          <p:nvPr/>
        </p:nvSpPr>
        <p:spPr>
          <a:xfrm>
            <a:off x="6680150" y="4430748"/>
            <a:ext cx="4927631" cy="19009"/>
          </a:xfrm>
          <a:prstGeom prst="rect">
            <a:avLst/>
          </a:prstGeom>
          <a:solidFill>
            <a:srgbClr val="201E1D"/>
          </a:solidFill>
          <a:ln/>
        </p:spPr>
        <p:txBody>
          <a:bodyPr/>
          <a:lstStyle/>
          <a:p>
            <a:endParaRPr lang="en-US"/>
          </a:p>
        </p:txBody>
      </p:sp>
      <p:sp>
        <p:nvSpPr>
          <p:cNvPr id="12" name="Text 10"/>
          <p:cNvSpPr/>
          <p:nvPr/>
        </p:nvSpPr>
        <p:spPr>
          <a:xfrm>
            <a:off x="6680150" y="4716431"/>
            <a:ext cx="5420394" cy="723927"/>
          </a:xfrm>
          <a:prstGeom prst="rect">
            <a:avLst/>
          </a:prstGeom>
          <a:noFill/>
          <a:ln/>
        </p:spPr>
        <p:txBody>
          <a:bodyPr wrap="square" lIns="25400" tIns="25400" rIns="25400" bIns="25400" rtlCol="0" anchor="t">
            <a:normAutofit fontScale="92500" lnSpcReduction="10000"/>
          </a:bodyPr>
          <a:lstStyle/>
          <a:p>
            <a:pPr marL="0" indent="0" algn="l">
              <a:lnSpc>
                <a:spcPct val="88000"/>
              </a:lnSpc>
              <a:buNone/>
            </a:pPr>
            <a:r>
              <a:rPr lang="en-US" sz="5400" b="1" kern="0" spc="-108" dirty="0">
                <a:solidFill>
                  <a:srgbClr val="6B8FB5"/>
                </a:solidFill>
                <a:latin typeface="Courier New" pitchFamily="34" charset="0"/>
                <a:ea typeface="Courier New" pitchFamily="34" charset="-122"/>
                <a:cs typeface="Courier New" pitchFamily="34" charset="-120"/>
              </a:rPr>
              <a:t>02</a:t>
            </a:r>
            <a:endParaRPr lang="en-US" sz="5400" dirty="0"/>
          </a:p>
        </p:txBody>
      </p:sp>
      <p:sp>
        <p:nvSpPr>
          <p:cNvPr id="13" name="Text 11"/>
          <p:cNvSpPr/>
          <p:nvPr/>
        </p:nvSpPr>
        <p:spPr>
          <a:xfrm>
            <a:off x="6680150" y="5630844"/>
            <a:ext cx="5420394" cy="507450"/>
          </a:xfrm>
          <a:prstGeom prst="rect">
            <a:avLst/>
          </a:prstGeom>
          <a:noFill/>
          <a:ln/>
        </p:spPr>
        <p:txBody>
          <a:bodyPr wrap="square" lIns="25400" tIns="25400" rIns="25400" bIns="25400" rtlCol="0" anchor="t">
            <a:normAutofit lnSpcReduction="10000"/>
          </a:bodyPr>
          <a:lstStyle/>
          <a:p>
            <a:pPr marL="0" indent="0" algn="l">
              <a:lnSpc>
                <a:spcPct val="96800"/>
              </a:lnSpc>
              <a:buNone/>
            </a:pPr>
            <a:r>
              <a:rPr lang="en-US" sz="3300" b="1" kern="0" spc="-66" dirty="0">
                <a:solidFill>
                  <a:srgbClr val="201E1D"/>
                </a:solidFill>
                <a:latin typeface="Arial" pitchFamily="34" charset="0"/>
                <a:ea typeface="Arial" pitchFamily="34" charset="-122"/>
                <a:cs typeface="Arial" pitchFamily="34" charset="-120"/>
              </a:rPr>
              <a:t>The Method</a:t>
            </a:r>
            <a:endParaRPr lang="en-US" sz="3300" dirty="0"/>
          </a:p>
        </p:txBody>
      </p:sp>
      <p:sp>
        <p:nvSpPr>
          <p:cNvPr id="14" name="Text 12"/>
          <p:cNvSpPr/>
          <p:nvPr/>
        </p:nvSpPr>
        <p:spPr>
          <a:xfrm>
            <a:off x="6680150" y="6290694"/>
            <a:ext cx="5075460" cy="839066"/>
          </a:xfrm>
          <a:prstGeom prst="rect">
            <a:avLst/>
          </a:prstGeom>
          <a:noFill/>
          <a:ln/>
        </p:spPr>
        <p:txBody>
          <a:bodyPr wrap="square" lIns="25400" tIns="25400" rIns="25400" bIns="25400" rtlCol="0" anchor="t">
            <a:normAutofit lnSpcReduction="10000"/>
          </a:bodyPr>
          <a:lstStyle/>
          <a:p>
            <a:pPr marL="0" indent="0" algn="l">
              <a:lnSpc>
                <a:spcPct val="125014"/>
              </a:lnSpc>
              <a:buNone/>
            </a:pPr>
            <a:r>
              <a:rPr lang="en-US" sz="2175" dirty="0">
                <a:solidFill>
                  <a:srgbClr val="201E1D">
                    <a:alpha val="72000"/>
                  </a:srgbClr>
                </a:solidFill>
                <a:latin typeface="Arial" pitchFamily="34" charset="0"/>
                <a:ea typeface="Arial" pitchFamily="34" charset="-122"/>
                <a:cs typeface="Arial" pitchFamily="34" charset="-120"/>
              </a:rPr>
              <a:t>Conditions on edges, resolved once per query, enforced during traversal.</a:t>
            </a:r>
            <a:endParaRPr lang="en-US" sz="2175" dirty="0"/>
          </a:p>
        </p:txBody>
      </p:sp>
      <p:sp>
        <p:nvSpPr>
          <p:cNvPr id="15" name="Shape 13"/>
          <p:cNvSpPr/>
          <p:nvPr/>
        </p:nvSpPr>
        <p:spPr>
          <a:xfrm>
            <a:off x="12369781" y="4430748"/>
            <a:ext cx="4927564" cy="19009"/>
          </a:xfrm>
          <a:prstGeom prst="rect">
            <a:avLst/>
          </a:prstGeom>
          <a:solidFill>
            <a:srgbClr val="201E1D"/>
          </a:solidFill>
          <a:ln/>
        </p:spPr>
        <p:txBody>
          <a:bodyPr/>
          <a:lstStyle/>
          <a:p>
            <a:endParaRPr lang="en-US"/>
          </a:p>
        </p:txBody>
      </p:sp>
      <p:sp>
        <p:nvSpPr>
          <p:cNvPr id="16" name="Text 14"/>
          <p:cNvSpPr/>
          <p:nvPr/>
        </p:nvSpPr>
        <p:spPr>
          <a:xfrm>
            <a:off x="12369781" y="4716431"/>
            <a:ext cx="5420320" cy="723927"/>
          </a:xfrm>
          <a:prstGeom prst="rect">
            <a:avLst/>
          </a:prstGeom>
          <a:noFill/>
          <a:ln/>
        </p:spPr>
        <p:txBody>
          <a:bodyPr wrap="square" lIns="25400" tIns="25400" rIns="25400" bIns="25400" rtlCol="0" anchor="t">
            <a:normAutofit fontScale="92500" lnSpcReduction="10000"/>
          </a:bodyPr>
          <a:lstStyle/>
          <a:p>
            <a:pPr marL="0" indent="0" algn="l">
              <a:lnSpc>
                <a:spcPct val="88000"/>
              </a:lnSpc>
              <a:buNone/>
            </a:pPr>
            <a:r>
              <a:rPr lang="en-US" sz="5400" b="1" kern="0" spc="-108" dirty="0">
                <a:solidFill>
                  <a:srgbClr val="6B8FB5"/>
                </a:solidFill>
                <a:latin typeface="Courier New" pitchFamily="34" charset="0"/>
                <a:ea typeface="Courier New" pitchFamily="34" charset="-122"/>
                <a:cs typeface="Courier New" pitchFamily="34" charset="-120"/>
              </a:rPr>
              <a:t>03</a:t>
            </a:r>
            <a:endParaRPr lang="en-US" sz="5400" dirty="0"/>
          </a:p>
        </p:txBody>
      </p:sp>
      <p:sp>
        <p:nvSpPr>
          <p:cNvPr id="17" name="Text 15"/>
          <p:cNvSpPr/>
          <p:nvPr/>
        </p:nvSpPr>
        <p:spPr>
          <a:xfrm>
            <a:off x="12369781" y="5630844"/>
            <a:ext cx="5420320" cy="507450"/>
          </a:xfrm>
          <a:prstGeom prst="rect">
            <a:avLst/>
          </a:prstGeom>
          <a:noFill/>
          <a:ln/>
        </p:spPr>
        <p:txBody>
          <a:bodyPr wrap="square" lIns="25400" tIns="25400" rIns="25400" bIns="25400" rtlCol="0" anchor="t">
            <a:normAutofit lnSpcReduction="10000"/>
          </a:bodyPr>
          <a:lstStyle/>
          <a:p>
            <a:pPr marL="0" indent="0" algn="l">
              <a:lnSpc>
                <a:spcPct val="96800"/>
              </a:lnSpc>
              <a:buNone/>
            </a:pPr>
            <a:r>
              <a:rPr lang="en-US" sz="3300" b="1" kern="0" spc="-66" dirty="0">
                <a:solidFill>
                  <a:srgbClr val="201E1D"/>
                </a:solidFill>
                <a:latin typeface="Arial" pitchFamily="34" charset="0"/>
                <a:ea typeface="Arial" pitchFamily="34" charset="-122"/>
                <a:cs typeface="Arial" pitchFamily="34" charset="-120"/>
              </a:rPr>
              <a:t>The Evidence</a:t>
            </a:r>
            <a:endParaRPr lang="en-US" sz="3300" dirty="0"/>
          </a:p>
        </p:txBody>
      </p:sp>
      <p:sp>
        <p:nvSpPr>
          <p:cNvPr id="18" name="Text 16"/>
          <p:cNvSpPr/>
          <p:nvPr/>
        </p:nvSpPr>
        <p:spPr>
          <a:xfrm>
            <a:off x="12369781" y="6290694"/>
            <a:ext cx="5075391" cy="839066"/>
          </a:xfrm>
          <a:prstGeom prst="rect">
            <a:avLst/>
          </a:prstGeom>
          <a:noFill/>
          <a:ln/>
        </p:spPr>
        <p:txBody>
          <a:bodyPr wrap="square" lIns="25400" tIns="25400" rIns="25400" bIns="25400" rtlCol="0" anchor="t">
            <a:normAutofit lnSpcReduction="10000"/>
          </a:bodyPr>
          <a:lstStyle/>
          <a:p>
            <a:pPr marL="0" indent="0" algn="l">
              <a:lnSpc>
                <a:spcPct val="125014"/>
              </a:lnSpc>
              <a:buNone/>
            </a:pPr>
            <a:r>
              <a:rPr lang="en-US" sz="2175" dirty="0">
                <a:solidFill>
                  <a:srgbClr val="201E1D">
                    <a:alpha val="72000"/>
                  </a:srgbClr>
                </a:solidFill>
                <a:latin typeface="Arial" pitchFamily="34" charset="0"/>
                <a:ea typeface="Arial" pitchFamily="34" charset="-122"/>
                <a:cs typeface="Arial" pitchFamily="34" charset="-120"/>
              </a:rPr>
              <a:t>Four benchmarks, three foundation models, and what the gate is worth.</a:t>
            </a:r>
            <a:endParaRPr lang="en-US" sz="2175" dirty="0"/>
          </a:p>
        </p:txBody>
      </p:sp>
      <p:sp>
        <p:nvSpPr>
          <p:cNvPr id="19" name="Text 17"/>
          <p:cNvSpPr/>
          <p:nvPr/>
        </p:nvSpPr>
        <p:spPr>
          <a:xfrm>
            <a:off x="16338419" y="9399375"/>
            <a:ext cx="1035194"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04 / 16</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3449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Defining Conditionality</a:t>
            </a:r>
            <a:endParaRPr lang="en-US" sz="4650" dirty="0"/>
          </a:p>
        </p:txBody>
      </p:sp>
      <p:sp>
        <p:nvSpPr>
          <p:cNvPr id="7" name="Shape 5"/>
          <p:cNvSpPr/>
          <p:nvPr/>
        </p:nvSpPr>
        <p:spPr>
          <a:xfrm>
            <a:off x="990586" y="2751697"/>
            <a:ext cx="9563154" cy="19009"/>
          </a:xfrm>
          <a:prstGeom prst="rect">
            <a:avLst/>
          </a:prstGeom>
          <a:solidFill>
            <a:srgbClr val="201E1D"/>
          </a:solidFill>
          <a:ln/>
        </p:spPr>
        <p:txBody>
          <a:bodyPr/>
          <a:lstStyle/>
          <a:p>
            <a:endParaRPr lang="en-US"/>
          </a:p>
        </p:txBody>
      </p:sp>
      <p:sp>
        <p:nvSpPr>
          <p:cNvPr id="8" name="Shape 6"/>
          <p:cNvSpPr/>
          <p:nvPr/>
        </p:nvSpPr>
        <p:spPr>
          <a:xfrm>
            <a:off x="990586" y="3632624"/>
            <a:ext cx="9563154" cy="9525"/>
          </a:xfrm>
          <a:prstGeom prst="rect">
            <a:avLst/>
          </a:prstGeom>
          <a:solidFill>
            <a:srgbClr val="201E1D">
              <a:alpha val="25000"/>
            </a:srgbClr>
          </a:solidFill>
          <a:ln/>
        </p:spPr>
        <p:txBody>
          <a:bodyPr/>
          <a:lstStyle/>
          <a:p>
            <a:endParaRPr lang="en-US"/>
          </a:p>
        </p:txBody>
      </p:sp>
      <p:sp>
        <p:nvSpPr>
          <p:cNvPr id="9" name="Text 7"/>
          <p:cNvSpPr/>
          <p:nvPr/>
        </p:nvSpPr>
        <p:spPr>
          <a:xfrm>
            <a:off x="990586" y="3023511"/>
            <a:ext cx="495286"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b="1" dirty="0">
                <a:solidFill>
                  <a:srgbClr val="3C5F82"/>
                </a:solidFill>
                <a:latin typeface="Courier New" pitchFamily="34" charset="0"/>
                <a:ea typeface="Courier New" pitchFamily="34" charset="-122"/>
                <a:cs typeface="Courier New" pitchFamily="34" charset="-120"/>
              </a:rPr>
              <a:t>01</a:t>
            </a:r>
            <a:endParaRPr lang="en-US" sz="1950" dirty="0"/>
          </a:p>
        </p:txBody>
      </p:sp>
      <p:sp>
        <p:nvSpPr>
          <p:cNvPr id="10" name="Text 8"/>
          <p:cNvSpPr/>
          <p:nvPr/>
        </p:nvSpPr>
        <p:spPr>
          <a:xfrm>
            <a:off x="1676346" y="2980215"/>
            <a:ext cx="3038475"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Modifier presence</a:t>
            </a:r>
            <a:endParaRPr lang="en-US" sz="2250" dirty="0"/>
          </a:p>
        </p:txBody>
      </p:sp>
      <p:sp>
        <p:nvSpPr>
          <p:cNvPr id="11" name="Text 9"/>
          <p:cNvSpPr/>
          <p:nvPr/>
        </p:nvSpPr>
        <p:spPr>
          <a:xfrm>
            <a:off x="4705269" y="3036500"/>
            <a:ext cx="5994424" cy="398129"/>
          </a:xfrm>
          <a:prstGeom prst="rect">
            <a:avLst/>
          </a:prstGeom>
          <a:noFill/>
          <a:ln/>
        </p:spPr>
        <p:txBody>
          <a:bodyPr wrap="square" lIns="25400" tIns="25400" rIns="25400" bIns="25400" rtlCol="0" anchor="t">
            <a:normAutofit/>
          </a:bodyPr>
          <a:lstStyle/>
          <a:p>
            <a:pPr marL="0" indent="0" algn="l">
              <a:lnSpc>
                <a:spcPct val="120522"/>
              </a:lnSpc>
              <a:buNone/>
            </a:pPr>
            <a:r>
              <a:rPr lang="en-US" sz="2025" dirty="0">
                <a:solidFill>
                  <a:srgbClr val="201E1D">
                    <a:alpha val="68000"/>
                  </a:srgbClr>
                </a:solidFill>
                <a:latin typeface="Arial" pitchFamily="34" charset="0"/>
                <a:ea typeface="Arial" pitchFamily="34" charset="-122"/>
                <a:cs typeface="Arial" pitchFamily="34" charset="-120"/>
              </a:rPr>
              <a:t>The question names a specific patient condition.</a:t>
            </a:r>
            <a:endParaRPr lang="en-US" sz="2025" dirty="0"/>
          </a:p>
        </p:txBody>
      </p:sp>
      <p:sp>
        <p:nvSpPr>
          <p:cNvPr id="12" name="Shape 10"/>
          <p:cNvSpPr/>
          <p:nvPr/>
        </p:nvSpPr>
        <p:spPr>
          <a:xfrm>
            <a:off x="990586" y="4946100"/>
            <a:ext cx="9563154" cy="9525"/>
          </a:xfrm>
          <a:prstGeom prst="rect">
            <a:avLst/>
          </a:prstGeom>
          <a:solidFill>
            <a:srgbClr val="201E1D">
              <a:alpha val="25000"/>
            </a:srgbClr>
          </a:solidFill>
          <a:ln/>
        </p:spPr>
        <p:txBody>
          <a:bodyPr/>
          <a:lstStyle/>
          <a:p>
            <a:endParaRPr lang="en-US"/>
          </a:p>
        </p:txBody>
      </p:sp>
      <p:sp>
        <p:nvSpPr>
          <p:cNvPr id="13" name="Text 11"/>
          <p:cNvSpPr/>
          <p:nvPr/>
        </p:nvSpPr>
        <p:spPr>
          <a:xfrm>
            <a:off x="990586" y="3894088"/>
            <a:ext cx="495286"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b="1" dirty="0">
                <a:solidFill>
                  <a:srgbClr val="3C5F82"/>
                </a:solidFill>
                <a:latin typeface="Courier New" pitchFamily="34" charset="0"/>
                <a:ea typeface="Courier New" pitchFamily="34" charset="-122"/>
                <a:cs typeface="Courier New" pitchFamily="34" charset="-120"/>
              </a:rPr>
              <a:t>02</a:t>
            </a:r>
            <a:endParaRPr lang="en-US" sz="1950" dirty="0"/>
          </a:p>
        </p:txBody>
      </p:sp>
      <p:sp>
        <p:nvSpPr>
          <p:cNvPr id="14" name="Text 12"/>
          <p:cNvSpPr/>
          <p:nvPr/>
        </p:nvSpPr>
        <p:spPr>
          <a:xfrm>
            <a:off x="1676346" y="3850792"/>
            <a:ext cx="2845118" cy="923898"/>
          </a:xfrm>
          <a:prstGeom prst="rect">
            <a:avLst/>
          </a:prstGeom>
          <a:noFill/>
          <a:ln/>
        </p:spPr>
        <p:txBody>
          <a:bodyPr wrap="square" lIns="25400" tIns="25400" rIns="25400" bIns="25400" rtlCol="0" anchor="t">
            <a:normAutofit lnSpcReduction="10000"/>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General answer exists</a:t>
            </a:r>
            <a:endParaRPr lang="en-US" sz="2250" dirty="0"/>
          </a:p>
        </p:txBody>
      </p:sp>
      <p:sp>
        <p:nvSpPr>
          <p:cNvPr id="15" name="Text 13"/>
          <p:cNvSpPr/>
          <p:nvPr/>
        </p:nvSpPr>
        <p:spPr>
          <a:xfrm>
            <a:off x="4705269" y="3907076"/>
            <a:ext cx="6023926" cy="758158"/>
          </a:xfrm>
          <a:prstGeom prst="rect">
            <a:avLst/>
          </a:prstGeom>
          <a:noFill/>
          <a:ln/>
        </p:spPr>
        <p:txBody>
          <a:bodyPr wrap="square" lIns="25400" tIns="25400" rIns="25400" bIns="25400" rtlCol="0" anchor="t">
            <a:normAutofit lnSpcReduction="10000"/>
          </a:bodyPr>
          <a:lstStyle/>
          <a:p>
            <a:pPr marL="0" indent="0" algn="l">
              <a:lnSpc>
                <a:spcPct val="120522"/>
              </a:lnSpc>
              <a:buNone/>
            </a:pPr>
            <a:r>
              <a:rPr lang="en-US" sz="2025" dirty="0">
                <a:solidFill>
                  <a:srgbClr val="201E1D">
                    <a:alpha val="68000"/>
                  </a:srgbClr>
                </a:solidFill>
                <a:latin typeface="Arial" pitchFamily="34" charset="0"/>
                <a:ea typeface="Arial" pitchFamily="34" charset="-122"/>
                <a:cs typeface="Arial" pitchFamily="34" charset="-120"/>
              </a:rPr>
              <a:t>A standard answer applies if the modifier were absent.</a:t>
            </a:r>
            <a:endParaRPr lang="en-US" sz="2025" dirty="0"/>
          </a:p>
        </p:txBody>
      </p:sp>
      <p:sp>
        <p:nvSpPr>
          <p:cNvPr id="16" name="Shape 14"/>
          <p:cNvSpPr/>
          <p:nvPr/>
        </p:nvSpPr>
        <p:spPr>
          <a:xfrm>
            <a:off x="990586" y="5816676"/>
            <a:ext cx="9563154" cy="9525"/>
          </a:xfrm>
          <a:prstGeom prst="rect">
            <a:avLst/>
          </a:prstGeom>
          <a:solidFill>
            <a:srgbClr val="201E1D">
              <a:alpha val="25000"/>
            </a:srgbClr>
          </a:solidFill>
          <a:ln/>
        </p:spPr>
        <p:txBody>
          <a:bodyPr/>
          <a:lstStyle/>
          <a:p>
            <a:endParaRPr lang="en-US"/>
          </a:p>
        </p:txBody>
      </p:sp>
      <p:sp>
        <p:nvSpPr>
          <p:cNvPr id="17" name="Text 15"/>
          <p:cNvSpPr/>
          <p:nvPr/>
        </p:nvSpPr>
        <p:spPr>
          <a:xfrm>
            <a:off x="990586" y="5207564"/>
            <a:ext cx="495286"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b="1" dirty="0">
                <a:solidFill>
                  <a:srgbClr val="3C5F82"/>
                </a:solidFill>
                <a:latin typeface="Courier New" pitchFamily="34" charset="0"/>
                <a:ea typeface="Courier New" pitchFamily="34" charset="-122"/>
                <a:cs typeface="Courier New" pitchFamily="34" charset="-120"/>
              </a:rPr>
              <a:t>03</a:t>
            </a:r>
            <a:endParaRPr lang="en-US" sz="1950" dirty="0"/>
          </a:p>
        </p:txBody>
      </p:sp>
      <p:sp>
        <p:nvSpPr>
          <p:cNvPr id="18" name="Text 16"/>
          <p:cNvSpPr/>
          <p:nvPr/>
        </p:nvSpPr>
        <p:spPr>
          <a:xfrm>
            <a:off x="1676346" y="5164268"/>
            <a:ext cx="3038475"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Answer divergence</a:t>
            </a:r>
            <a:endParaRPr lang="en-US" sz="2250" dirty="0"/>
          </a:p>
        </p:txBody>
      </p:sp>
      <p:sp>
        <p:nvSpPr>
          <p:cNvPr id="19" name="Text 17"/>
          <p:cNvSpPr/>
          <p:nvPr/>
        </p:nvSpPr>
        <p:spPr>
          <a:xfrm>
            <a:off x="4705269" y="5220552"/>
            <a:ext cx="6410622" cy="398129"/>
          </a:xfrm>
          <a:prstGeom prst="rect">
            <a:avLst/>
          </a:prstGeom>
          <a:noFill/>
          <a:ln/>
        </p:spPr>
        <p:txBody>
          <a:bodyPr wrap="square" lIns="25400" tIns="25400" rIns="25400" bIns="25400" rtlCol="0" anchor="t">
            <a:normAutofit/>
          </a:bodyPr>
          <a:lstStyle/>
          <a:p>
            <a:pPr marL="0" indent="0" algn="l">
              <a:lnSpc>
                <a:spcPct val="120522"/>
              </a:lnSpc>
              <a:buNone/>
            </a:pPr>
            <a:r>
              <a:rPr lang="en-US" sz="2025" dirty="0">
                <a:solidFill>
                  <a:srgbClr val="201E1D">
                    <a:alpha val="68000"/>
                  </a:srgbClr>
                </a:solidFill>
                <a:latin typeface="Arial" pitchFamily="34" charset="0"/>
                <a:ea typeface="Arial" pitchFamily="34" charset="-122"/>
                <a:cs typeface="Arial" pitchFamily="34" charset="-120"/>
              </a:rPr>
              <a:t>The conditional answer differs from the general one.</a:t>
            </a:r>
            <a:endParaRPr lang="en-US" sz="2025" dirty="0"/>
          </a:p>
        </p:txBody>
      </p:sp>
      <p:sp>
        <p:nvSpPr>
          <p:cNvPr id="20" name="Shape 18"/>
          <p:cNvSpPr/>
          <p:nvPr/>
        </p:nvSpPr>
        <p:spPr>
          <a:xfrm>
            <a:off x="990586" y="6687253"/>
            <a:ext cx="9563154" cy="9525"/>
          </a:xfrm>
          <a:prstGeom prst="rect">
            <a:avLst/>
          </a:prstGeom>
          <a:solidFill>
            <a:srgbClr val="201E1D">
              <a:alpha val="25000"/>
            </a:srgbClr>
          </a:solidFill>
          <a:ln/>
        </p:spPr>
        <p:txBody>
          <a:bodyPr/>
          <a:lstStyle/>
          <a:p>
            <a:endParaRPr lang="en-US"/>
          </a:p>
        </p:txBody>
      </p:sp>
      <p:sp>
        <p:nvSpPr>
          <p:cNvPr id="21" name="Text 19"/>
          <p:cNvSpPr/>
          <p:nvPr/>
        </p:nvSpPr>
        <p:spPr>
          <a:xfrm>
            <a:off x="990586" y="6078141"/>
            <a:ext cx="495286"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b="1" dirty="0">
                <a:solidFill>
                  <a:srgbClr val="3C5F82"/>
                </a:solidFill>
                <a:latin typeface="Courier New" pitchFamily="34" charset="0"/>
                <a:ea typeface="Courier New" pitchFamily="34" charset="-122"/>
                <a:cs typeface="Courier New" pitchFamily="34" charset="-120"/>
              </a:rPr>
              <a:t>04</a:t>
            </a:r>
            <a:endParaRPr lang="en-US" sz="1950" dirty="0"/>
          </a:p>
        </p:txBody>
      </p:sp>
      <p:sp>
        <p:nvSpPr>
          <p:cNvPr id="22" name="Text 20"/>
          <p:cNvSpPr/>
          <p:nvPr/>
        </p:nvSpPr>
        <p:spPr>
          <a:xfrm>
            <a:off x="1676346" y="6034845"/>
            <a:ext cx="3038475"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Dual validity</a:t>
            </a:r>
            <a:endParaRPr lang="en-US" sz="2250" dirty="0"/>
          </a:p>
        </p:txBody>
      </p:sp>
      <p:sp>
        <p:nvSpPr>
          <p:cNvPr id="23" name="Text 21"/>
          <p:cNvSpPr/>
          <p:nvPr/>
        </p:nvSpPr>
        <p:spPr>
          <a:xfrm>
            <a:off x="4705269" y="6091129"/>
            <a:ext cx="6415608" cy="398129"/>
          </a:xfrm>
          <a:prstGeom prst="rect">
            <a:avLst/>
          </a:prstGeom>
          <a:noFill/>
          <a:ln/>
        </p:spPr>
        <p:txBody>
          <a:bodyPr wrap="square" lIns="25400" tIns="25400" rIns="25400" bIns="25400" rtlCol="0" anchor="t">
            <a:normAutofit/>
          </a:bodyPr>
          <a:lstStyle/>
          <a:p>
            <a:pPr marL="0" indent="0" algn="l">
              <a:lnSpc>
                <a:spcPct val="120522"/>
              </a:lnSpc>
              <a:buNone/>
            </a:pPr>
            <a:r>
              <a:rPr lang="en-US" sz="2025" dirty="0">
                <a:solidFill>
                  <a:srgbClr val="201E1D">
                    <a:alpha val="68000"/>
                  </a:srgbClr>
                </a:solidFill>
                <a:latin typeface="Arial" pitchFamily="34" charset="0"/>
                <a:ea typeface="Arial" pitchFamily="34" charset="-122"/>
                <a:cs typeface="Arial" pitchFamily="34" charset="-120"/>
              </a:rPr>
              <a:t>Both answers are correct — each in its own context.</a:t>
            </a:r>
            <a:endParaRPr lang="en-US" sz="2025" dirty="0"/>
          </a:p>
        </p:txBody>
      </p:sp>
      <p:sp>
        <p:nvSpPr>
          <p:cNvPr id="24" name="Shape 22"/>
          <p:cNvSpPr/>
          <p:nvPr/>
        </p:nvSpPr>
        <p:spPr>
          <a:xfrm>
            <a:off x="990586" y="7557830"/>
            <a:ext cx="9563154" cy="9525"/>
          </a:xfrm>
          <a:prstGeom prst="rect">
            <a:avLst/>
          </a:prstGeom>
          <a:solidFill>
            <a:srgbClr val="201E1D">
              <a:alpha val="25000"/>
            </a:srgbClr>
          </a:solidFill>
          <a:ln/>
        </p:spPr>
        <p:txBody>
          <a:bodyPr/>
          <a:lstStyle/>
          <a:p>
            <a:endParaRPr lang="en-US"/>
          </a:p>
        </p:txBody>
      </p:sp>
      <p:sp>
        <p:nvSpPr>
          <p:cNvPr id="25" name="Text 23"/>
          <p:cNvSpPr/>
          <p:nvPr/>
        </p:nvSpPr>
        <p:spPr>
          <a:xfrm>
            <a:off x="990586" y="6948717"/>
            <a:ext cx="495286"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b="1" dirty="0">
                <a:solidFill>
                  <a:srgbClr val="3C5F82"/>
                </a:solidFill>
                <a:latin typeface="Courier New" pitchFamily="34" charset="0"/>
                <a:ea typeface="Courier New" pitchFamily="34" charset="-122"/>
                <a:cs typeface="Courier New" pitchFamily="34" charset="-120"/>
              </a:rPr>
              <a:t>05</a:t>
            </a:r>
            <a:endParaRPr lang="en-US" sz="1950" dirty="0"/>
          </a:p>
        </p:txBody>
      </p:sp>
      <p:sp>
        <p:nvSpPr>
          <p:cNvPr id="26" name="Text 24"/>
          <p:cNvSpPr/>
          <p:nvPr/>
        </p:nvSpPr>
        <p:spPr>
          <a:xfrm>
            <a:off x="1676346" y="6905422"/>
            <a:ext cx="3038475"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Causal dependence</a:t>
            </a:r>
            <a:endParaRPr lang="en-US" sz="2250" dirty="0"/>
          </a:p>
        </p:txBody>
      </p:sp>
      <p:sp>
        <p:nvSpPr>
          <p:cNvPr id="27" name="Text 25"/>
          <p:cNvSpPr/>
          <p:nvPr/>
        </p:nvSpPr>
        <p:spPr>
          <a:xfrm>
            <a:off x="4705269" y="6961706"/>
            <a:ext cx="6225406" cy="398129"/>
          </a:xfrm>
          <a:prstGeom prst="rect">
            <a:avLst/>
          </a:prstGeom>
          <a:noFill/>
          <a:ln/>
        </p:spPr>
        <p:txBody>
          <a:bodyPr wrap="square" lIns="25400" tIns="25400" rIns="25400" bIns="25400" rtlCol="0" anchor="t">
            <a:normAutofit/>
          </a:bodyPr>
          <a:lstStyle/>
          <a:p>
            <a:pPr marL="0" indent="0" algn="l">
              <a:lnSpc>
                <a:spcPct val="120522"/>
              </a:lnSpc>
              <a:buNone/>
            </a:pPr>
            <a:r>
              <a:rPr lang="en-US" sz="2025" dirty="0">
                <a:solidFill>
                  <a:srgbClr val="201E1D">
                    <a:alpha val="68000"/>
                  </a:srgbClr>
                </a:solidFill>
                <a:latin typeface="Arial" pitchFamily="34" charset="0"/>
                <a:ea typeface="Arial" pitchFamily="34" charset="-122"/>
                <a:cs typeface="Arial" pitchFamily="34" charset="-120"/>
              </a:rPr>
              <a:t>Strike the modifier and the general answer returns.</a:t>
            </a:r>
            <a:endParaRPr lang="en-US" sz="2025" dirty="0"/>
          </a:p>
        </p:txBody>
      </p:sp>
      <p:sp>
        <p:nvSpPr>
          <p:cNvPr id="28" name="Shape 26"/>
          <p:cNvSpPr/>
          <p:nvPr/>
        </p:nvSpPr>
        <p:spPr>
          <a:xfrm>
            <a:off x="11391913" y="2751697"/>
            <a:ext cx="5905500" cy="6476256"/>
          </a:xfrm>
          <a:prstGeom prst="rect">
            <a:avLst/>
          </a:prstGeom>
          <a:solidFill>
            <a:srgbClr val="EAE9E9"/>
          </a:solidFill>
          <a:ln/>
        </p:spPr>
        <p:txBody>
          <a:bodyPr/>
          <a:lstStyle/>
          <a:p>
            <a:endParaRPr lang="en-US"/>
          </a:p>
        </p:txBody>
      </p:sp>
      <p:sp>
        <p:nvSpPr>
          <p:cNvPr id="29" name="Shape 27"/>
          <p:cNvSpPr/>
          <p:nvPr/>
        </p:nvSpPr>
        <p:spPr>
          <a:xfrm>
            <a:off x="11391913" y="2751697"/>
            <a:ext cx="5905500" cy="19009"/>
          </a:xfrm>
          <a:prstGeom prst="rect">
            <a:avLst/>
          </a:prstGeom>
          <a:solidFill>
            <a:srgbClr val="201E1D"/>
          </a:solidFill>
          <a:ln/>
        </p:spPr>
        <p:txBody>
          <a:bodyPr/>
          <a:lstStyle/>
          <a:p>
            <a:endParaRPr lang="en-US"/>
          </a:p>
        </p:txBody>
      </p:sp>
      <p:sp>
        <p:nvSpPr>
          <p:cNvPr id="30" name="Text 28"/>
          <p:cNvSpPr/>
          <p:nvPr/>
        </p:nvSpPr>
        <p:spPr>
          <a:xfrm>
            <a:off x="11772913" y="3037379"/>
            <a:ext cx="56578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WORKED EXAMPLE</a:t>
            </a:r>
            <a:endParaRPr lang="en-US" sz="1800" dirty="0"/>
          </a:p>
        </p:txBody>
      </p:sp>
      <p:sp>
        <p:nvSpPr>
          <p:cNvPr id="31" name="Text 29"/>
          <p:cNvSpPr/>
          <p:nvPr/>
        </p:nvSpPr>
        <p:spPr>
          <a:xfrm>
            <a:off x="11772913" y="3601167"/>
            <a:ext cx="5297805" cy="1203830"/>
          </a:xfrm>
          <a:prstGeom prst="rect">
            <a:avLst/>
          </a:prstGeom>
          <a:noFill/>
          <a:ln/>
        </p:spPr>
        <p:txBody>
          <a:bodyPr wrap="square" lIns="25400" tIns="25400" rIns="25400" bIns="25400" rtlCol="0" anchor="t">
            <a:normAutofit lnSpcReduction="10000"/>
          </a:bodyPr>
          <a:lstStyle/>
          <a:p>
            <a:pPr marL="0" indent="0" algn="l">
              <a:lnSpc>
                <a:spcPct val="118105"/>
              </a:lnSpc>
              <a:buNone/>
            </a:pPr>
            <a:r>
              <a:rPr lang="en-US" sz="2250" dirty="0">
                <a:solidFill>
                  <a:srgbClr val="201E1D"/>
                </a:solidFill>
                <a:latin typeface="Arial" pitchFamily="34" charset="0"/>
                <a:ea typeface="Arial" pitchFamily="34" charset="-122"/>
                <a:cs typeface="Arial" pitchFamily="34" charset="-120"/>
              </a:rPr>
              <a:t>Which antidepressant for major depressive disorder is contraindicated in patients with bulimia?</a:t>
            </a:r>
            <a:endParaRPr lang="en-US" sz="2250" dirty="0"/>
          </a:p>
        </p:txBody>
      </p:sp>
      <p:sp>
        <p:nvSpPr>
          <p:cNvPr id="32" name="Shape 30"/>
          <p:cNvSpPr/>
          <p:nvPr/>
        </p:nvSpPr>
        <p:spPr>
          <a:xfrm>
            <a:off x="11772913" y="5052647"/>
            <a:ext cx="5143500" cy="9525"/>
          </a:xfrm>
          <a:prstGeom prst="rect">
            <a:avLst/>
          </a:prstGeom>
          <a:solidFill>
            <a:srgbClr val="201E1D">
              <a:alpha val="30000"/>
            </a:srgbClr>
          </a:solidFill>
          <a:ln/>
        </p:spPr>
        <p:txBody>
          <a:bodyPr/>
          <a:lstStyle/>
          <a:p>
            <a:endParaRPr lang="en-US"/>
          </a:p>
        </p:txBody>
      </p:sp>
      <p:sp>
        <p:nvSpPr>
          <p:cNvPr id="33" name="Text 31"/>
          <p:cNvSpPr/>
          <p:nvPr/>
        </p:nvSpPr>
        <p:spPr>
          <a:xfrm>
            <a:off x="11772913" y="5328791"/>
            <a:ext cx="56578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252" dirty="0">
                <a:solidFill>
                  <a:srgbClr val="201E1D">
                    <a:alpha val="50000"/>
                  </a:srgbClr>
                </a:solidFill>
                <a:latin typeface="Arial" pitchFamily="34" charset="0"/>
                <a:ea typeface="Arial" pitchFamily="34" charset="-122"/>
                <a:cs typeface="Arial" pitchFamily="34" charset="-120"/>
              </a:rPr>
              <a:t>MODIFIER</a:t>
            </a:r>
            <a:endParaRPr lang="en-US" sz="1800" dirty="0"/>
          </a:p>
        </p:txBody>
      </p:sp>
      <p:sp>
        <p:nvSpPr>
          <p:cNvPr id="34" name="Text 32"/>
          <p:cNvSpPr/>
          <p:nvPr/>
        </p:nvSpPr>
        <p:spPr>
          <a:xfrm>
            <a:off x="11772913" y="5759242"/>
            <a:ext cx="5657850" cy="510562"/>
          </a:xfrm>
          <a:prstGeom prst="rect">
            <a:avLst/>
          </a:prstGeom>
          <a:noFill/>
          <a:ln/>
        </p:spPr>
        <p:txBody>
          <a:bodyPr wrap="square" lIns="25400" tIns="25400" rIns="25400" bIns="25400" rtlCol="0" anchor="t">
            <a:normAutofit/>
          </a:bodyPr>
          <a:lstStyle/>
          <a:p>
            <a:pPr marL="0" indent="0" algn="l">
              <a:lnSpc>
                <a:spcPct val="134716"/>
              </a:lnSpc>
              <a:buNone/>
            </a:pPr>
            <a:r>
              <a:rPr lang="en-US" sz="2400" b="1" dirty="0">
                <a:solidFill>
                  <a:srgbClr val="201E1D"/>
                </a:solidFill>
                <a:latin typeface="Arial" pitchFamily="34" charset="0"/>
                <a:ea typeface="Arial" pitchFamily="34" charset="-122"/>
                <a:cs typeface="Arial" pitchFamily="34" charset="-120"/>
              </a:rPr>
              <a:t>Bulimia nervosa</a:t>
            </a:r>
            <a:endParaRPr lang="en-US" sz="2400" dirty="0"/>
          </a:p>
        </p:txBody>
      </p:sp>
      <p:sp>
        <p:nvSpPr>
          <p:cNvPr id="35" name="Text 33"/>
          <p:cNvSpPr/>
          <p:nvPr/>
        </p:nvSpPr>
        <p:spPr>
          <a:xfrm>
            <a:off x="11772913" y="6441213"/>
            <a:ext cx="56578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252" dirty="0">
                <a:solidFill>
                  <a:srgbClr val="201E1D">
                    <a:alpha val="50000"/>
                  </a:srgbClr>
                </a:solidFill>
                <a:latin typeface="Arial" pitchFamily="34" charset="0"/>
                <a:ea typeface="Arial" pitchFamily="34" charset="-122"/>
                <a:cs typeface="Arial" pitchFamily="34" charset="-120"/>
              </a:rPr>
              <a:t>GENERAL ANSWER</a:t>
            </a:r>
            <a:endParaRPr lang="en-US" sz="1800" dirty="0"/>
          </a:p>
        </p:txBody>
      </p:sp>
      <p:sp>
        <p:nvSpPr>
          <p:cNvPr id="36" name="Text 34"/>
          <p:cNvSpPr/>
          <p:nvPr/>
        </p:nvSpPr>
        <p:spPr>
          <a:xfrm>
            <a:off x="11772913" y="6871665"/>
            <a:ext cx="5657850" cy="510562"/>
          </a:xfrm>
          <a:prstGeom prst="rect">
            <a:avLst/>
          </a:prstGeom>
          <a:noFill/>
          <a:ln/>
        </p:spPr>
        <p:txBody>
          <a:bodyPr wrap="square" lIns="25400" tIns="25400" rIns="25400" bIns="25400" rtlCol="0" anchor="t">
            <a:normAutofit/>
          </a:bodyPr>
          <a:lstStyle/>
          <a:p>
            <a:pPr marL="0" indent="0" algn="l">
              <a:lnSpc>
                <a:spcPct val="134716"/>
              </a:lnSpc>
              <a:buNone/>
            </a:pPr>
            <a:r>
              <a:rPr lang="en-US" sz="2400" b="1" dirty="0">
                <a:solidFill>
                  <a:srgbClr val="201E1D">
                    <a:alpha val="55000"/>
                  </a:srgbClr>
                </a:solidFill>
                <a:latin typeface="Arial" pitchFamily="34" charset="0"/>
                <a:ea typeface="Arial" pitchFamily="34" charset="-122"/>
                <a:cs typeface="Arial" pitchFamily="34" charset="-120"/>
              </a:rPr>
              <a:t>Sertraline</a:t>
            </a:r>
            <a:endParaRPr lang="en-US" sz="2400" dirty="0"/>
          </a:p>
        </p:txBody>
      </p:sp>
      <p:sp>
        <p:nvSpPr>
          <p:cNvPr id="37" name="Text 35"/>
          <p:cNvSpPr/>
          <p:nvPr/>
        </p:nvSpPr>
        <p:spPr>
          <a:xfrm>
            <a:off x="11772913" y="7553636"/>
            <a:ext cx="56578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252" dirty="0">
                <a:solidFill>
                  <a:srgbClr val="3C5F82"/>
                </a:solidFill>
                <a:latin typeface="Arial" pitchFamily="34" charset="0"/>
                <a:ea typeface="Arial" pitchFamily="34" charset="-122"/>
                <a:cs typeface="Arial" pitchFamily="34" charset="-120"/>
              </a:rPr>
              <a:t>CONDITIONAL ANSWER</a:t>
            </a:r>
            <a:endParaRPr lang="en-US" sz="1800" dirty="0"/>
          </a:p>
        </p:txBody>
      </p:sp>
      <p:sp>
        <p:nvSpPr>
          <p:cNvPr id="38" name="Text 36"/>
          <p:cNvSpPr/>
          <p:nvPr/>
        </p:nvSpPr>
        <p:spPr>
          <a:xfrm>
            <a:off x="11772913" y="7984088"/>
            <a:ext cx="5657850" cy="510562"/>
          </a:xfrm>
          <a:prstGeom prst="rect">
            <a:avLst/>
          </a:prstGeom>
          <a:noFill/>
          <a:ln/>
        </p:spPr>
        <p:txBody>
          <a:bodyPr wrap="square" lIns="25400" tIns="25400" rIns="25400" bIns="25400" rtlCol="0" anchor="t">
            <a:normAutofit/>
          </a:bodyPr>
          <a:lstStyle/>
          <a:p>
            <a:pPr marL="0" indent="0" algn="l">
              <a:lnSpc>
                <a:spcPct val="134716"/>
              </a:lnSpc>
              <a:buNone/>
            </a:pPr>
            <a:r>
              <a:rPr lang="en-US" sz="2400" b="1" dirty="0">
                <a:solidFill>
                  <a:srgbClr val="201E1D"/>
                </a:solidFill>
                <a:latin typeface="Arial" pitchFamily="34" charset="0"/>
                <a:ea typeface="Arial" pitchFamily="34" charset="-122"/>
                <a:cs typeface="Arial" pitchFamily="34" charset="-120"/>
              </a:rPr>
              <a:t>Bupropion </a:t>
            </a:r>
            <a:r>
              <a:rPr lang="en-US" sz="1950" dirty="0">
                <a:solidFill>
                  <a:srgbClr val="201E1D">
                    <a:alpha val="60000"/>
                  </a:srgbClr>
                </a:solidFill>
                <a:latin typeface="Arial" pitchFamily="34" charset="0"/>
                <a:ea typeface="Arial" pitchFamily="34" charset="-122"/>
                <a:cs typeface="Arial" pitchFamily="34" charset="-120"/>
              </a:rPr>
              <a:t>lowers the seizure threshold</a:t>
            </a:r>
            <a:endParaRPr lang="en-US" sz="2400" dirty="0"/>
          </a:p>
        </p:txBody>
      </p:sp>
      <p:sp>
        <p:nvSpPr>
          <p:cNvPr id="39" name="Text 37"/>
          <p:cNvSpPr/>
          <p:nvPr/>
        </p:nvSpPr>
        <p:spPr>
          <a:xfrm>
            <a:off x="16334766" y="9399375"/>
            <a:ext cx="1038847"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05 / 16</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Benchmark Composition</a:t>
            </a:r>
            <a:endParaRPr lang="en-US" sz="4650" dirty="0"/>
          </a:p>
        </p:txBody>
      </p:sp>
      <p:sp>
        <p:nvSpPr>
          <p:cNvPr id="7" name="Shape 5"/>
          <p:cNvSpPr/>
          <p:nvPr/>
        </p:nvSpPr>
        <p:spPr>
          <a:xfrm>
            <a:off x="990586" y="2865956"/>
            <a:ext cx="4795648" cy="19009"/>
          </a:xfrm>
          <a:prstGeom prst="rect">
            <a:avLst/>
          </a:prstGeom>
          <a:solidFill>
            <a:srgbClr val="201E1D"/>
          </a:solidFill>
          <a:ln/>
        </p:spPr>
        <p:txBody>
          <a:bodyPr/>
          <a:lstStyle/>
          <a:p>
            <a:endParaRPr lang="en-US"/>
          </a:p>
        </p:txBody>
      </p:sp>
      <p:sp>
        <p:nvSpPr>
          <p:cNvPr id="8" name="Text 6"/>
          <p:cNvSpPr/>
          <p:nvPr/>
        </p:nvSpPr>
        <p:spPr>
          <a:xfrm>
            <a:off x="990586" y="3113552"/>
            <a:ext cx="5275213" cy="838186"/>
          </a:xfrm>
          <a:prstGeom prst="rect">
            <a:avLst/>
          </a:prstGeom>
          <a:noFill/>
          <a:ln/>
        </p:spPr>
        <p:txBody>
          <a:bodyPr wrap="square" lIns="25400" tIns="25400" rIns="25400" bIns="25400" rtlCol="0" anchor="t">
            <a:normAutofit fontScale="92500" lnSpcReduction="10000"/>
          </a:bodyPr>
          <a:lstStyle/>
          <a:p>
            <a:pPr marL="0" indent="0" algn="l">
              <a:lnSpc>
                <a:spcPct val="88421"/>
              </a:lnSpc>
              <a:buNone/>
            </a:pPr>
            <a:r>
              <a:rPr lang="en-US" sz="6300" b="1" kern="0" spc="-189" dirty="0">
                <a:solidFill>
                  <a:srgbClr val="3C5F82"/>
                </a:solidFill>
                <a:latin typeface="Courier New" pitchFamily="34" charset="0"/>
                <a:ea typeface="Courier New" pitchFamily="34" charset="-122"/>
                <a:cs typeface="Courier New" pitchFamily="34" charset="-120"/>
              </a:rPr>
              <a:t>57%</a:t>
            </a:r>
            <a:endParaRPr lang="en-US" sz="6300" dirty="0"/>
          </a:p>
        </p:txBody>
      </p:sp>
      <p:sp>
        <p:nvSpPr>
          <p:cNvPr id="9" name="Text 7"/>
          <p:cNvSpPr/>
          <p:nvPr/>
        </p:nvSpPr>
        <p:spPr>
          <a:xfrm>
            <a:off x="990586" y="4123148"/>
            <a:ext cx="5275213" cy="391634"/>
          </a:xfrm>
          <a:prstGeom prst="rect">
            <a:avLst/>
          </a:prstGeom>
          <a:noFill/>
          <a:ln/>
        </p:spPr>
        <p:txBody>
          <a:bodyPr wrap="square" lIns="25400" tIns="25400" rIns="25400" bIns="25400" rtlCol="0" anchor="t">
            <a:normAutofit lnSpcReduction="10000"/>
          </a:bodyPr>
          <a:lstStyle/>
          <a:p>
            <a:pPr marL="0" indent="0" algn="l">
              <a:lnSpc>
                <a:spcPct val="100820"/>
              </a:lnSpc>
              <a:buNone/>
            </a:pPr>
            <a:r>
              <a:rPr lang="en-US" sz="2400" b="1" kern="0" spc="-36" dirty="0">
                <a:solidFill>
                  <a:srgbClr val="201E1D"/>
                </a:solidFill>
                <a:latin typeface="Arial" pitchFamily="34" charset="0"/>
                <a:ea typeface="Arial" pitchFamily="34" charset="-122"/>
                <a:cs typeface="Arial" pitchFamily="34" charset="-120"/>
              </a:rPr>
              <a:t>Comorbidity &amp; organ-based</a:t>
            </a:r>
            <a:endParaRPr lang="en-US" sz="2400" dirty="0"/>
          </a:p>
        </p:txBody>
      </p:sp>
      <p:sp>
        <p:nvSpPr>
          <p:cNvPr id="10" name="Text 8"/>
          <p:cNvSpPr/>
          <p:nvPr/>
        </p:nvSpPr>
        <p:spPr>
          <a:xfrm>
            <a:off x="990586" y="4629028"/>
            <a:ext cx="4939517" cy="741381"/>
          </a:xfrm>
          <a:prstGeom prst="rect">
            <a:avLst/>
          </a:prstGeom>
          <a:noFill/>
          <a:ln/>
        </p:spPr>
        <p:txBody>
          <a:bodyPr wrap="square" lIns="25400" tIns="25400" rIns="25400" bIns="25400" rtlCol="0" anchor="t">
            <a:normAutofit lnSpcReduction="10000"/>
          </a:bodyPr>
          <a:lstStyle/>
          <a:p>
            <a:pPr marL="0" indent="0" algn="l">
              <a:lnSpc>
                <a:spcPct val="123067"/>
              </a:lnSpc>
              <a:buNone/>
            </a:pPr>
            <a:r>
              <a:rPr lang="en-US" sz="1950" dirty="0">
                <a:solidFill>
                  <a:srgbClr val="201E1D">
                    <a:alpha val="68000"/>
                  </a:srgbClr>
                </a:solidFill>
                <a:latin typeface="Arial" pitchFamily="34" charset="0"/>
                <a:ea typeface="Arial" pitchFamily="34" charset="-122"/>
                <a:cs typeface="Arial" pitchFamily="34" charset="-120"/>
              </a:rPr>
              <a:t>Disease contraindications and organ dysfunction that force a drug substitution.</a:t>
            </a:r>
            <a:endParaRPr lang="en-US" sz="1950" dirty="0"/>
          </a:p>
        </p:txBody>
      </p:sp>
      <p:sp>
        <p:nvSpPr>
          <p:cNvPr id="11" name="Shape 9"/>
          <p:cNvSpPr/>
          <p:nvPr/>
        </p:nvSpPr>
        <p:spPr>
          <a:xfrm>
            <a:off x="6319580" y="2865956"/>
            <a:ext cx="3516876" cy="19009"/>
          </a:xfrm>
          <a:prstGeom prst="rect">
            <a:avLst/>
          </a:prstGeom>
          <a:solidFill>
            <a:srgbClr val="201E1D"/>
          </a:solidFill>
          <a:ln/>
        </p:spPr>
        <p:txBody>
          <a:bodyPr/>
          <a:lstStyle/>
          <a:p>
            <a:endParaRPr lang="en-US"/>
          </a:p>
        </p:txBody>
      </p:sp>
      <p:sp>
        <p:nvSpPr>
          <p:cNvPr id="12" name="Text 10"/>
          <p:cNvSpPr/>
          <p:nvPr/>
        </p:nvSpPr>
        <p:spPr>
          <a:xfrm>
            <a:off x="6319580" y="3113552"/>
            <a:ext cx="3868564" cy="838186"/>
          </a:xfrm>
          <a:prstGeom prst="rect">
            <a:avLst/>
          </a:prstGeom>
          <a:noFill/>
          <a:ln/>
        </p:spPr>
        <p:txBody>
          <a:bodyPr wrap="square" lIns="25400" tIns="25400" rIns="25400" bIns="25400" rtlCol="0" anchor="t">
            <a:normAutofit fontScale="92500" lnSpcReduction="10000"/>
          </a:bodyPr>
          <a:lstStyle/>
          <a:p>
            <a:pPr marL="0" indent="0" algn="l">
              <a:lnSpc>
                <a:spcPct val="88421"/>
              </a:lnSpc>
              <a:buNone/>
            </a:pPr>
            <a:r>
              <a:rPr lang="en-US" sz="6300" b="1" kern="0" spc="-189" dirty="0">
                <a:solidFill>
                  <a:srgbClr val="3C5F82"/>
                </a:solidFill>
                <a:latin typeface="Courier New" pitchFamily="34" charset="0"/>
                <a:ea typeface="Courier New" pitchFamily="34" charset="-122"/>
                <a:cs typeface="Courier New" pitchFamily="34" charset="-120"/>
              </a:rPr>
              <a:t>23%</a:t>
            </a:r>
            <a:endParaRPr lang="en-US" sz="6300" dirty="0"/>
          </a:p>
        </p:txBody>
      </p:sp>
      <p:sp>
        <p:nvSpPr>
          <p:cNvPr id="13" name="Text 11"/>
          <p:cNvSpPr/>
          <p:nvPr/>
        </p:nvSpPr>
        <p:spPr>
          <a:xfrm>
            <a:off x="6319580" y="4123148"/>
            <a:ext cx="3868564" cy="391634"/>
          </a:xfrm>
          <a:prstGeom prst="rect">
            <a:avLst/>
          </a:prstGeom>
          <a:noFill/>
          <a:ln/>
        </p:spPr>
        <p:txBody>
          <a:bodyPr wrap="square" lIns="25400" tIns="25400" rIns="25400" bIns="25400" rtlCol="0" anchor="t">
            <a:normAutofit lnSpcReduction="10000"/>
          </a:bodyPr>
          <a:lstStyle/>
          <a:p>
            <a:pPr marL="0" indent="0" algn="l">
              <a:lnSpc>
                <a:spcPct val="100820"/>
              </a:lnSpc>
              <a:buNone/>
            </a:pPr>
            <a:r>
              <a:rPr lang="en-US" sz="2400" b="1" kern="0" spc="-36" dirty="0">
                <a:solidFill>
                  <a:srgbClr val="201E1D"/>
                </a:solidFill>
                <a:latin typeface="Arial" pitchFamily="34" charset="0"/>
                <a:ea typeface="Arial" pitchFamily="34" charset="-122"/>
                <a:cs typeface="Arial" pitchFamily="34" charset="-120"/>
              </a:rPr>
              <a:t>Diagnostic modality</a:t>
            </a:r>
            <a:endParaRPr lang="en-US" sz="2400" dirty="0"/>
          </a:p>
        </p:txBody>
      </p:sp>
      <p:sp>
        <p:nvSpPr>
          <p:cNvPr id="14" name="Text 12"/>
          <p:cNvSpPr/>
          <p:nvPr/>
        </p:nvSpPr>
        <p:spPr>
          <a:xfrm>
            <a:off x="6319580" y="4629028"/>
            <a:ext cx="3622382" cy="1093021"/>
          </a:xfrm>
          <a:prstGeom prst="rect">
            <a:avLst/>
          </a:prstGeom>
          <a:noFill/>
          <a:ln/>
        </p:spPr>
        <p:txBody>
          <a:bodyPr wrap="square" lIns="25400" tIns="25400" rIns="25400" bIns="25400" rtlCol="0" anchor="t">
            <a:normAutofit lnSpcReduction="10000"/>
          </a:bodyPr>
          <a:lstStyle/>
          <a:p>
            <a:pPr marL="0" indent="0" algn="l">
              <a:lnSpc>
                <a:spcPct val="123067"/>
              </a:lnSpc>
              <a:buNone/>
            </a:pPr>
            <a:r>
              <a:rPr lang="en-US" sz="1950" dirty="0">
                <a:solidFill>
                  <a:srgbClr val="201E1D">
                    <a:alpha val="68000"/>
                  </a:srgbClr>
                </a:solidFill>
                <a:latin typeface="Arial" pitchFamily="34" charset="0"/>
                <a:ea typeface="Arial" pitchFamily="34" charset="-122"/>
                <a:cs typeface="Arial" pitchFamily="34" charset="-120"/>
              </a:rPr>
              <a:t>Imaging choice under radiation exposure and contrast contraindications.</a:t>
            </a:r>
            <a:endParaRPr lang="en-US" sz="1950" dirty="0"/>
          </a:p>
        </p:txBody>
      </p:sp>
      <p:sp>
        <p:nvSpPr>
          <p:cNvPr id="15" name="Shape 13"/>
          <p:cNvSpPr/>
          <p:nvPr/>
        </p:nvSpPr>
        <p:spPr>
          <a:xfrm>
            <a:off x="10369802" y="2865956"/>
            <a:ext cx="3197099" cy="19009"/>
          </a:xfrm>
          <a:prstGeom prst="rect">
            <a:avLst/>
          </a:prstGeom>
          <a:solidFill>
            <a:srgbClr val="201E1D"/>
          </a:solidFill>
          <a:ln/>
        </p:spPr>
        <p:txBody>
          <a:bodyPr/>
          <a:lstStyle/>
          <a:p>
            <a:endParaRPr lang="en-US"/>
          </a:p>
        </p:txBody>
      </p:sp>
      <p:sp>
        <p:nvSpPr>
          <p:cNvPr id="16" name="Text 14"/>
          <p:cNvSpPr/>
          <p:nvPr/>
        </p:nvSpPr>
        <p:spPr>
          <a:xfrm>
            <a:off x="10369802" y="3113552"/>
            <a:ext cx="3516809" cy="838186"/>
          </a:xfrm>
          <a:prstGeom prst="rect">
            <a:avLst/>
          </a:prstGeom>
          <a:noFill/>
          <a:ln/>
        </p:spPr>
        <p:txBody>
          <a:bodyPr wrap="square" lIns="25400" tIns="25400" rIns="25400" bIns="25400" rtlCol="0" anchor="t">
            <a:normAutofit fontScale="92500" lnSpcReduction="10000"/>
          </a:bodyPr>
          <a:lstStyle/>
          <a:p>
            <a:pPr marL="0" indent="0" algn="l">
              <a:lnSpc>
                <a:spcPct val="88421"/>
              </a:lnSpc>
              <a:buNone/>
            </a:pPr>
            <a:r>
              <a:rPr lang="en-US" sz="6300" b="1" kern="0" spc="-189" dirty="0">
                <a:solidFill>
                  <a:srgbClr val="3C5F82"/>
                </a:solidFill>
                <a:latin typeface="Courier New" pitchFamily="34" charset="0"/>
                <a:ea typeface="Courier New" pitchFamily="34" charset="-122"/>
                <a:cs typeface="Courier New" pitchFamily="34" charset="-120"/>
              </a:rPr>
              <a:t>16%</a:t>
            </a:r>
            <a:endParaRPr lang="en-US" sz="6300" dirty="0"/>
          </a:p>
        </p:txBody>
      </p:sp>
      <p:sp>
        <p:nvSpPr>
          <p:cNvPr id="17" name="Text 15"/>
          <p:cNvSpPr/>
          <p:nvPr/>
        </p:nvSpPr>
        <p:spPr>
          <a:xfrm>
            <a:off x="10369802" y="4123148"/>
            <a:ext cx="3516809" cy="391634"/>
          </a:xfrm>
          <a:prstGeom prst="rect">
            <a:avLst/>
          </a:prstGeom>
          <a:noFill/>
          <a:ln/>
        </p:spPr>
        <p:txBody>
          <a:bodyPr wrap="square" lIns="25400" tIns="25400" rIns="25400" bIns="25400" rtlCol="0" anchor="t">
            <a:normAutofit lnSpcReduction="10000"/>
          </a:bodyPr>
          <a:lstStyle/>
          <a:p>
            <a:pPr marL="0" indent="0" algn="l">
              <a:lnSpc>
                <a:spcPct val="100820"/>
              </a:lnSpc>
              <a:buNone/>
            </a:pPr>
            <a:r>
              <a:rPr lang="en-US" sz="2400" b="1" kern="0" spc="-36" dirty="0">
                <a:solidFill>
                  <a:srgbClr val="201E1D"/>
                </a:solidFill>
                <a:latin typeface="Arial" pitchFamily="34" charset="0"/>
                <a:ea typeface="Arial" pitchFamily="34" charset="-122"/>
                <a:cs typeface="Arial" pitchFamily="34" charset="-120"/>
              </a:rPr>
              <a:t>Special populations</a:t>
            </a:r>
            <a:endParaRPr lang="en-US" sz="2400" dirty="0"/>
          </a:p>
        </p:txBody>
      </p:sp>
      <p:sp>
        <p:nvSpPr>
          <p:cNvPr id="18" name="Text 16"/>
          <p:cNvSpPr/>
          <p:nvPr/>
        </p:nvSpPr>
        <p:spPr>
          <a:xfrm>
            <a:off x="10369802" y="4629028"/>
            <a:ext cx="3293012" cy="741381"/>
          </a:xfrm>
          <a:prstGeom prst="rect">
            <a:avLst/>
          </a:prstGeom>
          <a:noFill/>
          <a:ln/>
        </p:spPr>
        <p:txBody>
          <a:bodyPr wrap="square" lIns="25400" tIns="25400" rIns="25400" bIns="25400" rtlCol="0" anchor="t">
            <a:normAutofit lnSpcReduction="10000"/>
          </a:bodyPr>
          <a:lstStyle/>
          <a:p>
            <a:pPr marL="0" indent="0" algn="l">
              <a:lnSpc>
                <a:spcPct val="123067"/>
              </a:lnSpc>
              <a:buNone/>
            </a:pPr>
            <a:r>
              <a:rPr lang="en-US" sz="1950" dirty="0">
                <a:solidFill>
                  <a:srgbClr val="201E1D">
                    <a:alpha val="68000"/>
                  </a:srgbClr>
                </a:solidFill>
                <a:latin typeface="Arial" pitchFamily="34" charset="0"/>
                <a:ea typeface="Arial" pitchFamily="34" charset="-122"/>
                <a:cs typeface="Arial" pitchFamily="34" charset="-120"/>
              </a:rPr>
              <a:t>Pregnancy safety, pediatric dosing, geriatric precautions.</a:t>
            </a:r>
            <a:endParaRPr lang="en-US" sz="1950" dirty="0"/>
          </a:p>
        </p:txBody>
      </p:sp>
      <p:sp>
        <p:nvSpPr>
          <p:cNvPr id="19" name="Shape 17"/>
          <p:cNvSpPr/>
          <p:nvPr/>
        </p:nvSpPr>
        <p:spPr>
          <a:xfrm>
            <a:off x="14100246" y="2865956"/>
            <a:ext cx="3197166" cy="19009"/>
          </a:xfrm>
          <a:prstGeom prst="rect">
            <a:avLst/>
          </a:prstGeom>
          <a:solidFill>
            <a:srgbClr val="201E1D"/>
          </a:solidFill>
          <a:ln/>
        </p:spPr>
        <p:txBody>
          <a:bodyPr/>
          <a:lstStyle/>
          <a:p>
            <a:endParaRPr lang="en-US"/>
          </a:p>
        </p:txBody>
      </p:sp>
      <p:sp>
        <p:nvSpPr>
          <p:cNvPr id="20" name="Text 18"/>
          <p:cNvSpPr/>
          <p:nvPr/>
        </p:nvSpPr>
        <p:spPr>
          <a:xfrm>
            <a:off x="14100246" y="3113552"/>
            <a:ext cx="3516883" cy="838186"/>
          </a:xfrm>
          <a:prstGeom prst="rect">
            <a:avLst/>
          </a:prstGeom>
          <a:noFill/>
          <a:ln/>
        </p:spPr>
        <p:txBody>
          <a:bodyPr wrap="square" lIns="25400" tIns="25400" rIns="25400" bIns="25400" rtlCol="0" anchor="t">
            <a:normAutofit fontScale="92500" lnSpcReduction="10000"/>
          </a:bodyPr>
          <a:lstStyle/>
          <a:p>
            <a:pPr marL="0" indent="0" algn="l">
              <a:lnSpc>
                <a:spcPct val="88421"/>
              </a:lnSpc>
              <a:buNone/>
            </a:pPr>
            <a:r>
              <a:rPr lang="en-US" sz="6300" b="1" kern="0" spc="-189" dirty="0">
                <a:solidFill>
                  <a:srgbClr val="3C5F82"/>
                </a:solidFill>
                <a:latin typeface="Courier New" pitchFamily="34" charset="0"/>
                <a:ea typeface="Courier New" pitchFamily="34" charset="-122"/>
                <a:cs typeface="Courier New" pitchFamily="34" charset="-120"/>
              </a:rPr>
              <a:t>4%</a:t>
            </a:r>
            <a:endParaRPr lang="en-US" sz="6300" dirty="0"/>
          </a:p>
        </p:txBody>
      </p:sp>
      <p:sp>
        <p:nvSpPr>
          <p:cNvPr id="21" name="Text 19"/>
          <p:cNvSpPr/>
          <p:nvPr/>
        </p:nvSpPr>
        <p:spPr>
          <a:xfrm>
            <a:off x="14100246" y="4123148"/>
            <a:ext cx="3516883" cy="391634"/>
          </a:xfrm>
          <a:prstGeom prst="rect">
            <a:avLst/>
          </a:prstGeom>
          <a:noFill/>
          <a:ln/>
        </p:spPr>
        <p:txBody>
          <a:bodyPr wrap="square" lIns="25400" tIns="25400" rIns="25400" bIns="25400" rtlCol="0" anchor="t">
            <a:normAutofit lnSpcReduction="10000"/>
          </a:bodyPr>
          <a:lstStyle/>
          <a:p>
            <a:pPr marL="0" indent="0" algn="l">
              <a:lnSpc>
                <a:spcPct val="100820"/>
              </a:lnSpc>
              <a:buNone/>
            </a:pPr>
            <a:r>
              <a:rPr lang="en-US" sz="2400" b="1" kern="0" spc="-36" dirty="0">
                <a:solidFill>
                  <a:srgbClr val="201E1D"/>
                </a:solidFill>
                <a:latin typeface="Arial" pitchFamily="34" charset="0"/>
                <a:ea typeface="Arial" pitchFamily="34" charset="-122"/>
                <a:cs typeface="Arial" pitchFamily="34" charset="-120"/>
              </a:rPr>
              <a:t>Drug–drug interactions</a:t>
            </a:r>
            <a:endParaRPr lang="en-US" sz="2400" dirty="0"/>
          </a:p>
        </p:txBody>
      </p:sp>
      <p:sp>
        <p:nvSpPr>
          <p:cNvPr id="22" name="Text 20"/>
          <p:cNvSpPr/>
          <p:nvPr/>
        </p:nvSpPr>
        <p:spPr>
          <a:xfrm>
            <a:off x="14100246" y="4629028"/>
            <a:ext cx="3293081" cy="1093021"/>
          </a:xfrm>
          <a:prstGeom prst="rect">
            <a:avLst/>
          </a:prstGeom>
          <a:noFill/>
          <a:ln/>
        </p:spPr>
        <p:txBody>
          <a:bodyPr wrap="square" lIns="25400" tIns="25400" rIns="25400" bIns="25400" rtlCol="0" anchor="t">
            <a:normAutofit lnSpcReduction="10000"/>
          </a:bodyPr>
          <a:lstStyle/>
          <a:p>
            <a:pPr marL="0" indent="0" algn="l">
              <a:lnSpc>
                <a:spcPct val="123067"/>
              </a:lnSpc>
              <a:buNone/>
            </a:pPr>
            <a:r>
              <a:rPr lang="en-US" sz="1950" dirty="0">
                <a:solidFill>
                  <a:srgbClr val="201E1D">
                    <a:alpha val="68000"/>
                  </a:srgbClr>
                </a:solidFill>
                <a:latin typeface="Arial" pitchFamily="34" charset="0"/>
                <a:ea typeface="Arial" pitchFamily="34" charset="-122"/>
                <a:cs typeface="Arial" pitchFamily="34" charset="-120"/>
              </a:rPr>
              <a:t>CYP enzyme interactions and pharmacogenomic variation.</a:t>
            </a:r>
            <a:endParaRPr lang="en-US" sz="1950" dirty="0"/>
          </a:p>
        </p:txBody>
      </p:sp>
      <p:sp>
        <p:nvSpPr>
          <p:cNvPr id="23" name="Shape 21"/>
          <p:cNvSpPr/>
          <p:nvPr/>
        </p:nvSpPr>
        <p:spPr>
          <a:xfrm>
            <a:off x="990586" y="8197926"/>
            <a:ext cx="16306827" cy="19009"/>
          </a:xfrm>
          <a:prstGeom prst="rect">
            <a:avLst/>
          </a:prstGeom>
          <a:solidFill>
            <a:srgbClr val="201E1D">
              <a:alpha val="40000"/>
            </a:srgbClr>
          </a:solidFill>
          <a:ln/>
        </p:spPr>
        <p:txBody>
          <a:bodyPr/>
          <a:lstStyle/>
          <a:p>
            <a:endParaRPr lang="en-US"/>
          </a:p>
        </p:txBody>
      </p:sp>
      <p:sp>
        <p:nvSpPr>
          <p:cNvPr id="24" name="Text 22"/>
          <p:cNvSpPr/>
          <p:nvPr/>
        </p:nvSpPr>
        <p:spPr>
          <a:xfrm>
            <a:off x="990586" y="8481850"/>
            <a:ext cx="3934197"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BUILT IN THREE STAGES</a:t>
            </a:r>
            <a:endParaRPr lang="en-US" sz="1800" dirty="0"/>
          </a:p>
        </p:txBody>
      </p:sp>
      <p:sp>
        <p:nvSpPr>
          <p:cNvPr id="25" name="Text 23"/>
          <p:cNvSpPr/>
          <p:nvPr/>
        </p:nvSpPr>
        <p:spPr>
          <a:xfrm>
            <a:off x="5100475" y="8464532"/>
            <a:ext cx="3821384" cy="763434"/>
          </a:xfrm>
          <a:prstGeom prst="rect">
            <a:avLst/>
          </a:prstGeom>
          <a:noFill/>
          <a:ln/>
        </p:spPr>
        <p:txBody>
          <a:bodyPr wrap="square" lIns="25400" tIns="25400" rIns="25400" bIns="25400" rtlCol="0" anchor="t">
            <a:normAutofit/>
          </a:bodyPr>
          <a:lstStyle/>
          <a:p>
            <a:pPr marL="0" indent="0" algn="l">
              <a:lnSpc>
                <a:spcPct val="117994"/>
              </a:lnSpc>
              <a:buNone/>
            </a:pPr>
            <a:r>
              <a:rPr lang="en-US" sz="2100" b="1" dirty="0">
                <a:solidFill>
                  <a:srgbClr val="3C5F82"/>
                </a:solidFill>
                <a:latin typeface="Courier New" pitchFamily="34" charset="0"/>
                <a:ea typeface="Courier New" pitchFamily="34" charset="-122"/>
                <a:cs typeface="Courier New" pitchFamily="34" charset="-120"/>
              </a:rPr>
              <a:t>01 </a:t>
            </a:r>
            <a:r>
              <a:rPr lang="en-US" sz="2100" dirty="0">
                <a:solidFill>
                  <a:srgbClr val="201E1D"/>
                </a:solidFill>
                <a:latin typeface="Arial" pitchFamily="34" charset="0"/>
                <a:ea typeface="Arial" pitchFamily="34" charset="-122"/>
                <a:cs typeface="Arial" pitchFamily="34" charset="-120"/>
              </a:rPr>
              <a:t>LLM candidate generation</a:t>
            </a:r>
            <a:endParaRPr lang="en-US" sz="2100" dirty="0"/>
          </a:p>
        </p:txBody>
      </p:sp>
      <p:sp>
        <p:nvSpPr>
          <p:cNvPr id="26" name="Text 24"/>
          <p:cNvSpPr/>
          <p:nvPr/>
        </p:nvSpPr>
        <p:spPr>
          <a:xfrm>
            <a:off x="9803064" y="8464532"/>
            <a:ext cx="2903061" cy="763434"/>
          </a:xfrm>
          <a:prstGeom prst="rect">
            <a:avLst/>
          </a:prstGeom>
          <a:noFill/>
          <a:ln/>
        </p:spPr>
        <p:txBody>
          <a:bodyPr wrap="square" lIns="25400" tIns="25400" rIns="25400" bIns="25400" rtlCol="0" anchor="t">
            <a:normAutofit/>
          </a:bodyPr>
          <a:lstStyle/>
          <a:p>
            <a:pPr marL="0" indent="0" algn="l">
              <a:lnSpc>
                <a:spcPct val="117994"/>
              </a:lnSpc>
              <a:buNone/>
            </a:pPr>
            <a:r>
              <a:rPr lang="en-US" sz="2100" b="1" dirty="0">
                <a:solidFill>
                  <a:srgbClr val="3C5F82"/>
                </a:solidFill>
                <a:latin typeface="Courier New" pitchFamily="34" charset="0"/>
                <a:ea typeface="Courier New" pitchFamily="34" charset="-122"/>
                <a:cs typeface="Courier New" pitchFamily="34" charset="-120"/>
              </a:rPr>
              <a:t>02 </a:t>
            </a:r>
            <a:r>
              <a:rPr lang="en-US" sz="2100" dirty="0">
                <a:solidFill>
                  <a:srgbClr val="201E1D"/>
                </a:solidFill>
                <a:latin typeface="Arial" pitchFamily="34" charset="0"/>
                <a:ea typeface="Arial" pitchFamily="34" charset="-122"/>
                <a:cs typeface="Arial" pitchFamily="34" charset="-120"/>
              </a:rPr>
              <a:t>Automated filtering</a:t>
            </a:r>
            <a:endParaRPr lang="en-US" sz="2100" dirty="0"/>
          </a:p>
        </p:txBody>
      </p:sp>
      <p:sp>
        <p:nvSpPr>
          <p:cNvPr id="27" name="Text 25"/>
          <p:cNvSpPr/>
          <p:nvPr/>
        </p:nvSpPr>
        <p:spPr>
          <a:xfrm>
            <a:off x="13587331" y="8464532"/>
            <a:ext cx="4081090" cy="400767"/>
          </a:xfrm>
          <a:prstGeom prst="rect">
            <a:avLst/>
          </a:prstGeom>
          <a:noFill/>
          <a:ln/>
        </p:spPr>
        <p:txBody>
          <a:bodyPr wrap="square" lIns="25400" tIns="25400" rIns="25400" bIns="25400" rtlCol="0" anchor="t">
            <a:normAutofit lnSpcReduction="10000"/>
          </a:bodyPr>
          <a:lstStyle/>
          <a:p>
            <a:pPr marL="0" indent="0" algn="l">
              <a:lnSpc>
                <a:spcPct val="117994"/>
              </a:lnSpc>
              <a:buNone/>
            </a:pPr>
            <a:r>
              <a:rPr lang="en-US" sz="2100" b="1" dirty="0">
                <a:solidFill>
                  <a:srgbClr val="3C5F82"/>
                </a:solidFill>
                <a:latin typeface="Courier New" pitchFamily="34" charset="0"/>
                <a:ea typeface="Courier New" pitchFamily="34" charset="-122"/>
                <a:cs typeface="Courier New" pitchFamily="34" charset="-120"/>
              </a:rPr>
              <a:t>03 </a:t>
            </a:r>
            <a:r>
              <a:rPr lang="en-US" sz="2100" dirty="0">
                <a:solidFill>
                  <a:srgbClr val="201E1D"/>
                </a:solidFill>
                <a:latin typeface="Arial" pitchFamily="34" charset="0"/>
                <a:ea typeface="Arial" pitchFamily="34" charset="-122"/>
                <a:cs typeface="Arial" pitchFamily="34" charset="-120"/>
              </a:rPr>
              <a:t>Manual expert verification</a:t>
            </a:r>
            <a:endParaRPr lang="en-US" sz="2100" dirty="0"/>
          </a:p>
        </p:txBody>
      </p:sp>
      <p:sp>
        <p:nvSpPr>
          <p:cNvPr id="28" name="Text 26"/>
          <p:cNvSpPr/>
          <p:nvPr/>
        </p:nvSpPr>
        <p:spPr>
          <a:xfrm>
            <a:off x="16334360" y="9399375"/>
            <a:ext cx="1039253"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06 / 16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30538"/>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687643"/>
            <a:ext cx="17937509"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CGR vs. Traditional KG-RAG</a:t>
            </a:r>
            <a:endParaRPr lang="en-US" sz="4650" dirty="0"/>
          </a:p>
        </p:txBody>
      </p:sp>
      <p:sp>
        <p:nvSpPr>
          <p:cNvPr id="8" name="Shape 5"/>
          <p:cNvSpPr/>
          <p:nvPr/>
        </p:nvSpPr>
        <p:spPr>
          <a:xfrm>
            <a:off x="13487413" y="3066197"/>
            <a:ext cx="3810000" cy="19009"/>
          </a:xfrm>
          <a:prstGeom prst="rect">
            <a:avLst/>
          </a:prstGeom>
          <a:solidFill>
            <a:srgbClr val="201E1D">
              <a:alpha val="40000"/>
            </a:srgbClr>
          </a:solidFill>
          <a:ln/>
        </p:spPr>
        <p:txBody>
          <a:bodyPr/>
          <a:lstStyle/>
          <a:p>
            <a:endParaRPr lang="en-US"/>
          </a:p>
        </p:txBody>
      </p:sp>
      <p:sp>
        <p:nvSpPr>
          <p:cNvPr id="9" name="Text 6"/>
          <p:cNvSpPr/>
          <p:nvPr/>
        </p:nvSpPr>
        <p:spPr>
          <a:xfrm>
            <a:off x="13487413" y="3294716"/>
            <a:ext cx="419100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TOP BAND</a:t>
            </a:r>
            <a:endParaRPr lang="en-US" sz="1800" dirty="0"/>
          </a:p>
        </p:txBody>
      </p:sp>
      <p:sp>
        <p:nvSpPr>
          <p:cNvPr id="10" name="Text 7"/>
          <p:cNvSpPr/>
          <p:nvPr/>
        </p:nvSpPr>
        <p:spPr>
          <a:xfrm>
            <a:off x="13487413" y="3782331"/>
            <a:ext cx="3924300" cy="1931261"/>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solidFill>
                <a:latin typeface="Arial" pitchFamily="34" charset="0"/>
                <a:ea typeface="Arial" pitchFamily="34" charset="-122"/>
                <a:cs typeface="Arial" pitchFamily="34" charset="-120"/>
              </a:rPr>
              <a:t>Every treatment edge is followed. A triple has no field for the BRAS, so lisinopril reaches the generator and becomes the answer.</a:t>
            </a:r>
            <a:endParaRPr lang="en-US" sz="2100" dirty="0"/>
          </a:p>
        </p:txBody>
      </p:sp>
      <p:sp>
        <p:nvSpPr>
          <p:cNvPr id="11" name="Shape 8"/>
          <p:cNvSpPr/>
          <p:nvPr/>
        </p:nvSpPr>
        <p:spPr>
          <a:xfrm>
            <a:off x="13487413" y="6094579"/>
            <a:ext cx="3810000" cy="19009"/>
          </a:xfrm>
          <a:prstGeom prst="rect">
            <a:avLst/>
          </a:prstGeom>
          <a:solidFill>
            <a:srgbClr val="6B8FB5"/>
          </a:solidFill>
          <a:ln/>
        </p:spPr>
        <p:txBody>
          <a:bodyPr/>
          <a:lstStyle/>
          <a:p>
            <a:endParaRPr lang="en-US"/>
          </a:p>
        </p:txBody>
      </p:sp>
      <p:sp>
        <p:nvSpPr>
          <p:cNvPr id="12" name="Text 9"/>
          <p:cNvSpPr/>
          <p:nvPr/>
        </p:nvSpPr>
        <p:spPr>
          <a:xfrm>
            <a:off x="13487413" y="6323098"/>
            <a:ext cx="419100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BOTTOM BAND</a:t>
            </a:r>
            <a:endParaRPr lang="en-US" sz="1800" dirty="0"/>
          </a:p>
        </p:txBody>
      </p:sp>
      <p:sp>
        <p:nvSpPr>
          <p:cNvPr id="13" name="Text 10"/>
          <p:cNvSpPr/>
          <p:nvPr/>
        </p:nvSpPr>
        <p:spPr>
          <a:xfrm>
            <a:off x="13487413" y="6810713"/>
            <a:ext cx="3924300" cy="1931261"/>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solidFill>
                <a:latin typeface="Arial" pitchFamily="34" charset="0"/>
                <a:ea typeface="Arial" pitchFamily="34" charset="-122"/>
                <a:cs typeface="Arial" pitchFamily="34" charset="-120"/>
              </a:rPr>
              <a:t>The same edges now carry conditions. Two are masked, one survives — and only the surviving path's evidence reaches the generator.</a:t>
            </a:r>
            <a:endParaRPr lang="en-US" sz="2100" dirty="0"/>
          </a:p>
        </p:txBody>
      </p:sp>
      <p:sp>
        <p:nvSpPr>
          <p:cNvPr id="14" name="Text 11"/>
          <p:cNvSpPr/>
          <p:nvPr/>
        </p:nvSpPr>
        <p:spPr>
          <a:xfrm>
            <a:off x="16339095" y="9399375"/>
            <a:ext cx="1034518"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07 / 16</a:t>
            </a:r>
            <a:endParaRPr lang="en-US" sz="1800" dirty="0"/>
          </a:p>
        </p:txBody>
      </p:sp>
      <p:pic>
        <p:nvPicPr>
          <p:cNvPr id="3" name="Picture 2">
            <a:extLst>
              <a:ext uri="{FF2B5EF4-FFF2-40B4-BE49-F238E27FC236}">
                <a16:creationId xmlns:a16="http://schemas.microsoft.com/office/drawing/2014/main" id="{B9BAF0DE-69AB-5A62-77D6-69B28E0B853D}"/>
              </a:ext>
            </a:extLst>
          </p:cNvPr>
          <p:cNvPicPr>
            <a:picLocks noChangeAspect="1"/>
          </p:cNvPicPr>
          <p:nvPr/>
        </p:nvPicPr>
        <p:blipFill>
          <a:blip r:embed="rId3"/>
          <a:stretch>
            <a:fillRect/>
          </a:stretch>
        </p:blipFill>
        <p:spPr>
          <a:xfrm>
            <a:off x="609587" y="2779718"/>
            <a:ext cx="12335670" cy="70120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Condition-Aware Knowledge Graph</a:t>
            </a:r>
            <a:endParaRPr lang="en-US" sz="4650" dirty="0"/>
          </a:p>
        </p:txBody>
      </p:sp>
      <p:sp>
        <p:nvSpPr>
          <p:cNvPr id="7" name="Shape 5"/>
          <p:cNvSpPr/>
          <p:nvPr/>
        </p:nvSpPr>
        <p:spPr>
          <a:xfrm>
            <a:off x="990586" y="2865956"/>
            <a:ext cx="4876827" cy="19009"/>
          </a:xfrm>
          <a:prstGeom prst="rect">
            <a:avLst/>
          </a:prstGeom>
          <a:solidFill>
            <a:srgbClr val="201E1D"/>
          </a:solidFill>
          <a:ln/>
        </p:spPr>
        <p:txBody>
          <a:bodyPr/>
          <a:lstStyle/>
          <a:p>
            <a:endParaRPr lang="en-US"/>
          </a:p>
        </p:txBody>
      </p:sp>
      <p:sp>
        <p:nvSpPr>
          <p:cNvPr id="8" name="Text 6"/>
          <p:cNvSpPr/>
          <p:nvPr/>
        </p:nvSpPr>
        <p:spPr>
          <a:xfrm>
            <a:off x="990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N-TUPLE EXTRACTION</a:t>
            </a:r>
            <a:endParaRPr lang="en-US" sz="1800" dirty="0"/>
          </a:p>
        </p:txBody>
      </p:sp>
      <p:sp>
        <p:nvSpPr>
          <p:cNvPr id="9" name="Text 7"/>
          <p:cNvSpPr/>
          <p:nvPr/>
        </p:nvSpPr>
        <p:spPr>
          <a:xfrm>
            <a:off x="990586" y="3658330"/>
            <a:ext cx="5364509" cy="480999"/>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2250" b="1" dirty="0">
                <a:solidFill>
                  <a:srgbClr val="201E1D"/>
                </a:solidFill>
                <a:latin typeface="Courier New" pitchFamily="34" charset="0"/>
                <a:ea typeface="Courier New" pitchFamily="34" charset="-122"/>
                <a:cs typeface="Courier New" pitchFamily="34" charset="-120"/>
              </a:rPr>
              <a:t>⟨u, r, v, C⟩</a:t>
            </a:r>
            <a:endParaRPr lang="en-US" sz="2250" dirty="0"/>
          </a:p>
        </p:txBody>
      </p:sp>
      <p:sp>
        <p:nvSpPr>
          <p:cNvPr id="10" name="Text 8"/>
          <p:cNvSpPr/>
          <p:nvPr/>
        </p:nvSpPr>
        <p:spPr>
          <a:xfrm>
            <a:off x="990586" y="4291729"/>
            <a:ext cx="5023132" cy="1902510"/>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C is the list of conditions under which the relation holds or fails. In practice these are demographics, physiological status, comorbidities, disease stage and contraindication contexts.</a:t>
            </a:r>
            <a:endParaRPr lang="en-US" sz="2025" dirty="0"/>
          </a:p>
        </p:txBody>
      </p:sp>
      <p:sp>
        <p:nvSpPr>
          <p:cNvPr id="11" name="Shape 9"/>
          <p:cNvSpPr/>
          <p:nvPr/>
        </p:nvSpPr>
        <p:spPr>
          <a:xfrm>
            <a:off x="6705586" y="2865956"/>
            <a:ext cx="4876827" cy="19009"/>
          </a:xfrm>
          <a:prstGeom prst="rect">
            <a:avLst/>
          </a:prstGeom>
          <a:solidFill>
            <a:srgbClr val="201E1D"/>
          </a:solidFill>
          <a:ln/>
        </p:spPr>
        <p:txBody>
          <a:bodyPr/>
          <a:lstStyle/>
          <a:p>
            <a:endParaRPr lang="en-US"/>
          </a:p>
        </p:txBody>
      </p:sp>
      <p:sp>
        <p:nvSpPr>
          <p:cNvPr id="12" name="Text 10"/>
          <p:cNvSpPr/>
          <p:nvPr/>
        </p:nvSpPr>
        <p:spPr>
          <a:xfrm>
            <a:off x="6705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ENTITY NORMALIZATION</a:t>
            </a:r>
            <a:endParaRPr lang="en-US" sz="1800" dirty="0"/>
          </a:p>
        </p:txBody>
      </p:sp>
      <p:sp>
        <p:nvSpPr>
          <p:cNvPr id="13" name="Text 11"/>
          <p:cNvSpPr/>
          <p:nvPr/>
        </p:nvSpPr>
        <p:spPr>
          <a:xfrm>
            <a:off x="6705586" y="3658330"/>
            <a:ext cx="5364509" cy="480999"/>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2250" b="1" dirty="0">
                <a:solidFill>
                  <a:srgbClr val="201E1D"/>
                </a:solidFill>
                <a:latin typeface="Courier New" pitchFamily="34" charset="0"/>
                <a:ea typeface="Courier New" pitchFamily="34" charset="-122"/>
                <a:cs typeface="Courier New" pitchFamily="34" charset="-120"/>
              </a:rPr>
              <a:t>UMLS Metathesaurus</a:t>
            </a:r>
            <a:endParaRPr lang="en-US" sz="2250" dirty="0"/>
          </a:p>
        </p:txBody>
      </p:sp>
      <p:sp>
        <p:nvSpPr>
          <p:cNvPr id="14" name="Text 12"/>
          <p:cNvSpPr/>
          <p:nvPr/>
        </p:nvSpPr>
        <p:spPr>
          <a:xfrm>
            <a:off x="6705586" y="4291729"/>
            <a:ext cx="5023132" cy="1529628"/>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Surface forms collapse onto canonical concepts — </a:t>
            </a:r>
            <a:r>
              <a:rPr lang="en-US" sz="2025" i="1" dirty="0">
                <a:solidFill>
                  <a:srgbClr val="201E1D">
                    <a:alpha val="72000"/>
                  </a:srgbClr>
                </a:solidFill>
                <a:latin typeface="Arial" pitchFamily="34" charset="0"/>
                <a:ea typeface="Arial" pitchFamily="34" charset="-122"/>
                <a:cs typeface="Arial" pitchFamily="34" charset="-120"/>
              </a:rPr>
              <a:t>heart attack </a:t>
            </a:r>
            <a:r>
              <a:rPr lang="en-US" sz="2025" dirty="0">
                <a:solidFill>
                  <a:srgbClr val="201E1D">
                    <a:alpha val="72000"/>
                  </a:srgbClr>
                </a:solidFill>
                <a:latin typeface="Arial" pitchFamily="34" charset="0"/>
                <a:ea typeface="Arial" pitchFamily="34" charset="-122"/>
                <a:cs typeface="Arial" pitchFamily="34" charset="-120"/>
              </a:rPr>
              <a:t>and </a:t>
            </a:r>
            <a:r>
              <a:rPr lang="en-US" sz="2025" i="1" dirty="0">
                <a:solidFill>
                  <a:srgbClr val="201E1D">
                    <a:alpha val="72000"/>
                  </a:srgbClr>
                </a:solidFill>
                <a:latin typeface="Arial" pitchFamily="34" charset="0"/>
                <a:ea typeface="Arial" pitchFamily="34" charset="-122"/>
                <a:cs typeface="Arial" pitchFamily="34" charset="-120"/>
              </a:rPr>
              <a:t>myocardial infarction </a:t>
            </a:r>
            <a:r>
              <a:rPr lang="en-US" sz="2025" dirty="0">
                <a:solidFill>
                  <a:srgbClr val="201E1D">
                    <a:alpha val="72000"/>
                  </a:srgbClr>
                </a:solidFill>
                <a:latin typeface="Arial" pitchFamily="34" charset="0"/>
                <a:ea typeface="Arial" pitchFamily="34" charset="-122"/>
                <a:cs typeface="Arial" pitchFamily="34" charset="-120"/>
              </a:rPr>
              <a:t>become one node, so conditions accumulate on the same edge.</a:t>
            </a:r>
            <a:endParaRPr lang="en-US" sz="2025" dirty="0"/>
          </a:p>
        </p:txBody>
      </p:sp>
      <p:sp>
        <p:nvSpPr>
          <p:cNvPr id="15" name="Shape 13"/>
          <p:cNvSpPr/>
          <p:nvPr/>
        </p:nvSpPr>
        <p:spPr>
          <a:xfrm>
            <a:off x="12420586" y="2865956"/>
            <a:ext cx="4876827" cy="19009"/>
          </a:xfrm>
          <a:prstGeom prst="rect">
            <a:avLst/>
          </a:prstGeom>
          <a:solidFill>
            <a:srgbClr val="201E1D"/>
          </a:solidFill>
          <a:ln/>
        </p:spPr>
        <p:txBody>
          <a:bodyPr/>
          <a:lstStyle/>
          <a:p>
            <a:endParaRPr lang="en-US"/>
          </a:p>
        </p:txBody>
      </p:sp>
      <p:sp>
        <p:nvSpPr>
          <p:cNvPr id="16" name="Text 14"/>
          <p:cNvSpPr/>
          <p:nvPr/>
        </p:nvSpPr>
        <p:spPr>
          <a:xfrm>
            <a:off x="12420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GRAPH CONSTRUCTION</a:t>
            </a:r>
            <a:endParaRPr lang="en-US" sz="1800" dirty="0"/>
          </a:p>
        </p:txBody>
      </p:sp>
      <p:sp>
        <p:nvSpPr>
          <p:cNvPr id="17" name="Text 15"/>
          <p:cNvSpPr/>
          <p:nvPr/>
        </p:nvSpPr>
        <p:spPr>
          <a:xfrm>
            <a:off x="12420586" y="3658330"/>
            <a:ext cx="5364509" cy="480999"/>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2250" b="1" dirty="0">
                <a:solidFill>
                  <a:srgbClr val="201E1D"/>
                </a:solidFill>
                <a:latin typeface="Courier New" pitchFamily="34" charset="0"/>
                <a:ea typeface="Courier New" pitchFamily="34" charset="-122"/>
                <a:cs typeface="Courier New" pitchFamily="34" charset="-120"/>
              </a:rPr>
              <a:t>G = (V, E)</a:t>
            </a:r>
            <a:endParaRPr lang="en-US" sz="2250" dirty="0"/>
          </a:p>
        </p:txBody>
      </p:sp>
      <p:sp>
        <p:nvSpPr>
          <p:cNvPr id="18" name="Text 16"/>
          <p:cNvSpPr/>
          <p:nvPr/>
        </p:nvSpPr>
        <p:spPr>
          <a:xfrm>
            <a:off x="12420586" y="4291729"/>
            <a:ext cx="5023132" cy="1902510"/>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Every edge carries its conditions C and its source snippets S. Parallel edges between the same pair are allowed, so one drug can treat one disease under several distinct conditions.</a:t>
            </a:r>
            <a:endParaRPr lang="en-US" sz="2025" dirty="0"/>
          </a:p>
        </p:txBody>
      </p:sp>
      <p:sp>
        <p:nvSpPr>
          <p:cNvPr id="19" name="Shape 17"/>
          <p:cNvSpPr/>
          <p:nvPr/>
        </p:nvSpPr>
        <p:spPr>
          <a:xfrm>
            <a:off x="990586" y="7294472"/>
            <a:ext cx="16306827" cy="1914403"/>
          </a:xfrm>
          <a:prstGeom prst="rect">
            <a:avLst/>
          </a:prstGeom>
          <a:solidFill>
            <a:srgbClr val="EAE9E9"/>
          </a:solidFill>
          <a:ln/>
        </p:spPr>
        <p:txBody>
          <a:bodyPr/>
          <a:lstStyle/>
          <a:p>
            <a:endParaRPr lang="en-US"/>
          </a:p>
        </p:txBody>
      </p:sp>
      <p:sp>
        <p:nvSpPr>
          <p:cNvPr id="20" name="Shape 18"/>
          <p:cNvSpPr/>
          <p:nvPr/>
        </p:nvSpPr>
        <p:spPr>
          <a:xfrm>
            <a:off x="990586" y="7294472"/>
            <a:ext cx="16306827" cy="19009"/>
          </a:xfrm>
          <a:prstGeom prst="rect">
            <a:avLst/>
          </a:prstGeom>
          <a:solidFill>
            <a:srgbClr val="201E1D"/>
          </a:solidFill>
          <a:ln/>
        </p:spPr>
        <p:txBody>
          <a:bodyPr/>
          <a:lstStyle/>
          <a:p>
            <a:endParaRPr lang="en-US"/>
          </a:p>
        </p:txBody>
      </p:sp>
      <p:sp>
        <p:nvSpPr>
          <p:cNvPr id="21" name="Text 19"/>
          <p:cNvSpPr/>
          <p:nvPr/>
        </p:nvSpPr>
        <p:spPr>
          <a:xfrm>
            <a:off x="1371586" y="7542068"/>
            <a:ext cx="170993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EXTRACTED TUPLES</a:t>
            </a:r>
            <a:endParaRPr lang="en-US" sz="1800" dirty="0"/>
          </a:p>
        </p:txBody>
      </p:sp>
      <p:sp>
        <p:nvSpPr>
          <p:cNvPr id="22" name="Text 20"/>
          <p:cNvSpPr/>
          <p:nvPr/>
        </p:nvSpPr>
        <p:spPr>
          <a:xfrm>
            <a:off x="1371586" y="8048692"/>
            <a:ext cx="16011172" cy="912533"/>
          </a:xfrm>
          <a:prstGeom prst="rect">
            <a:avLst/>
          </a:prstGeom>
          <a:noFill/>
          <a:ln/>
        </p:spPr>
        <p:txBody>
          <a:bodyPr wrap="square" lIns="25400" tIns="25400" rIns="25400" bIns="25400" rtlCol="0" anchor="t">
            <a:normAutofit lnSpcReduction="10000"/>
          </a:bodyPr>
          <a:lstStyle/>
          <a:p>
            <a:pPr marL="0" indent="0" algn="l">
              <a:lnSpc>
                <a:spcPct val="150716"/>
              </a:lnSpc>
              <a:buNone/>
            </a:pPr>
            <a:r>
              <a:rPr lang="en-US" sz="2025" dirty="0">
                <a:solidFill>
                  <a:srgbClr val="201E1D"/>
                </a:solidFill>
                <a:latin typeface="Courier New" pitchFamily="34" charset="0"/>
                <a:ea typeface="Courier New" pitchFamily="34" charset="-122"/>
                <a:cs typeface="Courier New" pitchFamily="34" charset="-120"/>
              </a:rPr>
              <a:t>⟨metformin, treats, type_2_diabetes, </a:t>
            </a:r>
            <a:r>
              <a:rPr lang="en-US" sz="2025" b="1" dirty="0">
                <a:solidFill>
                  <a:srgbClr val="3C5F82"/>
                </a:solidFill>
                <a:latin typeface="Courier New" pitchFamily="34" charset="0"/>
                <a:ea typeface="Courier New" pitchFamily="34" charset="-122"/>
                <a:cs typeface="Courier New" pitchFamily="34" charset="-120"/>
              </a:rPr>
              <a:t>[¬severe_renal_impairment] </a:t>
            </a:r>
            <a:r>
              <a:rPr lang="en-US" sz="2025" dirty="0">
                <a:solidFill>
                  <a:srgbClr val="201E1D"/>
                </a:solidFill>
                <a:latin typeface="Courier New" pitchFamily="34" charset="0"/>
                <a:ea typeface="Courier New" pitchFamily="34" charset="-122"/>
                <a:cs typeface="Courier New" pitchFamily="34" charset="-120"/>
              </a:rPr>
              <a:t>⟩ ⟨misoprostol, contraindicated_in, wanted_pregnancies, </a:t>
            </a:r>
            <a:r>
              <a:rPr lang="en-US" sz="2025" b="1" dirty="0">
                <a:solidFill>
                  <a:srgbClr val="3C5F82"/>
                </a:solidFill>
                <a:latin typeface="Courier New" pitchFamily="34" charset="0"/>
                <a:ea typeface="Courier New" pitchFamily="34" charset="-122"/>
                <a:cs typeface="Courier New" pitchFamily="34" charset="-120"/>
              </a:rPr>
              <a:t>[pregnant_women]</a:t>
            </a:r>
            <a:r>
              <a:rPr lang="en-US" sz="2025" dirty="0">
                <a:solidFill>
                  <a:srgbClr val="201E1D"/>
                </a:solidFill>
                <a:latin typeface="Courier New" pitchFamily="34" charset="0"/>
                <a:ea typeface="Courier New" pitchFamily="34" charset="-122"/>
                <a:cs typeface="Courier New" pitchFamily="34" charset="-120"/>
              </a:rPr>
              <a:t>⟩</a:t>
            </a:r>
            <a:endParaRPr lang="en-US" sz="2025" dirty="0"/>
          </a:p>
        </p:txBody>
      </p:sp>
      <p:sp>
        <p:nvSpPr>
          <p:cNvPr id="23" name="Text 21"/>
          <p:cNvSpPr/>
          <p:nvPr/>
        </p:nvSpPr>
        <p:spPr>
          <a:xfrm>
            <a:off x="16334224" y="9399375"/>
            <a:ext cx="103938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08 / 16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Query Processing</a:t>
            </a:r>
            <a:endParaRPr lang="en-US" sz="4650" dirty="0"/>
          </a:p>
        </p:txBody>
      </p:sp>
      <p:sp>
        <p:nvSpPr>
          <p:cNvPr id="7" name="Shape 5"/>
          <p:cNvSpPr/>
          <p:nvPr/>
        </p:nvSpPr>
        <p:spPr>
          <a:xfrm>
            <a:off x="990586" y="2865956"/>
            <a:ext cx="7696240" cy="19009"/>
          </a:xfrm>
          <a:prstGeom prst="rect">
            <a:avLst/>
          </a:prstGeom>
          <a:solidFill>
            <a:srgbClr val="201E1D"/>
          </a:solidFill>
          <a:ln/>
        </p:spPr>
        <p:txBody>
          <a:bodyPr/>
          <a:lstStyle/>
          <a:p>
            <a:endParaRPr lang="en-US"/>
          </a:p>
        </p:txBody>
      </p:sp>
      <p:sp>
        <p:nvSpPr>
          <p:cNvPr id="8" name="Text 6"/>
          <p:cNvSpPr/>
          <p:nvPr/>
        </p:nvSpPr>
        <p:spPr>
          <a:xfrm>
            <a:off x="990586" y="3113552"/>
            <a:ext cx="846586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QUERY PARSING</a:t>
            </a:r>
            <a:endParaRPr lang="en-US" sz="1800" dirty="0"/>
          </a:p>
        </p:txBody>
      </p:sp>
      <p:sp>
        <p:nvSpPr>
          <p:cNvPr id="9" name="Text 7"/>
          <p:cNvSpPr/>
          <p:nvPr/>
        </p:nvSpPr>
        <p:spPr>
          <a:xfrm>
            <a:off x="990586" y="3658330"/>
            <a:ext cx="8465864" cy="569552"/>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2700" b="1" dirty="0">
                <a:solidFill>
                  <a:srgbClr val="201E1D"/>
                </a:solidFill>
                <a:latin typeface="Courier New" pitchFamily="34" charset="0"/>
                <a:ea typeface="Courier New" pitchFamily="34" charset="-122"/>
                <a:cs typeface="Courier New" pitchFamily="34" charset="-120"/>
              </a:rPr>
              <a:t>parse(q) = {K, C, N}</a:t>
            </a:r>
            <a:endParaRPr lang="en-US" sz="2700" dirty="0"/>
          </a:p>
        </p:txBody>
      </p:sp>
      <p:sp>
        <p:nvSpPr>
          <p:cNvPr id="10" name="Text 8"/>
          <p:cNvSpPr/>
          <p:nvPr/>
        </p:nvSpPr>
        <p:spPr>
          <a:xfrm>
            <a:off x="990586" y="4437378"/>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K </a:t>
            </a:r>
            <a:r>
              <a:rPr lang="en-US" sz="2100" dirty="0">
                <a:solidFill>
                  <a:srgbClr val="201E1D"/>
                </a:solidFill>
                <a:latin typeface="Arial" pitchFamily="34" charset="0"/>
                <a:ea typeface="Arial" pitchFamily="34" charset="-122"/>
                <a:cs typeface="Arial" pitchFamily="34" charset="-120"/>
              </a:rPr>
              <a:t>entity keywords that seed traversal </a:t>
            </a:r>
            <a:r>
              <a:rPr lang="en-US" sz="2100" dirty="0">
                <a:solidFill>
                  <a:srgbClr val="201E1D">
                    <a:alpha val="55000"/>
                  </a:srgbClr>
                </a:solidFill>
                <a:latin typeface="Arial" pitchFamily="34" charset="0"/>
                <a:ea typeface="Arial" pitchFamily="34" charset="-122"/>
                <a:cs typeface="Arial" pitchFamily="34" charset="-120"/>
              </a:rPr>
              <a:t>— drug, hypertension</a:t>
            </a:r>
            <a:endParaRPr lang="en-US" sz="2100" dirty="0"/>
          </a:p>
        </p:txBody>
      </p:sp>
      <p:sp>
        <p:nvSpPr>
          <p:cNvPr id="11" name="Text 9"/>
          <p:cNvSpPr/>
          <p:nvPr/>
        </p:nvSpPr>
        <p:spPr>
          <a:xfrm>
            <a:off x="990586" y="4967342"/>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C </a:t>
            </a:r>
            <a:r>
              <a:rPr lang="en-US" sz="2100" dirty="0">
                <a:solidFill>
                  <a:srgbClr val="201E1D"/>
                </a:solidFill>
                <a:latin typeface="Arial" pitchFamily="34" charset="0"/>
                <a:ea typeface="Arial" pitchFamily="34" charset="-122"/>
                <a:cs typeface="Arial" pitchFamily="34" charset="-120"/>
              </a:rPr>
              <a:t>required and excluded conditions </a:t>
            </a:r>
            <a:r>
              <a:rPr lang="en-US" sz="2100" dirty="0">
                <a:solidFill>
                  <a:srgbClr val="201E1D">
                    <a:alpha val="55000"/>
                  </a:srgbClr>
                </a:solidFill>
                <a:latin typeface="Arial" pitchFamily="34" charset="0"/>
                <a:ea typeface="Arial" pitchFamily="34" charset="-122"/>
                <a:cs typeface="Arial" pitchFamily="34" charset="-120"/>
              </a:rPr>
              <a:t>— in pregnancy</a:t>
            </a:r>
            <a:endParaRPr lang="en-US" sz="2100" dirty="0"/>
          </a:p>
        </p:txBody>
      </p:sp>
      <p:sp>
        <p:nvSpPr>
          <p:cNvPr id="12" name="Text 10"/>
          <p:cNvSpPr/>
          <p:nvPr/>
        </p:nvSpPr>
        <p:spPr>
          <a:xfrm>
            <a:off x="990586" y="5497305"/>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N </a:t>
            </a:r>
            <a:r>
              <a:rPr lang="en-US" sz="2100" dirty="0">
                <a:solidFill>
                  <a:srgbClr val="201E1D"/>
                </a:solidFill>
                <a:latin typeface="Arial" pitchFamily="34" charset="0"/>
                <a:ea typeface="Arial" pitchFamily="34" charset="-122"/>
                <a:cs typeface="Arial" pitchFamily="34" charset="-120"/>
              </a:rPr>
              <a:t>negated entities to exclude </a:t>
            </a:r>
            <a:r>
              <a:rPr lang="en-US" sz="2100" dirty="0">
                <a:solidFill>
                  <a:srgbClr val="201E1D">
                    <a:alpha val="55000"/>
                  </a:srgbClr>
                </a:solidFill>
                <a:latin typeface="Arial" pitchFamily="34" charset="0"/>
                <a:ea typeface="Arial" pitchFamily="34" charset="-122"/>
                <a:cs typeface="Arial" pitchFamily="34" charset="-120"/>
              </a:rPr>
              <a:t>— ACE inhibitors</a:t>
            </a:r>
            <a:endParaRPr lang="en-US" sz="2100" dirty="0"/>
          </a:p>
        </p:txBody>
      </p:sp>
      <p:sp>
        <p:nvSpPr>
          <p:cNvPr id="13" name="Text 11"/>
          <p:cNvSpPr/>
          <p:nvPr/>
        </p:nvSpPr>
        <p:spPr>
          <a:xfrm>
            <a:off x="990586" y="6122518"/>
            <a:ext cx="8465864" cy="384802"/>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201E1D">
                    <a:alpha val="60000"/>
                  </a:srgbClr>
                </a:solidFill>
                <a:latin typeface="Arial" pitchFamily="34" charset="0"/>
                <a:ea typeface="Arial" pitchFamily="34" charset="-122"/>
                <a:cs typeface="Arial" pitchFamily="34" charset="-120"/>
              </a:rPr>
              <a:t>Parser: Qwen2.5-14B-Instruct.</a:t>
            </a:r>
            <a:endParaRPr lang="en-US" sz="1950" dirty="0"/>
          </a:p>
        </p:txBody>
      </p:sp>
      <p:sp>
        <p:nvSpPr>
          <p:cNvPr id="14" name="Shape 12"/>
          <p:cNvSpPr/>
          <p:nvPr/>
        </p:nvSpPr>
        <p:spPr>
          <a:xfrm>
            <a:off x="9601173" y="2865956"/>
            <a:ext cx="7696240" cy="19009"/>
          </a:xfrm>
          <a:prstGeom prst="rect">
            <a:avLst/>
          </a:prstGeom>
          <a:solidFill>
            <a:srgbClr val="201E1D"/>
          </a:solidFill>
          <a:ln/>
        </p:spPr>
        <p:txBody>
          <a:bodyPr/>
          <a:lstStyle/>
          <a:p>
            <a:endParaRPr lang="en-US"/>
          </a:p>
        </p:txBody>
      </p:sp>
      <p:sp>
        <p:nvSpPr>
          <p:cNvPr id="15" name="Text 13"/>
          <p:cNvSpPr/>
          <p:nvPr/>
        </p:nvSpPr>
        <p:spPr>
          <a:xfrm>
            <a:off x="9601173" y="3113552"/>
            <a:ext cx="846586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CONDITION EVALUATION</a:t>
            </a:r>
            <a:endParaRPr lang="en-US" sz="1800" dirty="0"/>
          </a:p>
        </p:txBody>
      </p:sp>
      <p:sp>
        <p:nvSpPr>
          <p:cNvPr id="16" name="Text 14"/>
          <p:cNvSpPr/>
          <p:nvPr/>
        </p:nvSpPr>
        <p:spPr>
          <a:xfrm>
            <a:off x="9601173" y="3658330"/>
            <a:ext cx="7927127" cy="590794"/>
          </a:xfrm>
          <a:prstGeom prst="rect">
            <a:avLst/>
          </a:prstGeom>
          <a:noFill/>
          <a:ln/>
        </p:spPr>
        <p:txBody>
          <a:bodyPr wrap="square" lIns="25400" tIns="25400" rIns="25400" bIns="25400" rtlCol="0" anchor="t">
            <a:normAutofit/>
          </a:bodyPr>
          <a:lstStyle/>
          <a:p>
            <a:pPr marL="0" indent="0" algn="l">
              <a:lnSpc>
                <a:spcPct val="136400"/>
              </a:lnSpc>
              <a:buNone/>
            </a:pPr>
            <a:r>
              <a:rPr lang="en-US" sz="2700" b="1" dirty="0">
                <a:solidFill>
                  <a:srgbClr val="201E1D"/>
                </a:solidFill>
                <a:latin typeface="Courier New" pitchFamily="34" charset="0"/>
                <a:ea typeface="Courier New" pitchFamily="34" charset="-122"/>
                <a:cs typeface="Courier New" pitchFamily="34" charset="-120"/>
              </a:rPr>
              <a:t>eval: C</a:t>
            </a:r>
            <a:r>
              <a:rPr lang="en-US" sz="1800" b="1" baseline="-40000" dirty="0">
                <a:solidFill>
                  <a:srgbClr val="201E1D"/>
                </a:solidFill>
                <a:latin typeface="Courier New" pitchFamily="34" charset="0"/>
                <a:ea typeface="Courier New" pitchFamily="34" charset="-122"/>
                <a:cs typeface="Courier New" pitchFamily="34" charset="-120"/>
              </a:rPr>
              <a:t>G </a:t>
            </a:r>
            <a:r>
              <a:rPr lang="en-US" sz="2700" b="1" dirty="0">
                <a:solidFill>
                  <a:srgbClr val="201E1D"/>
                </a:solidFill>
                <a:latin typeface="Courier New" pitchFamily="34" charset="0"/>
                <a:ea typeface="Courier New" pitchFamily="34" charset="-122"/>
                <a:cs typeface="Courier New" pitchFamily="34" charset="-120"/>
              </a:rPr>
              <a:t>× q → {T, F, ∅}</a:t>
            </a:r>
            <a:endParaRPr lang="en-US" sz="2700" dirty="0"/>
          </a:p>
        </p:txBody>
      </p:sp>
      <p:sp>
        <p:nvSpPr>
          <p:cNvPr id="17" name="Text 15"/>
          <p:cNvSpPr/>
          <p:nvPr/>
        </p:nvSpPr>
        <p:spPr>
          <a:xfrm>
            <a:off x="9601173" y="4458620"/>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true </a:t>
            </a:r>
            <a:r>
              <a:rPr lang="en-US" sz="2100" dirty="0">
                <a:solidFill>
                  <a:srgbClr val="201E1D"/>
                </a:solidFill>
                <a:latin typeface="Arial" pitchFamily="34" charset="0"/>
                <a:ea typeface="Arial" pitchFamily="34" charset="-122"/>
                <a:cs typeface="Arial" pitchFamily="34" charset="-120"/>
              </a:rPr>
              <a:t>the query satisfies the condition</a:t>
            </a:r>
            <a:endParaRPr lang="en-US" sz="2100" dirty="0"/>
          </a:p>
        </p:txBody>
      </p:sp>
      <p:sp>
        <p:nvSpPr>
          <p:cNvPr id="18" name="Text 16"/>
          <p:cNvSpPr/>
          <p:nvPr/>
        </p:nvSpPr>
        <p:spPr>
          <a:xfrm>
            <a:off x="9601173" y="4988583"/>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false </a:t>
            </a:r>
            <a:r>
              <a:rPr lang="en-US" sz="2100" dirty="0">
                <a:solidFill>
                  <a:srgbClr val="201E1D"/>
                </a:solidFill>
                <a:latin typeface="Arial" pitchFamily="34" charset="0"/>
                <a:ea typeface="Arial" pitchFamily="34" charset="-122"/>
                <a:cs typeface="Arial" pitchFamily="34" charset="-120"/>
              </a:rPr>
              <a:t>the query violates it — the only blocking verdict</a:t>
            </a:r>
            <a:endParaRPr lang="en-US" sz="2100" dirty="0"/>
          </a:p>
        </p:txBody>
      </p:sp>
      <p:sp>
        <p:nvSpPr>
          <p:cNvPr id="19" name="Text 17"/>
          <p:cNvSpPr/>
          <p:nvPr/>
        </p:nvSpPr>
        <p:spPr>
          <a:xfrm>
            <a:off x="9601173" y="5518547"/>
            <a:ext cx="8465864" cy="415718"/>
          </a:xfrm>
          <a:prstGeom prst="rect">
            <a:avLst/>
          </a:prstGeom>
          <a:noFill/>
          <a:ln/>
        </p:spPr>
        <p:txBody>
          <a:bodyPr wrap="square" lIns="25400" tIns="25400" rIns="25400" bIns="25400" rtlCol="0" anchor="t">
            <a:normAutofit lnSpcReduction="10000"/>
          </a:bodyPr>
          <a:lstStyle/>
          <a:p>
            <a:pPr marL="0" indent="0" algn="l">
              <a:lnSpc>
                <a:spcPct val="121465"/>
              </a:lnSpc>
              <a:buNone/>
            </a:pPr>
            <a:r>
              <a:rPr lang="en-US" sz="2100" b="1" dirty="0">
                <a:solidFill>
                  <a:srgbClr val="3C5F82"/>
                </a:solidFill>
                <a:latin typeface="Courier New" pitchFamily="34" charset="0"/>
                <a:ea typeface="Courier New" pitchFamily="34" charset="-122"/>
                <a:cs typeface="Courier New" pitchFamily="34" charset="-120"/>
              </a:rPr>
              <a:t>null </a:t>
            </a:r>
            <a:r>
              <a:rPr lang="en-US" sz="2100" dirty="0">
                <a:solidFill>
                  <a:srgbClr val="201E1D"/>
                </a:solidFill>
                <a:latin typeface="Arial" pitchFamily="34" charset="0"/>
                <a:ea typeface="Arial" pitchFamily="34" charset="-122"/>
                <a:cs typeface="Arial" pitchFamily="34" charset="-120"/>
              </a:rPr>
              <a:t>unknown, and therefore not blocking</a:t>
            </a:r>
            <a:endParaRPr lang="en-US" sz="2100" dirty="0"/>
          </a:p>
        </p:txBody>
      </p:sp>
      <p:sp>
        <p:nvSpPr>
          <p:cNvPr id="20" name="Text 18"/>
          <p:cNvSpPr/>
          <p:nvPr/>
        </p:nvSpPr>
        <p:spPr>
          <a:xfrm>
            <a:off x="9601173" y="6143760"/>
            <a:ext cx="7927127" cy="731504"/>
          </a:xfrm>
          <a:prstGeom prst="rect">
            <a:avLst/>
          </a:prstGeom>
          <a:noFill/>
          <a:ln/>
        </p:spPr>
        <p:txBody>
          <a:bodyPr wrap="square" lIns="25400" tIns="25400" rIns="25400" bIns="25400" rtlCol="0" anchor="t">
            <a:normAutofit lnSpcReduction="10000"/>
          </a:bodyPr>
          <a:lstStyle/>
          <a:p>
            <a:pPr marL="0" indent="0" algn="l">
              <a:lnSpc>
                <a:spcPct val="121333"/>
              </a:lnSpc>
              <a:buNone/>
            </a:pPr>
            <a:r>
              <a:rPr lang="en-US" sz="1950" dirty="0">
                <a:solidFill>
                  <a:srgbClr val="201E1D">
                    <a:alpha val="60000"/>
                  </a:srgbClr>
                </a:solidFill>
                <a:latin typeface="Arial" pitchFamily="34" charset="0"/>
                <a:ea typeface="Arial" pitchFamily="34" charset="-122"/>
                <a:cs typeface="Arial" pitchFamily="34" charset="-120"/>
              </a:rPr>
              <a:t>A single batched pass builds the lookup table L; every later edge test is O(1).</a:t>
            </a:r>
            <a:endParaRPr lang="en-US" sz="1950" dirty="0"/>
          </a:p>
        </p:txBody>
      </p:sp>
      <p:sp>
        <p:nvSpPr>
          <p:cNvPr id="21" name="Shape 19"/>
          <p:cNvSpPr/>
          <p:nvPr/>
        </p:nvSpPr>
        <p:spPr>
          <a:xfrm>
            <a:off x="990586" y="7783102"/>
            <a:ext cx="16306827" cy="1425773"/>
          </a:xfrm>
          <a:prstGeom prst="rect">
            <a:avLst/>
          </a:prstGeom>
          <a:solidFill>
            <a:srgbClr val="EAE9E9"/>
          </a:solidFill>
          <a:ln/>
        </p:spPr>
        <p:txBody>
          <a:bodyPr/>
          <a:lstStyle/>
          <a:p>
            <a:endParaRPr lang="en-US"/>
          </a:p>
        </p:txBody>
      </p:sp>
      <p:sp>
        <p:nvSpPr>
          <p:cNvPr id="22" name="Shape 20"/>
          <p:cNvSpPr/>
          <p:nvPr/>
        </p:nvSpPr>
        <p:spPr>
          <a:xfrm>
            <a:off x="990586" y="7783102"/>
            <a:ext cx="16306827" cy="19009"/>
          </a:xfrm>
          <a:prstGeom prst="rect">
            <a:avLst/>
          </a:prstGeom>
          <a:solidFill>
            <a:srgbClr val="201E1D"/>
          </a:solidFill>
          <a:ln/>
        </p:spPr>
        <p:txBody>
          <a:bodyPr/>
          <a:lstStyle/>
          <a:p>
            <a:endParaRPr lang="en-US"/>
          </a:p>
        </p:txBody>
      </p:sp>
      <p:sp>
        <p:nvSpPr>
          <p:cNvPr id="23" name="Text 21"/>
          <p:cNvSpPr/>
          <p:nvPr/>
        </p:nvSpPr>
        <p:spPr>
          <a:xfrm>
            <a:off x="1371586" y="8030698"/>
            <a:ext cx="170993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WORKED EXAMPLE — “WHAT ANTIBIOTIC FOR A 5-YEAR-OLD BOY WITH PNEUMONIA?”</a:t>
            </a:r>
            <a:endParaRPr lang="en-US" sz="1800" dirty="0"/>
          </a:p>
        </p:txBody>
      </p:sp>
      <p:sp>
        <p:nvSpPr>
          <p:cNvPr id="24" name="Text 22"/>
          <p:cNvSpPr/>
          <p:nvPr/>
        </p:nvSpPr>
        <p:spPr>
          <a:xfrm>
            <a:off x="1371586" y="8537322"/>
            <a:ext cx="17099309" cy="423903"/>
          </a:xfrm>
          <a:prstGeom prst="rect">
            <a:avLst/>
          </a:prstGeom>
          <a:noFill/>
          <a:ln/>
        </p:spPr>
        <p:txBody>
          <a:bodyPr wrap="square" lIns="25400" tIns="25400" rIns="25400" bIns="25400" rtlCol="0" anchor="t">
            <a:normAutofit lnSpcReduction="10000"/>
          </a:bodyPr>
          <a:lstStyle/>
          <a:p>
            <a:pPr marL="0" indent="0" algn="l">
              <a:lnSpc>
                <a:spcPct val="132985"/>
              </a:lnSpc>
              <a:buNone/>
            </a:pPr>
            <a:r>
              <a:rPr lang="en-US" sz="2025" dirty="0">
                <a:solidFill>
                  <a:srgbClr val="201E1D"/>
                </a:solidFill>
                <a:latin typeface="Courier New" pitchFamily="34" charset="0"/>
                <a:ea typeface="Courier New" pitchFamily="34" charset="-122"/>
                <a:cs typeface="Courier New" pitchFamily="34" charset="-120"/>
              </a:rPr>
              <a:t>“in children” → </a:t>
            </a:r>
            <a:r>
              <a:rPr lang="en-US" sz="2025" b="1" dirty="0">
                <a:solidFill>
                  <a:srgbClr val="3C5F82"/>
                </a:solidFill>
                <a:latin typeface="Courier New" pitchFamily="34" charset="0"/>
                <a:ea typeface="Courier New" pitchFamily="34" charset="-122"/>
                <a:cs typeface="Courier New" pitchFamily="34" charset="-120"/>
              </a:rPr>
              <a:t>true </a:t>
            </a:r>
            <a:r>
              <a:rPr lang="en-US" sz="2025" dirty="0">
                <a:solidFill>
                  <a:srgbClr val="201E1D"/>
                </a:solidFill>
                <a:latin typeface="Courier New" pitchFamily="34" charset="0"/>
                <a:ea typeface="Courier New" pitchFamily="34" charset="-122"/>
                <a:cs typeface="Courier New" pitchFamily="34" charset="-120"/>
              </a:rPr>
              <a:t>· “in adults” → </a:t>
            </a:r>
            <a:r>
              <a:rPr lang="en-US" sz="2025" b="1" dirty="0">
                <a:solidFill>
                  <a:srgbClr val="3C5F82"/>
                </a:solidFill>
                <a:latin typeface="Courier New" pitchFamily="34" charset="0"/>
                <a:ea typeface="Courier New" pitchFamily="34" charset="-122"/>
                <a:cs typeface="Courier New" pitchFamily="34" charset="-120"/>
              </a:rPr>
              <a:t>false </a:t>
            </a:r>
            <a:r>
              <a:rPr lang="en-US" sz="2025" dirty="0">
                <a:solidFill>
                  <a:srgbClr val="201E1D"/>
                </a:solidFill>
                <a:latin typeface="Courier New" pitchFamily="34" charset="0"/>
                <a:ea typeface="Courier New" pitchFamily="34" charset="-122"/>
                <a:cs typeface="Courier New" pitchFamily="34" charset="-120"/>
              </a:rPr>
              <a:t>· “renal impairment” → </a:t>
            </a:r>
            <a:r>
              <a:rPr lang="en-US" sz="2025" b="1" dirty="0">
                <a:solidFill>
                  <a:srgbClr val="3C5F82"/>
                </a:solidFill>
                <a:latin typeface="Courier New" pitchFamily="34" charset="0"/>
                <a:ea typeface="Courier New" pitchFamily="34" charset="-122"/>
                <a:cs typeface="Courier New" pitchFamily="34" charset="-120"/>
              </a:rPr>
              <a:t>null</a:t>
            </a:r>
            <a:endParaRPr lang="en-US" sz="2025" dirty="0"/>
          </a:p>
        </p:txBody>
      </p:sp>
      <p:sp>
        <p:nvSpPr>
          <p:cNvPr id="25" name="Text 23"/>
          <p:cNvSpPr/>
          <p:nvPr/>
        </p:nvSpPr>
        <p:spPr>
          <a:xfrm>
            <a:off x="16334495" y="9399375"/>
            <a:ext cx="1039118"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09 / 16</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Condition-Gated Graph Traversal</a:t>
            </a:r>
            <a:endParaRPr lang="en-US" sz="4650" dirty="0"/>
          </a:p>
        </p:txBody>
      </p:sp>
      <p:sp>
        <p:nvSpPr>
          <p:cNvPr id="7" name="Shape 5"/>
          <p:cNvSpPr/>
          <p:nvPr/>
        </p:nvSpPr>
        <p:spPr>
          <a:xfrm>
            <a:off x="990586" y="2713610"/>
            <a:ext cx="7734327" cy="19009"/>
          </a:xfrm>
          <a:prstGeom prst="rect">
            <a:avLst/>
          </a:prstGeom>
          <a:solidFill>
            <a:srgbClr val="201E1D"/>
          </a:solidFill>
          <a:ln/>
        </p:spPr>
        <p:txBody>
          <a:bodyPr/>
          <a:lstStyle/>
          <a:p>
            <a:endParaRPr lang="en-US"/>
          </a:p>
        </p:txBody>
      </p:sp>
      <p:sp>
        <p:nvSpPr>
          <p:cNvPr id="8" name="Text 6"/>
          <p:cNvSpPr/>
          <p:nvPr/>
        </p:nvSpPr>
        <p:spPr>
          <a:xfrm>
            <a:off x="990586" y="2942129"/>
            <a:ext cx="850775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EDGE GATING FUNCTION</a:t>
            </a:r>
            <a:endParaRPr lang="en-US" sz="1800" dirty="0"/>
          </a:p>
        </p:txBody>
      </p:sp>
      <p:sp>
        <p:nvSpPr>
          <p:cNvPr id="9" name="Text 7"/>
          <p:cNvSpPr/>
          <p:nvPr/>
        </p:nvSpPr>
        <p:spPr>
          <a:xfrm>
            <a:off x="990586" y="3467830"/>
            <a:ext cx="7966357" cy="649648"/>
          </a:xfrm>
          <a:prstGeom prst="rect">
            <a:avLst/>
          </a:prstGeom>
          <a:noFill/>
          <a:ln/>
        </p:spPr>
        <p:txBody>
          <a:bodyPr wrap="square" lIns="25400" tIns="25400" rIns="25400" bIns="25400" rtlCol="0" anchor="t">
            <a:normAutofit/>
          </a:bodyPr>
          <a:lstStyle/>
          <a:p>
            <a:pPr marL="0" indent="0" algn="l">
              <a:lnSpc>
                <a:spcPct val="137778"/>
              </a:lnSpc>
              <a:buNone/>
            </a:pPr>
            <a:r>
              <a:rPr lang="en-US" sz="3000" b="1" dirty="0">
                <a:solidFill>
                  <a:srgbClr val="201E1D"/>
                </a:solidFill>
                <a:latin typeface="Courier New" pitchFamily="34" charset="0"/>
                <a:ea typeface="Courier New" pitchFamily="34" charset="-122"/>
                <a:cs typeface="Courier New" pitchFamily="34" charset="-120"/>
              </a:rPr>
              <a:t>G(e, L) = ∏</a:t>
            </a:r>
            <a:r>
              <a:rPr lang="en-US" sz="1950" b="1" baseline="-40000" dirty="0">
                <a:solidFill>
                  <a:srgbClr val="201E1D"/>
                </a:solidFill>
                <a:latin typeface="Courier New" pitchFamily="34" charset="0"/>
                <a:ea typeface="Courier New" pitchFamily="34" charset="-122"/>
                <a:cs typeface="Courier New" pitchFamily="34" charset="-120"/>
              </a:rPr>
              <a:t>c ∈ C(e) </a:t>
            </a:r>
            <a:r>
              <a:rPr lang="en-US" sz="3000" b="1" dirty="0">
                <a:solidFill>
                  <a:srgbClr val="201E1D"/>
                </a:solidFill>
                <a:latin typeface="Courier New" pitchFamily="34" charset="0"/>
                <a:ea typeface="Courier New" pitchFamily="34" charset="-122"/>
                <a:cs typeface="Courier New" pitchFamily="34" charset="-120"/>
              </a:rPr>
              <a:t>1[L(c) ≠ false]</a:t>
            </a:r>
            <a:endParaRPr lang="en-US" sz="3000" dirty="0"/>
          </a:p>
        </p:txBody>
      </p:sp>
      <p:sp>
        <p:nvSpPr>
          <p:cNvPr id="10" name="Shape 8"/>
          <p:cNvSpPr/>
          <p:nvPr/>
        </p:nvSpPr>
        <p:spPr>
          <a:xfrm>
            <a:off x="9563086" y="2713610"/>
            <a:ext cx="7734327" cy="19009"/>
          </a:xfrm>
          <a:prstGeom prst="rect">
            <a:avLst/>
          </a:prstGeom>
          <a:solidFill>
            <a:srgbClr val="201E1D"/>
          </a:solidFill>
          <a:ln/>
        </p:spPr>
        <p:txBody>
          <a:bodyPr/>
          <a:lstStyle/>
          <a:p>
            <a:endParaRPr lang="en-US"/>
          </a:p>
        </p:txBody>
      </p:sp>
      <p:sp>
        <p:nvSpPr>
          <p:cNvPr id="11" name="Text 9"/>
          <p:cNvSpPr/>
          <p:nvPr/>
        </p:nvSpPr>
        <p:spPr>
          <a:xfrm>
            <a:off x="9563086" y="2942129"/>
            <a:ext cx="850775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TRAVERSAL TERMINATES WHEN</a:t>
            </a:r>
            <a:endParaRPr lang="en-US" sz="1800" dirty="0"/>
          </a:p>
        </p:txBody>
      </p:sp>
      <p:sp>
        <p:nvSpPr>
          <p:cNvPr id="12" name="Text 10"/>
          <p:cNvSpPr/>
          <p:nvPr/>
        </p:nvSpPr>
        <p:spPr>
          <a:xfrm>
            <a:off x="9563086" y="3467830"/>
            <a:ext cx="7966357" cy="832775"/>
          </a:xfrm>
          <a:prstGeom prst="rect">
            <a:avLst/>
          </a:prstGeom>
          <a:noFill/>
          <a:ln/>
        </p:spPr>
        <p:txBody>
          <a:bodyPr wrap="square" lIns="25400" tIns="25400" rIns="25400" bIns="25400" rtlCol="0" anchor="t">
            <a:normAutofit/>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Max depth d</a:t>
            </a:r>
            <a:r>
              <a:rPr lang="en-US" sz="1800" baseline="-40000" dirty="0">
                <a:solidFill>
                  <a:srgbClr val="201E1D">
                    <a:alpha val="72000"/>
                  </a:srgbClr>
                </a:solidFill>
                <a:latin typeface="Arial" pitchFamily="34" charset="0"/>
                <a:ea typeface="Arial" pitchFamily="34" charset="-122"/>
                <a:cs typeface="Arial" pitchFamily="34" charset="-120"/>
              </a:rPr>
              <a:t>max </a:t>
            </a:r>
            <a:r>
              <a:rPr lang="en-US" sz="2025" dirty="0">
                <a:solidFill>
                  <a:srgbClr val="201E1D">
                    <a:alpha val="72000"/>
                  </a:srgbClr>
                </a:solidFill>
                <a:latin typeface="Arial" pitchFamily="34" charset="0"/>
                <a:ea typeface="Arial" pitchFamily="34" charset="-122"/>
                <a:cs typeface="Arial" pitchFamily="34" charset="-120"/>
              </a:rPr>
              <a:t>is reached · no outgoing edge passes the gate · the node is a leaf.</a:t>
            </a:r>
            <a:endParaRPr lang="en-US" sz="2025" dirty="0"/>
          </a:p>
        </p:txBody>
      </p:sp>
      <p:sp>
        <p:nvSpPr>
          <p:cNvPr id="13" name="Text 11"/>
          <p:cNvSpPr/>
          <p:nvPr/>
        </p:nvSpPr>
        <p:spPr>
          <a:xfrm>
            <a:off x="990586" y="4681592"/>
            <a:ext cx="17937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WALKTHROUGH — “MEDICATION FOR HYPERTENSION WITH BILATERAL RENAL ARTERY STENOSIS”</a:t>
            </a:r>
            <a:endParaRPr lang="en-US" sz="1800" dirty="0"/>
          </a:p>
        </p:txBody>
      </p:sp>
      <p:sp>
        <p:nvSpPr>
          <p:cNvPr id="14" name="Shape 12"/>
          <p:cNvSpPr/>
          <p:nvPr/>
        </p:nvSpPr>
        <p:spPr>
          <a:xfrm>
            <a:off x="990586" y="5245379"/>
            <a:ext cx="16306827" cy="19009"/>
          </a:xfrm>
          <a:prstGeom prst="rect">
            <a:avLst/>
          </a:prstGeom>
          <a:solidFill>
            <a:srgbClr val="201E1D"/>
          </a:solidFill>
          <a:ln/>
        </p:spPr>
        <p:txBody>
          <a:bodyPr/>
          <a:lstStyle/>
          <a:p>
            <a:endParaRPr lang="en-US"/>
          </a:p>
        </p:txBody>
      </p:sp>
      <p:sp>
        <p:nvSpPr>
          <p:cNvPr id="15" name="Shape 13"/>
          <p:cNvSpPr/>
          <p:nvPr/>
        </p:nvSpPr>
        <p:spPr>
          <a:xfrm>
            <a:off x="990586" y="6333922"/>
            <a:ext cx="16306827" cy="9525"/>
          </a:xfrm>
          <a:prstGeom prst="rect">
            <a:avLst/>
          </a:prstGeom>
          <a:solidFill>
            <a:srgbClr val="201E1D">
              <a:alpha val="25000"/>
            </a:srgbClr>
          </a:solidFill>
          <a:ln/>
        </p:spPr>
        <p:txBody>
          <a:bodyPr/>
          <a:lstStyle/>
          <a:p>
            <a:endParaRPr lang="en-US"/>
          </a:p>
        </p:txBody>
      </p:sp>
      <p:sp>
        <p:nvSpPr>
          <p:cNvPr id="16" name="Text 14"/>
          <p:cNvSpPr/>
          <p:nvPr/>
        </p:nvSpPr>
        <p:spPr>
          <a:xfrm>
            <a:off x="990586" y="5599793"/>
            <a:ext cx="10980539" cy="436756"/>
          </a:xfrm>
          <a:prstGeom prst="rect">
            <a:avLst/>
          </a:prstGeom>
          <a:noFill/>
          <a:ln/>
        </p:spPr>
        <p:txBody>
          <a:bodyPr wrap="square" lIns="25400" tIns="25400" rIns="25400" bIns="25400" rtlCol="0" anchor="t">
            <a:normAutofit lnSpcReduction="10000"/>
          </a:bodyPr>
          <a:lstStyle/>
          <a:p>
            <a:pPr marL="0" indent="0" algn="l">
              <a:lnSpc>
                <a:spcPct val="137418"/>
              </a:lnSpc>
              <a:buNone/>
            </a:pPr>
            <a:r>
              <a:rPr lang="en-US" sz="2025" dirty="0">
                <a:solidFill>
                  <a:srgbClr val="201E1D">
                    <a:alpha val="62000"/>
                  </a:srgbClr>
                </a:solidFill>
                <a:latin typeface="Courier New" pitchFamily="34" charset="0"/>
                <a:ea typeface="Courier New" pitchFamily="34" charset="-122"/>
                <a:cs typeface="Courier New" pitchFamily="34" charset="-120"/>
              </a:rPr>
              <a:t>⟨hypertension, treated_by, lisinopril, [¬BRAS, ¬pregnancy]⟩</a:t>
            </a:r>
            <a:endParaRPr lang="en-US" sz="2025" dirty="0"/>
          </a:p>
        </p:txBody>
      </p:sp>
      <p:sp>
        <p:nvSpPr>
          <p:cNvPr id="17" name="Text 15"/>
          <p:cNvSpPr/>
          <p:nvPr/>
        </p:nvSpPr>
        <p:spPr>
          <a:xfrm>
            <a:off x="11277653" y="5607234"/>
            <a:ext cx="3562350"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dirty="0">
                <a:solidFill>
                  <a:srgbClr val="201E1D">
                    <a:alpha val="62000"/>
                  </a:srgbClr>
                </a:solidFill>
                <a:latin typeface="Courier New" pitchFamily="34" charset="0"/>
                <a:ea typeface="Courier New" pitchFamily="34" charset="-122"/>
                <a:cs typeface="Courier New" pitchFamily="34" charset="-120"/>
              </a:rPr>
              <a:t>L(¬BRAS) = false</a:t>
            </a:r>
            <a:endParaRPr lang="en-US" sz="1950" dirty="0"/>
          </a:p>
        </p:txBody>
      </p:sp>
      <p:sp>
        <p:nvSpPr>
          <p:cNvPr id="18" name="Shape 16"/>
          <p:cNvSpPr/>
          <p:nvPr/>
        </p:nvSpPr>
        <p:spPr>
          <a:xfrm>
            <a:off x="14820913" y="5511984"/>
            <a:ext cx="1769160" cy="574341"/>
          </a:xfrm>
          <a:prstGeom prst="rect">
            <a:avLst/>
          </a:prstGeom>
          <a:solidFill>
            <a:srgbClr val="201E1D">
              <a:alpha val="55000"/>
            </a:srgbClr>
          </a:solidFill>
          <a:ln/>
        </p:spPr>
        <p:txBody>
          <a:bodyPr/>
          <a:lstStyle/>
          <a:p>
            <a:endParaRPr lang="en-US"/>
          </a:p>
        </p:txBody>
      </p:sp>
      <p:sp>
        <p:nvSpPr>
          <p:cNvPr id="19" name="Text 17"/>
          <p:cNvSpPr/>
          <p:nvPr/>
        </p:nvSpPr>
        <p:spPr>
          <a:xfrm>
            <a:off x="14992363" y="5607234"/>
            <a:ext cx="1502460" cy="421941"/>
          </a:xfrm>
          <a:prstGeom prst="rect">
            <a:avLst/>
          </a:prstGeom>
          <a:noFill/>
          <a:ln/>
        </p:spPr>
        <p:txBody>
          <a:bodyPr wrap="square" lIns="25400" tIns="25400" rIns="25400" bIns="25400" rtlCol="0" anchor="t">
            <a:normAutofit fontScale="92500"/>
          </a:bodyPr>
          <a:lstStyle/>
          <a:p>
            <a:pPr marL="0" indent="0" algn="l">
              <a:lnSpc>
                <a:spcPct val="134333"/>
              </a:lnSpc>
              <a:buNone/>
            </a:pPr>
            <a:r>
              <a:rPr lang="en-US" sz="1950" b="1" kern="0" spc="273" dirty="0">
                <a:solidFill>
                  <a:srgbClr val="F3F2F2"/>
                </a:solidFill>
                <a:latin typeface="Arial" pitchFamily="34" charset="0"/>
                <a:ea typeface="Arial" pitchFamily="34" charset="-122"/>
                <a:cs typeface="Arial" pitchFamily="34" charset="-120"/>
              </a:rPr>
              <a:t>BLOCKED</a:t>
            </a:r>
            <a:endParaRPr lang="en-US" sz="1950" dirty="0"/>
          </a:p>
        </p:txBody>
      </p:sp>
      <p:sp>
        <p:nvSpPr>
          <p:cNvPr id="20" name="Shape 18"/>
          <p:cNvSpPr/>
          <p:nvPr/>
        </p:nvSpPr>
        <p:spPr>
          <a:xfrm>
            <a:off x="990586" y="7412114"/>
            <a:ext cx="16306827" cy="9525"/>
          </a:xfrm>
          <a:prstGeom prst="rect">
            <a:avLst/>
          </a:prstGeom>
          <a:solidFill>
            <a:srgbClr val="201E1D">
              <a:alpha val="25000"/>
            </a:srgbClr>
          </a:solidFill>
          <a:ln/>
        </p:spPr>
        <p:txBody>
          <a:bodyPr/>
          <a:lstStyle/>
          <a:p>
            <a:endParaRPr lang="en-US"/>
          </a:p>
        </p:txBody>
      </p:sp>
      <p:sp>
        <p:nvSpPr>
          <p:cNvPr id="21" name="Text 19"/>
          <p:cNvSpPr/>
          <p:nvPr/>
        </p:nvSpPr>
        <p:spPr>
          <a:xfrm>
            <a:off x="990586" y="6677985"/>
            <a:ext cx="10980539" cy="436756"/>
          </a:xfrm>
          <a:prstGeom prst="rect">
            <a:avLst/>
          </a:prstGeom>
          <a:noFill/>
          <a:ln/>
        </p:spPr>
        <p:txBody>
          <a:bodyPr wrap="square" lIns="25400" tIns="25400" rIns="25400" bIns="25400" rtlCol="0" anchor="t">
            <a:normAutofit lnSpcReduction="10000"/>
          </a:bodyPr>
          <a:lstStyle/>
          <a:p>
            <a:pPr marL="0" indent="0" algn="l">
              <a:lnSpc>
                <a:spcPct val="137418"/>
              </a:lnSpc>
              <a:buNone/>
            </a:pPr>
            <a:r>
              <a:rPr lang="en-US" sz="2025" dirty="0">
                <a:solidFill>
                  <a:srgbClr val="201E1D">
                    <a:alpha val="62000"/>
                  </a:srgbClr>
                </a:solidFill>
                <a:latin typeface="Courier New" pitchFamily="34" charset="0"/>
                <a:ea typeface="Courier New" pitchFamily="34" charset="-122"/>
                <a:cs typeface="Courier New" pitchFamily="34" charset="-120"/>
              </a:rPr>
              <a:t>⟨hypertension, treated_by, losartan, [¬BRAS]⟩</a:t>
            </a:r>
            <a:endParaRPr lang="en-US" sz="2025" dirty="0"/>
          </a:p>
        </p:txBody>
      </p:sp>
      <p:sp>
        <p:nvSpPr>
          <p:cNvPr id="22" name="Text 20"/>
          <p:cNvSpPr/>
          <p:nvPr/>
        </p:nvSpPr>
        <p:spPr>
          <a:xfrm>
            <a:off x="11277653" y="6685427"/>
            <a:ext cx="3562350" cy="421941"/>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dirty="0">
                <a:solidFill>
                  <a:srgbClr val="201E1D">
                    <a:alpha val="62000"/>
                  </a:srgbClr>
                </a:solidFill>
                <a:latin typeface="Courier New" pitchFamily="34" charset="0"/>
                <a:ea typeface="Courier New" pitchFamily="34" charset="-122"/>
                <a:cs typeface="Courier New" pitchFamily="34" charset="-120"/>
              </a:rPr>
              <a:t>L(¬BRAS) = false</a:t>
            </a:r>
            <a:endParaRPr lang="en-US" sz="1950" dirty="0"/>
          </a:p>
        </p:txBody>
      </p:sp>
      <p:sp>
        <p:nvSpPr>
          <p:cNvPr id="23" name="Shape 21"/>
          <p:cNvSpPr/>
          <p:nvPr/>
        </p:nvSpPr>
        <p:spPr>
          <a:xfrm>
            <a:off x="14820913" y="6590177"/>
            <a:ext cx="1769160" cy="574341"/>
          </a:xfrm>
          <a:prstGeom prst="rect">
            <a:avLst/>
          </a:prstGeom>
          <a:solidFill>
            <a:srgbClr val="201E1D">
              <a:alpha val="55000"/>
            </a:srgbClr>
          </a:solidFill>
          <a:ln/>
        </p:spPr>
        <p:txBody>
          <a:bodyPr/>
          <a:lstStyle/>
          <a:p>
            <a:endParaRPr lang="en-US"/>
          </a:p>
        </p:txBody>
      </p:sp>
      <p:sp>
        <p:nvSpPr>
          <p:cNvPr id="24" name="Text 22"/>
          <p:cNvSpPr/>
          <p:nvPr/>
        </p:nvSpPr>
        <p:spPr>
          <a:xfrm>
            <a:off x="14992363" y="6685427"/>
            <a:ext cx="1502460" cy="421941"/>
          </a:xfrm>
          <a:prstGeom prst="rect">
            <a:avLst/>
          </a:prstGeom>
          <a:noFill/>
          <a:ln/>
        </p:spPr>
        <p:txBody>
          <a:bodyPr wrap="square" lIns="25400" tIns="25400" rIns="25400" bIns="25400" rtlCol="0" anchor="t">
            <a:normAutofit fontScale="92500"/>
          </a:bodyPr>
          <a:lstStyle/>
          <a:p>
            <a:pPr marL="0" indent="0" algn="l">
              <a:lnSpc>
                <a:spcPct val="134333"/>
              </a:lnSpc>
              <a:buNone/>
            </a:pPr>
            <a:r>
              <a:rPr lang="en-US" sz="1950" b="1" kern="0" spc="273" dirty="0">
                <a:solidFill>
                  <a:srgbClr val="F3F2F2"/>
                </a:solidFill>
                <a:latin typeface="Arial" pitchFamily="34" charset="0"/>
                <a:ea typeface="Arial" pitchFamily="34" charset="-122"/>
                <a:cs typeface="Arial" pitchFamily="34" charset="-120"/>
              </a:rPr>
              <a:t>BLOCKED</a:t>
            </a:r>
            <a:endParaRPr lang="en-US" sz="1950" dirty="0"/>
          </a:p>
        </p:txBody>
      </p:sp>
      <p:sp>
        <p:nvSpPr>
          <p:cNvPr id="25" name="Shape 23"/>
          <p:cNvSpPr/>
          <p:nvPr/>
        </p:nvSpPr>
        <p:spPr>
          <a:xfrm>
            <a:off x="990586" y="7420773"/>
            <a:ext cx="16306827" cy="1297511"/>
          </a:xfrm>
          <a:prstGeom prst="rect">
            <a:avLst/>
          </a:prstGeom>
          <a:solidFill>
            <a:srgbClr val="E9EFF5"/>
          </a:solidFill>
          <a:ln/>
        </p:spPr>
        <p:txBody>
          <a:bodyPr/>
          <a:lstStyle/>
          <a:p>
            <a:endParaRPr lang="en-US"/>
          </a:p>
        </p:txBody>
      </p:sp>
      <p:sp>
        <p:nvSpPr>
          <p:cNvPr id="26" name="Shape 24"/>
          <p:cNvSpPr/>
          <p:nvPr/>
        </p:nvSpPr>
        <p:spPr>
          <a:xfrm>
            <a:off x="990586" y="8700966"/>
            <a:ext cx="16306827" cy="17318"/>
          </a:xfrm>
          <a:prstGeom prst="rect">
            <a:avLst/>
          </a:prstGeom>
          <a:solidFill>
            <a:srgbClr val="6B8FB5"/>
          </a:solidFill>
          <a:ln/>
        </p:spPr>
        <p:txBody>
          <a:bodyPr/>
          <a:lstStyle/>
          <a:p>
            <a:endParaRPr lang="en-US"/>
          </a:p>
        </p:txBody>
      </p:sp>
      <p:sp>
        <p:nvSpPr>
          <p:cNvPr id="27" name="Shape 25"/>
          <p:cNvSpPr/>
          <p:nvPr/>
        </p:nvSpPr>
        <p:spPr>
          <a:xfrm>
            <a:off x="990586" y="7420773"/>
            <a:ext cx="16306827" cy="17318"/>
          </a:xfrm>
          <a:prstGeom prst="rect">
            <a:avLst/>
          </a:prstGeom>
          <a:solidFill>
            <a:srgbClr val="6B8FB5"/>
          </a:solidFill>
          <a:ln/>
        </p:spPr>
        <p:txBody>
          <a:bodyPr/>
          <a:lstStyle/>
          <a:p>
            <a:endParaRPr lang="en-US"/>
          </a:p>
        </p:txBody>
      </p:sp>
      <p:sp>
        <p:nvSpPr>
          <p:cNvPr id="28" name="Text 26"/>
          <p:cNvSpPr/>
          <p:nvPr/>
        </p:nvSpPr>
        <p:spPr>
          <a:xfrm>
            <a:off x="990586" y="7870166"/>
            <a:ext cx="10645303" cy="436756"/>
          </a:xfrm>
          <a:prstGeom prst="rect">
            <a:avLst/>
          </a:prstGeom>
          <a:noFill/>
          <a:ln/>
        </p:spPr>
        <p:txBody>
          <a:bodyPr wrap="square" lIns="25400" tIns="25400" rIns="25400" bIns="25400" rtlCol="0" anchor="t">
            <a:normAutofit lnSpcReduction="10000"/>
          </a:bodyPr>
          <a:lstStyle/>
          <a:p>
            <a:pPr marL="0" indent="0" algn="l">
              <a:lnSpc>
                <a:spcPct val="137418"/>
              </a:lnSpc>
              <a:buNone/>
            </a:pPr>
            <a:r>
              <a:rPr lang="en-US" sz="2025" b="1" dirty="0">
                <a:solidFill>
                  <a:srgbClr val="201E1D"/>
                </a:solidFill>
                <a:latin typeface="Courier New" pitchFamily="34" charset="0"/>
                <a:ea typeface="Courier New" pitchFamily="34" charset="-122"/>
                <a:cs typeface="Courier New" pitchFamily="34" charset="-120"/>
              </a:rPr>
              <a:t>⟨hypertension, treated_by, amlodipine, [ ]⟩</a:t>
            </a:r>
            <a:endParaRPr lang="en-US" sz="2025" dirty="0"/>
          </a:p>
        </p:txBody>
      </p:sp>
      <p:sp>
        <p:nvSpPr>
          <p:cNvPr id="29" name="Text 27"/>
          <p:cNvSpPr/>
          <p:nvPr/>
        </p:nvSpPr>
        <p:spPr>
          <a:xfrm>
            <a:off x="10972894" y="7685687"/>
            <a:ext cx="3335655" cy="805783"/>
          </a:xfrm>
          <a:prstGeom prst="rect">
            <a:avLst/>
          </a:prstGeom>
          <a:noFill/>
          <a:ln/>
        </p:spPr>
        <p:txBody>
          <a:bodyPr wrap="square" lIns="25400" tIns="25400" rIns="25400" bIns="25400" rtlCol="0" anchor="t">
            <a:normAutofit lnSpcReduction="10000"/>
          </a:bodyPr>
          <a:lstStyle/>
          <a:p>
            <a:pPr marL="0" indent="0" algn="l">
              <a:lnSpc>
                <a:spcPct val="136400"/>
              </a:lnSpc>
              <a:buNone/>
            </a:pPr>
            <a:r>
              <a:rPr lang="en-US" sz="1950" dirty="0">
                <a:solidFill>
                  <a:srgbClr val="201E1D"/>
                </a:solidFill>
                <a:latin typeface="Courier New" pitchFamily="34" charset="0"/>
                <a:ea typeface="Courier New" pitchFamily="34" charset="-122"/>
                <a:cs typeface="Courier New" pitchFamily="34" charset="-120"/>
              </a:rPr>
              <a:t>no conditions to violate</a:t>
            </a:r>
            <a:endParaRPr lang="en-US" sz="1950" dirty="0"/>
          </a:p>
        </p:txBody>
      </p:sp>
      <p:sp>
        <p:nvSpPr>
          <p:cNvPr id="30" name="Shape 28"/>
          <p:cNvSpPr/>
          <p:nvPr/>
        </p:nvSpPr>
        <p:spPr>
          <a:xfrm>
            <a:off x="14516153" y="7782358"/>
            <a:ext cx="2150228" cy="574341"/>
          </a:xfrm>
          <a:prstGeom prst="rect">
            <a:avLst/>
          </a:prstGeom>
          <a:solidFill>
            <a:srgbClr val="3C5F82"/>
          </a:solidFill>
          <a:ln/>
        </p:spPr>
        <p:txBody>
          <a:bodyPr/>
          <a:lstStyle/>
          <a:p>
            <a:endParaRPr lang="en-US"/>
          </a:p>
        </p:txBody>
      </p:sp>
      <p:sp>
        <p:nvSpPr>
          <p:cNvPr id="31" name="Text 29"/>
          <p:cNvSpPr/>
          <p:nvPr/>
        </p:nvSpPr>
        <p:spPr>
          <a:xfrm>
            <a:off x="14687603" y="7877608"/>
            <a:ext cx="1883528" cy="421941"/>
          </a:xfrm>
          <a:prstGeom prst="rect">
            <a:avLst/>
          </a:prstGeom>
          <a:noFill/>
          <a:ln/>
        </p:spPr>
        <p:txBody>
          <a:bodyPr wrap="square" lIns="25400" tIns="25400" rIns="25400" bIns="25400" rtlCol="0" anchor="t">
            <a:normAutofit fontScale="92500"/>
          </a:bodyPr>
          <a:lstStyle/>
          <a:p>
            <a:pPr marL="0" indent="0" algn="l">
              <a:lnSpc>
                <a:spcPct val="134333"/>
              </a:lnSpc>
              <a:buNone/>
            </a:pPr>
            <a:r>
              <a:rPr lang="en-US" sz="1950" b="1" kern="0" spc="273" dirty="0">
                <a:solidFill>
                  <a:srgbClr val="F3F2F2"/>
                </a:solidFill>
                <a:latin typeface="Arial" pitchFamily="34" charset="0"/>
                <a:ea typeface="Arial" pitchFamily="34" charset="-122"/>
                <a:cs typeface="Arial" pitchFamily="34" charset="-120"/>
              </a:rPr>
              <a:t>TRAVERSED</a:t>
            </a:r>
            <a:endParaRPr lang="en-US" sz="1950" dirty="0"/>
          </a:p>
        </p:txBody>
      </p:sp>
      <p:sp>
        <p:nvSpPr>
          <p:cNvPr id="32" name="Text 30"/>
          <p:cNvSpPr/>
          <p:nvPr/>
        </p:nvSpPr>
        <p:spPr>
          <a:xfrm>
            <a:off x="990586" y="9023043"/>
            <a:ext cx="14716125" cy="795365"/>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solidFill>
                <a:latin typeface="Arial" pitchFamily="34" charset="0"/>
                <a:ea typeface="Arial" pitchFamily="34" charset="-122"/>
                <a:cs typeface="Arial" pitchFamily="34" charset="-120"/>
              </a:rPr>
              <a:t>Blocked edges are removed from the search space, not ranked down — the answer generator never sees the contraindicated path.</a:t>
            </a:r>
            <a:endParaRPr lang="en-US" sz="2100" dirty="0"/>
          </a:p>
        </p:txBody>
      </p:sp>
      <p:sp>
        <p:nvSpPr>
          <p:cNvPr id="33" name="Text 31"/>
          <p:cNvSpPr/>
          <p:nvPr/>
        </p:nvSpPr>
        <p:spPr>
          <a:xfrm>
            <a:off x="16346199" y="9399375"/>
            <a:ext cx="1027415"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10 / 16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Path Ranking and Answer Generation</a:t>
            </a:r>
            <a:endParaRPr lang="en-US" sz="4650" dirty="0"/>
          </a:p>
        </p:txBody>
      </p:sp>
      <p:sp>
        <p:nvSpPr>
          <p:cNvPr id="7" name="Shape 5"/>
          <p:cNvSpPr/>
          <p:nvPr/>
        </p:nvSpPr>
        <p:spPr>
          <a:xfrm>
            <a:off x="990586" y="2865956"/>
            <a:ext cx="4876827" cy="19009"/>
          </a:xfrm>
          <a:prstGeom prst="rect">
            <a:avLst/>
          </a:prstGeom>
          <a:solidFill>
            <a:srgbClr val="201E1D"/>
          </a:solidFill>
          <a:ln/>
        </p:spPr>
        <p:txBody>
          <a:bodyPr/>
          <a:lstStyle/>
          <a:p>
            <a:endParaRPr lang="en-US"/>
          </a:p>
        </p:txBody>
      </p:sp>
      <p:sp>
        <p:nvSpPr>
          <p:cNvPr id="8" name="Text 6"/>
          <p:cNvSpPr/>
          <p:nvPr/>
        </p:nvSpPr>
        <p:spPr>
          <a:xfrm>
            <a:off x="990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PATH RANKING</a:t>
            </a:r>
            <a:endParaRPr lang="en-US" sz="1800" dirty="0"/>
          </a:p>
        </p:txBody>
      </p:sp>
      <p:sp>
        <p:nvSpPr>
          <p:cNvPr id="9" name="Text 7"/>
          <p:cNvSpPr/>
          <p:nvPr/>
        </p:nvSpPr>
        <p:spPr>
          <a:xfrm>
            <a:off x="990586" y="3658330"/>
            <a:ext cx="5023132" cy="827971"/>
          </a:xfrm>
          <a:prstGeom prst="rect">
            <a:avLst/>
          </a:prstGeom>
          <a:noFill/>
          <a:ln/>
        </p:spPr>
        <p:txBody>
          <a:bodyPr wrap="square" lIns="25400" tIns="25400" rIns="25400" bIns="25400" rtlCol="0" anchor="t">
            <a:normAutofit lnSpcReduction="10000"/>
          </a:bodyPr>
          <a:lstStyle/>
          <a:p>
            <a:pPr marL="0" indent="0" algn="l">
              <a:lnSpc>
                <a:spcPct val="124986"/>
              </a:lnSpc>
              <a:buNone/>
            </a:pPr>
            <a:r>
              <a:rPr lang="en-US" sz="2100" b="1" dirty="0">
                <a:solidFill>
                  <a:srgbClr val="201E1D"/>
                </a:solidFill>
                <a:latin typeface="Courier New" pitchFamily="34" charset="0"/>
                <a:ea typeface="Courier New" pitchFamily="34" charset="-122"/>
                <a:cs typeface="Courier New" pitchFamily="34" charset="-120"/>
              </a:rPr>
              <a:t>score(q, p) = ∑</a:t>
            </a:r>
            <a:r>
              <a:rPr lang="en-US" sz="1800" b="1" baseline="-40000" dirty="0">
                <a:solidFill>
                  <a:srgbClr val="201E1D"/>
                </a:solidFill>
                <a:latin typeface="Courier New" pitchFamily="34" charset="0"/>
                <a:ea typeface="Courier New" pitchFamily="34" charset="-122"/>
                <a:cs typeface="Courier New" pitchFamily="34" charset="-120"/>
              </a:rPr>
              <a:t>k ∈ K </a:t>
            </a:r>
            <a:r>
              <a:rPr lang="en-US" sz="2100" b="1" dirty="0">
                <a:solidFill>
                  <a:srgbClr val="201E1D"/>
                </a:solidFill>
                <a:latin typeface="Courier New" pitchFamily="34" charset="0"/>
                <a:ea typeface="Courier New" pitchFamily="34" charset="-122"/>
                <a:cs typeface="Courier New" pitchFamily="34" charset="-120"/>
              </a:rPr>
              <a:t>cos(φ(chain(p)), φ(k))</a:t>
            </a:r>
            <a:endParaRPr lang="en-US" sz="2100" dirty="0"/>
          </a:p>
        </p:txBody>
      </p:sp>
      <p:sp>
        <p:nvSpPr>
          <p:cNvPr id="10" name="Text 8"/>
          <p:cNvSpPr/>
          <p:nvPr/>
        </p:nvSpPr>
        <p:spPr>
          <a:xfrm>
            <a:off x="990586" y="4638702"/>
            <a:ext cx="5023132" cy="1529628"/>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Aggregate cosine similarity between the path's relation chain and each query keyword. Embeddings from MedEmbed-large-v0.1; the top N paths are kept.</a:t>
            </a:r>
            <a:endParaRPr lang="en-US" sz="2025" dirty="0"/>
          </a:p>
        </p:txBody>
      </p:sp>
      <p:sp>
        <p:nvSpPr>
          <p:cNvPr id="11" name="Shape 9"/>
          <p:cNvSpPr/>
          <p:nvPr/>
        </p:nvSpPr>
        <p:spPr>
          <a:xfrm>
            <a:off x="6705586" y="2865956"/>
            <a:ext cx="4876827" cy="19009"/>
          </a:xfrm>
          <a:prstGeom prst="rect">
            <a:avLst/>
          </a:prstGeom>
          <a:solidFill>
            <a:srgbClr val="201E1D"/>
          </a:solidFill>
          <a:ln/>
        </p:spPr>
        <p:txBody>
          <a:bodyPr/>
          <a:lstStyle/>
          <a:p>
            <a:endParaRPr lang="en-US"/>
          </a:p>
        </p:txBody>
      </p:sp>
      <p:sp>
        <p:nvSpPr>
          <p:cNvPr id="12" name="Text 10"/>
          <p:cNvSpPr/>
          <p:nvPr/>
        </p:nvSpPr>
        <p:spPr>
          <a:xfrm>
            <a:off x="6705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EVIDENCE ASSEMBLY</a:t>
            </a:r>
            <a:endParaRPr lang="en-US" sz="1800" dirty="0"/>
          </a:p>
        </p:txBody>
      </p:sp>
      <p:sp>
        <p:nvSpPr>
          <p:cNvPr id="13" name="Text 11"/>
          <p:cNvSpPr/>
          <p:nvPr/>
        </p:nvSpPr>
        <p:spPr>
          <a:xfrm>
            <a:off x="6705586" y="3658330"/>
            <a:ext cx="5364509" cy="454683"/>
          </a:xfrm>
          <a:prstGeom prst="rect">
            <a:avLst/>
          </a:prstGeom>
          <a:noFill/>
          <a:ln/>
        </p:spPr>
        <p:txBody>
          <a:bodyPr wrap="square" lIns="25400" tIns="25400" rIns="25400" bIns="25400" rtlCol="0" anchor="t">
            <a:normAutofit/>
          </a:bodyPr>
          <a:lstStyle/>
          <a:p>
            <a:pPr marL="0" indent="0" algn="l">
              <a:lnSpc>
                <a:spcPct val="124986"/>
              </a:lnSpc>
              <a:buNone/>
            </a:pPr>
            <a:r>
              <a:rPr lang="en-US" sz="2100" b="1" dirty="0">
                <a:solidFill>
                  <a:srgbClr val="201E1D"/>
                </a:solidFill>
                <a:latin typeface="Courier New" pitchFamily="34" charset="0"/>
                <a:ea typeface="Courier New" pitchFamily="34" charset="-122"/>
                <a:cs typeface="Courier New" pitchFamily="34" charset="-120"/>
              </a:rPr>
              <a:t>E</a:t>
            </a:r>
            <a:r>
              <a:rPr lang="en-US" sz="1800" b="1" baseline="-40000" dirty="0">
                <a:solidFill>
                  <a:srgbClr val="201E1D"/>
                </a:solidFill>
                <a:latin typeface="Courier New" pitchFamily="34" charset="0"/>
                <a:ea typeface="Courier New" pitchFamily="34" charset="-122"/>
                <a:cs typeface="Courier New" pitchFamily="34" charset="-120"/>
              </a:rPr>
              <a:t>q </a:t>
            </a:r>
            <a:r>
              <a:rPr lang="en-US" sz="2100" b="1" dirty="0">
                <a:solidFill>
                  <a:srgbClr val="201E1D"/>
                </a:solidFill>
                <a:latin typeface="Courier New" pitchFamily="34" charset="0"/>
                <a:ea typeface="Courier New" pitchFamily="34" charset="-122"/>
                <a:cs typeface="Courier New" pitchFamily="34" charset="-120"/>
              </a:rPr>
              <a:t>= {(V</a:t>
            </a:r>
            <a:r>
              <a:rPr lang="en-US" sz="1800" b="1" baseline="-40000" dirty="0">
                <a:solidFill>
                  <a:srgbClr val="201E1D"/>
                </a:solidFill>
                <a:latin typeface="Courier New" pitchFamily="34" charset="0"/>
                <a:ea typeface="Courier New" pitchFamily="34" charset="-122"/>
                <a:cs typeface="Courier New" pitchFamily="34" charset="-120"/>
              </a:rPr>
              <a:t>p</a:t>
            </a:r>
            <a:r>
              <a:rPr lang="en-US" sz="2100" b="1" dirty="0">
                <a:solidFill>
                  <a:srgbClr val="201E1D"/>
                </a:solidFill>
                <a:latin typeface="Courier New" pitchFamily="34" charset="0"/>
                <a:ea typeface="Courier New" pitchFamily="34" charset="-122"/>
                <a:cs typeface="Courier New" pitchFamily="34" charset="-120"/>
              </a:rPr>
              <a:t>, E</a:t>
            </a:r>
            <a:r>
              <a:rPr lang="en-US" sz="1800" b="1" baseline="-40000" dirty="0">
                <a:solidFill>
                  <a:srgbClr val="201E1D"/>
                </a:solidFill>
                <a:latin typeface="Courier New" pitchFamily="34" charset="0"/>
                <a:ea typeface="Courier New" pitchFamily="34" charset="-122"/>
                <a:cs typeface="Courier New" pitchFamily="34" charset="-120"/>
              </a:rPr>
              <a:t>p</a:t>
            </a:r>
            <a:r>
              <a:rPr lang="en-US" sz="2100" b="1" dirty="0">
                <a:solidFill>
                  <a:srgbClr val="201E1D"/>
                </a:solidFill>
                <a:latin typeface="Courier New" pitchFamily="34" charset="0"/>
                <a:ea typeface="Courier New" pitchFamily="34" charset="-122"/>
                <a:cs typeface="Courier New" pitchFamily="34" charset="-120"/>
              </a:rPr>
              <a:t>, S</a:t>
            </a:r>
            <a:r>
              <a:rPr lang="en-US" sz="1800" b="1" baseline="-40000" dirty="0">
                <a:solidFill>
                  <a:srgbClr val="201E1D"/>
                </a:solidFill>
                <a:latin typeface="Courier New" pitchFamily="34" charset="0"/>
                <a:ea typeface="Courier New" pitchFamily="34" charset="-122"/>
                <a:cs typeface="Courier New" pitchFamily="34" charset="-120"/>
              </a:rPr>
              <a:t>p</a:t>
            </a:r>
            <a:r>
              <a:rPr lang="en-US" sz="2100" b="1" dirty="0">
                <a:solidFill>
                  <a:srgbClr val="201E1D"/>
                </a:solidFill>
                <a:latin typeface="Courier New" pitchFamily="34" charset="0"/>
                <a:ea typeface="Courier New" pitchFamily="34" charset="-122"/>
                <a:cs typeface="Courier New" pitchFamily="34" charset="-120"/>
              </a:rPr>
              <a:t>, C</a:t>
            </a:r>
            <a:r>
              <a:rPr lang="en-US" sz="1800" b="1" baseline="-40000" dirty="0">
                <a:solidFill>
                  <a:srgbClr val="201E1D"/>
                </a:solidFill>
                <a:latin typeface="Courier New" pitchFamily="34" charset="0"/>
                <a:ea typeface="Courier New" pitchFamily="34" charset="-122"/>
                <a:cs typeface="Courier New" pitchFamily="34" charset="-120"/>
              </a:rPr>
              <a:t>p</a:t>
            </a:r>
            <a:r>
              <a:rPr lang="en-US" sz="2100" b="1" dirty="0">
                <a:solidFill>
                  <a:srgbClr val="201E1D"/>
                </a:solidFill>
                <a:latin typeface="Courier New" pitchFamily="34" charset="0"/>
                <a:ea typeface="Courier New" pitchFamily="34" charset="-122"/>
                <a:cs typeface="Courier New" pitchFamily="34" charset="-120"/>
              </a:rPr>
              <a:t>)}</a:t>
            </a:r>
            <a:endParaRPr lang="en-US" sz="2100" dirty="0"/>
          </a:p>
        </p:txBody>
      </p:sp>
      <p:sp>
        <p:nvSpPr>
          <p:cNvPr id="14" name="Text 12"/>
          <p:cNvSpPr/>
          <p:nvPr/>
        </p:nvSpPr>
        <p:spPr>
          <a:xfrm>
            <a:off x="6705586" y="4265414"/>
            <a:ext cx="5023132" cy="1902510"/>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Each retained path keeps its entity sequence, its source text snippets, and the conditions on every edge it traversed — so the generator can see why the path was admissible.</a:t>
            </a:r>
            <a:endParaRPr lang="en-US" sz="2025" dirty="0"/>
          </a:p>
        </p:txBody>
      </p:sp>
      <p:sp>
        <p:nvSpPr>
          <p:cNvPr id="15" name="Shape 13"/>
          <p:cNvSpPr/>
          <p:nvPr/>
        </p:nvSpPr>
        <p:spPr>
          <a:xfrm>
            <a:off x="12420586" y="2865956"/>
            <a:ext cx="4876827" cy="19009"/>
          </a:xfrm>
          <a:prstGeom prst="rect">
            <a:avLst/>
          </a:prstGeom>
          <a:solidFill>
            <a:srgbClr val="201E1D"/>
          </a:solidFill>
          <a:ln/>
        </p:spPr>
        <p:txBody>
          <a:bodyPr/>
          <a:lstStyle/>
          <a:p>
            <a:endParaRPr lang="en-US"/>
          </a:p>
        </p:txBody>
      </p:sp>
      <p:sp>
        <p:nvSpPr>
          <p:cNvPr id="16" name="Text 14"/>
          <p:cNvSpPr/>
          <p:nvPr/>
        </p:nvSpPr>
        <p:spPr>
          <a:xfrm>
            <a:off x="12420586" y="3113552"/>
            <a:ext cx="5364509"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ANSWER GENERATION</a:t>
            </a:r>
            <a:endParaRPr lang="en-US" sz="1800" dirty="0"/>
          </a:p>
        </p:txBody>
      </p:sp>
      <p:sp>
        <p:nvSpPr>
          <p:cNvPr id="17" name="Text 15"/>
          <p:cNvSpPr/>
          <p:nvPr/>
        </p:nvSpPr>
        <p:spPr>
          <a:xfrm>
            <a:off x="12420586" y="3658330"/>
            <a:ext cx="5364509" cy="454683"/>
          </a:xfrm>
          <a:prstGeom prst="rect">
            <a:avLst/>
          </a:prstGeom>
          <a:noFill/>
          <a:ln/>
        </p:spPr>
        <p:txBody>
          <a:bodyPr wrap="square" lIns="25400" tIns="25400" rIns="25400" bIns="25400" rtlCol="0" anchor="t">
            <a:normAutofit/>
          </a:bodyPr>
          <a:lstStyle/>
          <a:p>
            <a:pPr marL="0" indent="0" algn="l">
              <a:lnSpc>
                <a:spcPct val="124986"/>
              </a:lnSpc>
              <a:buNone/>
            </a:pPr>
            <a:r>
              <a:rPr lang="en-US" sz="2100" b="1" dirty="0">
                <a:solidFill>
                  <a:srgbClr val="201E1D"/>
                </a:solidFill>
                <a:latin typeface="Courier New" pitchFamily="34" charset="0"/>
                <a:ea typeface="Courier New" pitchFamily="34" charset="-122"/>
                <a:cs typeface="Courier New" pitchFamily="34" charset="-120"/>
              </a:rPr>
              <a:t>A = LLM(q ⊕ P</a:t>
            </a:r>
            <a:r>
              <a:rPr lang="en-US" sz="1800" b="1" baseline="-40000" dirty="0">
                <a:solidFill>
                  <a:srgbClr val="201E1D"/>
                </a:solidFill>
                <a:latin typeface="Courier New" pitchFamily="34" charset="0"/>
                <a:ea typeface="Courier New" pitchFamily="34" charset="-122"/>
                <a:cs typeface="Courier New" pitchFamily="34" charset="-120"/>
              </a:rPr>
              <a:t>q </a:t>
            </a:r>
            <a:r>
              <a:rPr lang="en-US" sz="2100" b="1" dirty="0">
                <a:solidFill>
                  <a:srgbClr val="201E1D"/>
                </a:solidFill>
                <a:latin typeface="Courier New" pitchFamily="34" charset="0"/>
                <a:ea typeface="Courier New" pitchFamily="34" charset="-122"/>
                <a:cs typeface="Courier New" pitchFamily="34" charset="-120"/>
              </a:rPr>
              <a:t>⊕ E</a:t>
            </a:r>
            <a:r>
              <a:rPr lang="en-US" sz="1800" b="1" baseline="-40000" dirty="0">
                <a:solidFill>
                  <a:srgbClr val="201E1D"/>
                </a:solidFill>
                <a:latin typeface="Courier New" pitchFamily="34" charset="0"/>
                <a:ea typeface="Courier New" pitchFamily="34" charset="-122"/>
                <a:cs typeface="Courier New" pitchFamily="34" charset="-120"/>
              </a:rPr>
              <a:t>q</a:t>
            </a:r>
            <a:r>
              <a:rPr lang="en-US" sz="2100" b="1" dirty="0">
                <a:solidFill>
                  <a:srgbClr val="201E1D"/>
                </a:solidFill>
                <a:latin typeface="Courier New" pitchFamily="34" charset="0"/>
                <a:ea typeface="Courier New" pitchFamily="34" charset="-122"/>
                <a:cs typeface="Courier New" pitchFamily="34" charset="-120"/>
              </a:rPr>
              <a:t>)</a:t>
            </a:r>
            <a:endParaRPr lang="en-US" sz="2100" dirty="0"/>
          </a:p>
        </p:txBody>
      </p:sp>
      <p:sp>
        <p:nvSpPr>
          <p:cNvPr id="18" name="Text 16"/>
          <p:cNvSpPr/>
          <p:nvPr/>
        </p:nvSpPr>
        <p:spPr>
          <a:xfrm>
            <a:off x="12420586" y="4265414"/>
            <a:ext cx="5023132" cy="1529628"/>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A single generation call over the query, the ranked paths and their evidence. The backbone model is swappable — nothing in the gate is model-specific.</a:t>
            </a:r>
            <a:endParaRPr lang="en-US" sz="2025" dirty="0"/>
          </a:p>
        </p:txBody>
      </p:sp>
      <p:sp>
        <p:nvSpPr>
          <p:cNvPr id="19" name="Shape 17"/>
          <p:cNvSpPr/>
          <p:nvPr/>
        </p:nvSpPr>
        <p:spPr>
          <a:xfrm>
            <a:off x="990586" y="8180676"/>
            <a:ext cx="16306827" cy="19009"/>
          </a:xfrm>
          <a:prstGeom prst="rect">
            <a:avLst/>
          </a:prstGeom>
          <a:solidFill>
            <a:srgbClr val="201E1D">
              <a:alpha val="40000"/>
            </a:srgbClr>
          </a:solidFill>
          <a:ln/>
        </p:spPr>
        <p:txBody>
          <a:bodyPr/>
          <a:lstStyle/>
          <a:p>
            <a:endParaRPr lang="en-US"/>
          </a:p>
        </p:txBody>
      </p:sp>
      <p:sp>
        <p:nvSpPr>
          <p:cNvPr id="20" name="Text 18"/>
          <p:cNvSpPr/>
          <p:nvPr/>
        </p:nvSpPr>
        <p:spPr>
          <a:xfrm>
            <a:off x="990586" y="8447281"/>
            <a:ext cx="16796032" cy="799694"/>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b="1" dirty="0">
                <a:solidFill>
                  <a:srgbClr val="201E1D"/>
                </a:solidFill>
                <a:latin typeface="Arial" pitchFamily="34" charset="0"/>
                <a:ea typeface="Arial" pitchFamily="34" charset="-122"/>
                <a:cs typeface="Arial" pitchFamily="34" charset="-120"/>
              </a:rPr>
              <a:t>Cost. </a:t>
            </a:r>
            <a:r>
              <a:rPr lang="en-US" sz="2100" dirty="0">
                <a:solidFill>
                  <a:srgbClr val="201E1D"/>
                </a:solidFill>
                <a:latin typeface="Arial" pitchFamily="34" charset="0"/>
                <a:ea typeface="Arial" pitchFamily="34" charset="-122"/>
                <a:cs typeface="Arial" pitchFamily="34" charset="-120"/>
              </a:rPr>
              <a:t>One batched LLM call for condition evaluation regardless of graph size, then </a:t>
            </a:r>
            <a:r>
              <a:rPr lang="en-US" sz="1950" dirty="0">
                <a:solidFill>
                  <a:srgbClr val="201E1D"/>
                </a:solidFill>
                <a:latin typeface="Courier New" pitchFamily="34" charset="0"/>
                <a:ea typeface="Courier New" pitchFamily="34" charset="-122"/>
                <a:cs typeface="Courier New" pitchFamily="34" charset="-120"/>
              </a:rPr>
              <a:t>O(|V| + |E|) </a:t>
            </a:r>
            <a:r>
              <a:rPr lang="en-US" sz="2100" dirty="0">
                <a:solidFill>
                  <a:srgbClr val="201E1D"/>
                </a:solidFill>
                <a:latin typeface="Arial" pitchFamily="34" charset="0"/>
                <a:ea typeface="Arial" pitchFamily="34" charset="-122"/>
                <a:cs typeface="Arial" pitchFamily="34" charset="-120"/>
              </a:rPr>
              <a:t>traversal with constant-time gate checks per edge.</a:t>
            </a:r>
            <a:endParaRPr lang="en-US" sz="2100" dirty="0"/>
          </a:p>
        </p:txBody>
      </p:sp>
      <p:sp>
        <p:nvSpPr>
          <p:cNvPr id="21" name="Text 19"/>
          <p:cNvSpPr/>
          <p:nvPr/>
        </p:nvSpPr>
        <p:spPr>
          <a:xfrm>
            <a:off x="16357969" y="9399375"/>
            <a:ext cx="1015644"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11 / 16</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30538"/>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687643"/>
            <a:ext cx="17937509"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Main Results</a:t>
            </a:r>
            <a:endParaRPr lang="en-US" sz="4650" dirty="0"/>
          </a:p>
        </p:txBody>
      </p:sp>
      <p:sp>
        <p:nvSpPr>
          <p:cNvPr id="7" name="Shape 5"/>
          <p:cNvSpPr/>
          <p:nvPr/>
        </p:nvSpPr>
        <p:spPr>
          <a:xfrm>
            <a:off x="3733759" y="2862303"/>
            <a:ext cx="9525" cy="430452"/>
          </a:xfrm>
          <a:prstGeom prst="rect">
            <a:avLst/>
          </a:prstGeom>
          <a:solidFill>
            <a:srgbClr val="201E1D">
              <a:alpha val="25000"/>
            </a:srgbClr>
          </a:solidFill>
          <a:ln/>
        </p:spPr>
        <p:txBody>
          <a:bodyPr/>
          <a:lstStyle/>
          <a:p>
            <a:endParaRPr lang="en-US"/>
          </a:p>
        </p:txBody>
      </p:sp>
      <p:sp>
        <p:nvSpPr>
          <p:cNvPr id="8" name="Text 6"/>
          <p:cNvSpPr/>
          <p:nvPr/>
        </p:nvSpPr>
        <p:spPr>
          <a:xfrm>
            <a:off x="3856718" y="2862303"/>
            <a:ext cx="3255382" cy="392352"/>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16" dirty="0">
                <a:solidFill>
                  <a:srgbClr val="201E1D"/>
                </a:solidFill>
                <a:latin typeface="Arial" pitchFamily="34" charset="0"/>
                <a:ea typeface="Arial" pitchFamily="34" charset="-122"/>
                <a:cs typeface="Arial" pitchFamily="34" charset="-120"/>
              </a:rPr>
              <a:t>CONDMEDQA</a:t>
            </a:r>
            <a:endParaRPr lang="en-US" sz="1800" dirty="0"/>
          </a:p>
        </p:txBody>
      </p:sp>
      <p:sp>
        <p:nvSpPr>
          <p:cNvPr id="9" name="Shape 7"/>
          <p:cNvSpPr/>
          <p:nvPr/>
        </p:nvSpPr>
        <p:spPr>
          <a:xfrm>
            <a:off x="7124673" y="2862303"/>
            <a:ext cx="9525" cy="430452"/>
          </a:xfrm>
          <a:prstGeom prst="rect">
            <a:avLst/>
          </a:prstGeom>
          <a:solidFill>
            <a:srgbClr val="201E1D">
              <a:alpha val="25000"/>
            </a:srgbClr>
          </a:solidFill>
          <a:ln/>
        </p:spPr>
        <p:txBody>
          <a:bodyPr/>
          <a:lstStyle/>
          <a:p>
            <a:endParaRPr lang="en-US"/>
          </a:p>
        </p:txBody>
      </p:sp>
      <p:sp>
        <p:nvSpPr>
          <p:cNvPr id="10" name="Text 8"/>
          <p:cNvSpPr/>
          <p:nvPr/>
        </p:nvSpPr>
        <p:spPr>
          <a:xfrm>
            <a:off x="7247632" y="2862303"/>
            <a:ext cx="3255382" cy="392352"/>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16" dirty="0">
                <a:solidFill>
                  <a:srgbClr val="201E1D"/>
                </a:solidFill>
                <a:latin typeface="Arial" pitchFamily="34" charset="0"/>
                <a:ea typeface="Arial" pitchFamily="34" charset="-122"/>
                <a:cs typeface="Arial" pitchFamily="34" charset="-120"/>
              </a:rPr>
              <a:t>MEDHOPQA</a:t>
            </a:r>
            <a:endParaRPr lang="en-US" sz="1800" dirty="0"/>
          </a:p>
        </p:txBody>
      </p:sp>
      <p:sp>
        <p:nvSpPr>
          <p:cNvPr id="11" name="Shape 9"/>
          <p:cNvSpPr/>
          <p:nvPr/>
        </p:nvSpPr>
        <p:spPr>
          <a:xfrm>
            <a:off x="10515586" y="2862303"/>
            <a:ext cx="9525" cy="430452"/>
          </a:xfrm>
          <a:prstGeom prst="rect">
            <a:avLst/>
          </a:prstGeom>
          <a:solidFill>
            <a:srgbClr val="201E1D">
              <a:alpha val="25000"/>
            </a:srgbClr>
          </a:solidFill>
          <a:ln/>
        </p:spPr>
        <p:txBody>
          <a:bodyPr/>
          <a:lstStyle/>
          <a:p>
            <a:endParaRPr lang="en-US"/>
          </a:p>
        </p:txBody>
      </p:sp>
      <p:sp>
        <p:nvSpPr>
          <p:cNvPr id="12" name="Text 10"/>
          <p:cNvSpPr/>
          <p:nvPr/>
        </p:nvSpPr>
        <p:spPr>
          <a:xfrm>
            <a:off x="10638545" y="2862303"/>
            <a:ext cx="3255382" cy="392352"/>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16" dirty="0">
                <a:solidFill>
                  <a:srgbClr val="201E1D"/>
                </a:solidFill>
                <a:latin typeface="Arial" pitchFamily="34" charset="0"/>
                <a:ea typeface="Arial" pitchFamily="34" charset="-122"/>
                <a:cs typeface="Arial" pitchFamily="34" charset="-120"/>
              </a:rPr>
              <a:t>MEDHOP (C)</a:t>
            </a:r>
            <a:endParaRPr lang="en-US" sz="1800" dirty="0"/>
          </a:p>
        </p:txBody>
      </p:sp>
      <p:sp>
        <p:nvSpPr>
          <p:cNvPr id="13" name="Shape 11"/>
          <p:cNvSpPr/>
          <p:nvPr/>
        </p:nvSpPr>
        <p:spPr>
          <a:xfrm>
            <a:off x="13906500" y="2862303"/>
            <a:ext cx="9525" cy="430452"/>
          </a:xfrm>
          <a:prstGeom prst="rect">
            <a:avLst/>
          </a:prstGeom>
          <a:solidFill>
            <a:srgbClr val="201E1D">
              <a:alpha val="25000"/>
            </a:srgbClr>
          </a:solidFill>
          <a:ln/>
        </p:spPr>
        <p:txBody>
          <a:bodyPr/>
          <a:lstStyle/>
          <a:p>
            <a:endParaRPr lang="en-US"/>
          </a:p>
        </p:txBody>
      </p:sp>
      <p:sp>
        <p:nvSpPr>
          <p:cNvPr id="14" name="Text 12"/>
          <p:cNvSpPr/>
          <p:nvPr/>
        </p:nvSpPr>
        <p:spPr>
          <a:xfrm>
            <a:off x="14029459" y="2862303"/>
            <a:ext cx="3255382" cy="392352"/>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16" dirty="0">
                <a:solidFill>
                  <a:srgbClr val="201E1D"/>
                </a:solidFill>
                <a:latin typeface="Arial" pitchFamily="34" charset="0"/>
                <a:ea typeface="Arial" pitchFamily="34" charset="-122"/>
                <a:cs typeface="Arial" pitchFamily="34" charset="-120"/>
              </a:rPr>
              <a:t>BIOASQ-B</a:t>
            </a:r>
            <a:endParaRPr lang="en-US" sz="1800" dirty="0"/>
          </a:p>
        </p:txBody>
      </p:sp>
      <p:sp>
        <p:nvSpPr>
          <p:cNvPr id="15" name="Text 13"/>
          <p:cNvSpPr/>
          <p:nvPr/>
        </p:nvSpPr>
        <p:spPr>
          <a:xfrm>
            <a:off x="990586" y="3292755"/>
            <a:ext cx="2825468"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52" dirty="0">
                <a:solidFill>
                  <a:srgbClr val="201E1D">
                    <a:alpha val="50000"/>
                  </a:srgbClr>
                </a:solidFill>
                <a:latin typeface="Arial" pitchFamily="34" charset="0"/>
                <a:ea typeface="Arial" pitchFamily="34" charset="-122"/>
                <a:cs typeface="Arial" pitchFamily="34" charset="-120"/>
              </a:rPr>
              <a:t>METHOD</a:t>
            </a:r>
            <a:endParaRPr lang="en-US" sz="1800" dirty="0"/>
          </a:p>
        </p:txBody>
      </p:sp>
      <p:sp>
        <p:nvSpPr>
          <p:cNvPr id="16" name="Shape 14"/>
          <p:cNvSpPr/>
          <p:nvPr/>
        </p:nvSpPr>
        <p:spPr>
          <a:xfrm>
            <a:off x="3733759" y="3292755"/>
            <a:ext cx="9525" cy="449529"/>
          </a:xfrm>
          <a:prstGeom prst="rect">
            <a:avLst/>
          </a:prstGeom>
          <a:solidFill>
            <a:srgbClr val="201E1D">
              <a:alpha val="25000"/>
            </a:srgbClr>
          </a:solidFill>
          <a:ln/>
        </p:spPr>
        <p:txBody>
          <a:bodyPr/>
          <a:lstStyle/>
          <a:p>
            <a:endParaRPr lang="en-US"/>
          </a:p>
        </p:txBody>
      </p:sp>
      <p:sp>
        <p:nvSpPr>
          <p:cNvPr id="17" name="Text 15"/>
          <p:cNvSpPr/>
          <p:nvPr/>
        </p:nvSpPr>
        <p:spPr>
          <a:xfrm>
            <a:off x="3780518" y="3292755"/>
            <a:ext cx="1534364"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EM</a:t>
            </a:r>
            <a:endParaRPr lang="en-US" sz="1800" dirty="0"/>
          </a:p>
        </p:txBody>
      </p:sp>
      <p:sp>
        <p:nvSpPr>
          <p:cNvPr id="18" name="Text 16"/>
          <p:cNvSpPr/>
          <p:nvPr/>
        </p:nvSpPr>
        <p:spPr>
          <a:xfrm>
            <a:off x="5467282" y="3292755"/>
            <a:ext cx="1543091"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19" name="Shape 17"/>
          <p:cNvSpPr/>
          <p:nvPr/>
        </p:nvSpPr>
        <p:spPr>
          <a:xfrm>
            <a:off x="7124673" y="3292755"/>
            <a:ext cx="9525" cy="449529"/>
          </a:xfrm>
          <a:prstGeom prst="rect">
            <a:avLst/>
          </a:prstGeom>
          <a:solidFill>
            <a:srgbClr val="201E1D">
              <a:alpha val="25000"/>
            </a:srgbClr>
          </a:solidFill>
          <a:ln/>
        </p:spPr>
        <p:txBody>
          <a:bodyPr/>
          <a:lstStyle/>
          <a:p>
            <a:endParaRPr lang="en-US"/>
          </a:p>
        </p:txBody>
      </p:sp>
      <p:sp>
        <p:nvSpPr>
          <p:cNvPr id="20" name="Text 18"/>
          <p:cNvSpPr/>
          <p:nvPr/>
        </p:nvSpPr>
        <p:spPr>
          <a:xfrm>
            <a:off x="7171432" y="3292755"/>
            <a:ext cx="1534364"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EM</a:t>
            </a:r>
            <a:endParaRPr lang="en-US" sz="1800" dirty="0"/>
          </a:p>
        </p:txBody>
      </p:sp>
      <p:sp>
        <p:nvSpPr>
          <p:cNvPr id="21" name="Text 19"/>
          <p:cNvSpPr/>
          <p:nvPr/>
        </p:nvSpPr>
        <p:spPr>
          <a:xfrm>
            <a:off x="8858195" y="3292755"/>
            <a:ext cx="1543091"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2" name="Shape 20"/>
          <p:cNvSpPr/>
          <p:nvPr/>
        </p:nvSpPr>
        <p:spPr>
          <a:xfrm>
            <a:off x="10515586" y="3292755"/>
            <a:ext cx="9525" cy="449529"/>
          </a:xfrm>
          <a:prstGeom prst="rect">
            <a:avLst/>
          </a:prstGeom>
          <a:solidFill>
            <a:srgbClr val="201E1D">
              <a:alpha val="25000"/>
            </a:srgbClr>
          </a:solidFill>
          <a:ln/>
        </p:spPr>
        <p:txBody>
          <a:bodyPr/>
          <a:lstStyle/>
          <a:p>
            <a:endParaRPr lang="en-US"/>
          </a:p>
        </p:txBody>
      </p:sp>
      <p:sp>
        <p:nvSpPr>
          <p:cNvPr id="23" name="Text 21"/>
          <p:cNvSpPr/>
          <p:nvPr/>
        </p:nvSpPr>
        <p:spPr>
          <a:xfrm>
            <a:off x="10562345" y="3292755"/>
            <a:ext cx="1534364"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EM</a:t>
            </a:r>
            <a:endParaRPr lang="en-US" sz="1800" dirty="0"/>
          </a:p>
        </p:txBody>
      </p:sp>
      <p:sp>
        <p:nvSpPr>
          <p:cNvPr id="24" name="Text 22"/>
          <p:cNvSpPr/>
          <p:nvPr/>
        </p:nvSpPr>
        <p:spPr>
          <a:xfrm>
            <a:off x="12249109" y="3292755"/>
            <a:ext cx="1543091"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5" name="Shape 23"/>
          <p:cNvSpPr/>
          <p:nvPr/>
        </p:nvSpPr>
        <p:spPr>
          <a:xfrm>
            <a:off x="13906500" y="3292755"/>
            <a:ext cx="9525" cy="449529"/>
          </a:xfrm>
          <a:prstGeom prst="rect">
            <a:avLst/>
          </a:prstGeom>
          <a:solidFill>
            <a:srgbClr val="201E1D">
              <a:alpha val="25000"/>
            </a:srgbClr>
          </a:solidFill>
          <a:ln/>
        </p:spPr>
        <p:txBody>
          <a:bodyPr/>
          <a:lstStyle/>
          <a:p>
            <a:endParaRPr lang="en-US"/>
          </a:p>
        </p:txBody>
      </p:sp>
      <p:sp>
        <p:nvSpPr>
          <p:cNvPr id="26" name="Text 24"/>
          <p:cNvSpPr/>
          <p:nvPr/>
        </p:nvSpPr>
        <p:spPr>
          <a:xfrm>
            <a:off x="13953259" y="3292755"/>
            <a:ext cx="1534364"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EM</a:t>
            </a:r>
            <a:endParaRPr lang="en-US" sz="1800" dirty="0"/>
          </a:p>
        </p:txBody>
      </p:sp>
      <p:sp>
        <p:nvSpPr>
          <p:cNvPr id="27" name="Text 25"/>
          <p:cNvSpPr/>
          <p:nvPr/>
        </p:nvSpPr>
        <p:spPr>
          <a:xfrm>
            <a:off x="15640022" y="3292755"/>
            <a:ext cx="1543091" cy="392379"/>
          </a:xfrm>
          <a:prstGeom prst="rect">
            <a:avLst/>
          </a:prstGeom>
          <a:noFill/>
          <a:ln/>
        </p:spPr>
        <p:txBody>
          <a:bodyPr wrap="square" lIns="25400" tIns="25400" rIns="25400" bIns="25400" rtlCol="0" anchor="t">
            <a:normAutofit/>
          </a:bodyPr>
          <a:lstStyle/>
          <a:p>
            <a:pPr marL="0" indent="0" algn="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8" name="Shape 26"/>
          <p:cNvSpPr/>
          <p:nvPr/>
        </p:nvSpPr>
        <p:spPr>
          <a:xfrm>
            <a:off x="990586" y="3742283"/>
            <a:ext cx="16306827" cy="19009"/>
          </a:xfrm>
          <a:prstGeom prst="rect">
            <a:avLst/>
          </a:prstGeom>
          <a:solidFill>
            <a:srgbClr val="201E1D"/>
          </a:solidFill>
          <a:ln/>
        </p:spPr>
        <p:txBody>
          <a:bodyPr/>
          <a:lstStyle/>
          <a:p>
            <a:endParaRPr lang="en-US"/>
          </a:p>
        </p:txBody>
      </p:sp>
      <p:sp>
        <p:nvSpPr>
          <p:cNvPr id="29" name="Text 27"/>
          <p:cNvSpPr/>
          <p:nvPr/>
        </p:nvSpPr>
        <p:spPr>
          <a:xfrm>
            <a:off x="990586" y="3856543"/>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Zero-Shot</a:t>
            </a:r>
            <a:endParaRPr lang="en-US" sz="1950" dirty="0"/>
          </a:p>
        </p:txBody>
      </p:sp>
      <p:sp>
        <p:nvSpPr>
          <p:cNvPr id="30" name="Shape 28"/>
          <p:cNvSpPr/>
          <p:nvPr/>
        </p:nvSpPr>
        <p:spPr>
          <a:xfrm>
            <a:off x="3733759" y="3761293"/>
            <a:ext cx="9525" cy="574341"/>
          </a:xfrm>
          <a:prstGeom prst="rect">
            <a:avLst/>
          </a:prstGeom>
          <a:solidFill>
            <a:srgbClr val="201E1D">
              <a:alpha val="25000"/>
            </a:srgbClr>
          </a:solidFill>
          <a:ln/>
        </p:spPr>
        <p:txBody>
          <a:bodyPr/>
          <a:lstStyle/>
          <a:p>
            <a:endParaRPr lang="en-US"/>
          </a:p>
        </p:txBody>
      </p:sp>
      <p:sp>
        <p:nvSpPr>
          <p:cNvPr id="31" name="Text 29"/>
          <p:cNvSpPr/>
          <p:nvPr/>
        </p:nvSpPr>
        <p:spPr>
          <a:xfrm>
            <a:off x="3780518" y="3856543"/>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22.0</a:t>
            </a:r>
            <a:endParaRPr lang="en-US" sz="1950" dirty="0"/>
          </a:p>
        </p:txBody>
      </p:sp>
      <p:sp>
        <p:nvSpPr>
          <p:cNvPr id="32" name="Text 30"/>
          <p:cNvSpPr/>
          <p:nvPr/>
        </p:nvSpPr>
        <p:spPr>
          <a:xfrm>
            <a:off x="5467282" y="3856543"/>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41.3</a:t>
            </a:r>
            <a:endParaRPr lang="en-US" sz="1950" dirty="0"/>
          </a:p>
        </p:txBody>
      </p:sp>
      <p:sp>
        <p:nvSpPr>
          <p:cNvPr id="33" name="Shape 31"/>
          <p:cNvSpPr/>
          <p:nvPr/>
        </p:nvSpPr>
        <p:spPr>
          <a:xfrm>
            <a:off x="7124673" y="3761293"/>
            <a:ext cx="9525" cy="574341"/>
          </a:xfrm>
          <a:prstGeom prst="rect">
            <a:avLst/>
          </a:prstGeom>
          <a:solidFill>
            <a:srgbClr val="201E1D">
              <a:alpha val="25000"/>
            </a:srgbClr>
          </a:solidFill>
          <a:ln/>
        </p:spPr>
        <p:txBody>
          <a:bodyPr/>
          <a:lstStyle/>
          <a:p>
            <a:endParaRPr lang="en-US"/>
          </a:p>
        </p:txBody>
      </p:sp>
      <p:sp>
        <p:nvSpPr>
          <p:cNvPr id="34" name="Text 32"/>
          <p:cNvSpPr/>
          <p:nvPr/>
        </p:nvSpPr>
        <p:spPr>
          <a:xfrm>
            <a:off x="7171432" y="3856543"/>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20.5</a:t>
            </a:r>
            <a:endParaRPr lang="en-US" sz="1950" dirty="0"/>
          </a:p>
        </p:txBody>
      </p:sp>
      <p:sp>
        <p:nvSpPr>
          <p:cNvPr id="35" name="Text 33"/>
          <p:cNvSpPr/>
          <p:nvPr/>
        </p:nvSpPr>
        <p:spPr>
          <a:xfrm>
            <a:off x="8858195" y="3856543"/>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47.9</a:t>
            </a:r>
            <a:endParaRPr lang="en-US" sz="1950" dirty="0"/>
          </a:p>
        </p:txBody>
      </p:sp>
      <p:sp>
        <p:nvSpPr>
          <p:cNvPr id="36" name="Shape 34"/>
          <p:cNvSpPr/>
          <p:nvPr/>
        </p:nvSpPr>
        <p:spPr>
          <a:xfrm>
            <a:off x="10515586" y="3761293"/>
            <a:ext cx="9525" cy="574341"/>
          </a:xfrm>
          <a:prstGeom prst="rect">
            <a:avLst/>
          </a:prstGeom>
          <a:solidFill>
            <a:srgbClr val="201E1D">
              <a:alpha val="25000"/>
            </a:srgbClr>
          </a:solidFill>
          <a:ln/>
        </p:spPr>
        <p:txBody>
          <a:bodyPr/>
          <a:lstStyle/>
          <a:p>
            <a:endParaRPr lang="en-US"/>
          </a:p>
        </p:txBody>
      </p:sp>
      <p:sp>
        <p:nvSpPr>
          <p:cNvPr id="37" name="Text 35"/>
          <p:cNvSpPr/>
          <p:nvPr/>
        </p:nvSpPr>
        <p:spPr>
          <a:xfrm>
            <a:off x="10562345" y="3856543"/>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28.3</a:t>
            </a:r>
            <a:endParaRPr lang="en-US" sz="1950" dirty="0"/>
          </a:p>
        </p:txBody>
      </p:sp>
      <p:sp>
        <p:nvSpPr>
          <p:cNvPr id="38" name="Text 36"/>
          <p:cNvSpPr/>
          <p:nvPr/>
        </p:nvSpPr>
        <p:spPr>
          <a:xfrm>
            <a:off x="12249109" y="3856543"/>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53.5</a:t>
            </a:r>
            <a:endParaRPr lang="en-US" sz="1950" dirty="0"/>
          </a:p>
        </p:txBody>
      </p:sp>
      <p:sp>
        <p:nvSpPr>
          <p:cNvPr id="39" name="Shape 37"/>
          <p:cNvSpPr/>
          <p:nvPr/>
        </p:nvSpPr>
        <p:spPr>
          <a:xfrm>
            <a:off x="13906500" y="3761293"/>
            <a:ext cx="9525" cy="574341"/>
          </a:xfrm>
          <a:prstGeom prst="rect">
            <a:avLst/>
          </a:prstGeom>
          <a:solidFill>
            <a:srgbClr val="201E1D">
              <a:alpha val="25000"/>
            </a:srgbClr>
          </a:solidFill>
          <a:ln/>
        </p:spPr>
        <p:txBody>
          <a:bodyPr/>
          <a:lstStyle/>
          <a:p>
            <a:endParaRPr lang="en-US"/>
          </a:p>
        </p:txBody>
      </p:sp>
      <p:sp>
        <p:nvSpPr>
          <p:cNvPr id="40" name="Text 38"/>
          <p:cNvSpPr/>
          <p:nvPr/>
        </p:nvSpPr>
        <p:spPr>
          <a:xfrm>
            <a:off x="13953259" y="3856543"/>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13.0</a:t>
            </a:r>
            <a:endParaRPr lang="en-US" sz="1950" dirty="0"/>
          </a:p>
        </p:txBody>
      </p:sp>
      <p:sp>
        <p:nvSpPr>
          <p:cNvPr id="41" name="Text 39"/>
          <p:cNvSpPr/>
          <p:nvPr/>
        </p:nvSpPr>
        <p:spPr>
          <a:xfrm>
            <a:off x="15640022" y="3856543"/>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40.2</a:t>
            </a:r>
            <a:endParaRPr lang="en-US" sz="1950" dirty="0"/>
          </a:p>
        </p:txBody>
      </p:sp>
      <p:sp>
        <p:nvSpPr>
          <p:cNvPr id="42" name="Text 40"/>
          <p:cNvSpPr/>
          <p:nvPr/>
        </p:nvSpPr>
        <p:spPr>
          <a:xfrm>
            <a:off x="990586" y="4430884"/>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CoT</a:t>
            </a:r>
            <a:endParaRPr lang="en-US" sz="1950" dirty="0"/>
          </a:p>
        </p:txBody>
      </p:sp>
      <p:sp>
        <p:nvSpPr>
          <p:cNvPr id="43" name="Shape 41"/>
          <p:cNvSpPr/>
          <p:nvPr/>
        </p:nvSpPr>
        <p:spPr>
          <a:xfrm>
            <a:off x="3733759" y="4335634"/>
            <a:ext cx="9525" cy="574341"/>
          </a:xfrm>
          <a:prstGeom prst="rect">
            <a:avLst/>
          </a:prstGeom>
          <a:solidFill>
            <a:srgbClr val="201E1D">
              <a:alpha val="25000"/>
            </a:srgbClr>
          </a:solidFill>
          <a:ln/>
        </p:spPr>
        <p:txBody>
          <a:bodyPr/>
          <a:lstStyle/>
          <a:p>
            <a:endParaRPr lang="en-US"/>
          </a:p>
        </p:txBody>
      </p:sp>
      <p:sp>
        <p:nvSpPr>
          <p:cNvPr id="44" name="Text 42"/>
          <p:cNvSpPr/>
          <p:nvPr/>
        </p:nvSpPr>
        <p:spPr>
          <a:xfrm>
            <a:off x="3780518" y="4430884"/>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40.0</a:t>
            </a:r>
            <a:endParaRPr lang="en-US" sz="1950" dirty="0"/>
          </a:p>
        </p:txBody>
      </p:sp>
      <p:sp>
        <p:nvSpPr>
          <p:cNvPr id="45" name="Text 43"/>
          <p:cNvSpPr/>
          <p:nvPr/>
        </p:nvSpPr>
        <p:spPr>
          <a:xfrm>
            <a:off x="5467282" y="4430884"/>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52.8</a:t>
            </a:r>
            <a:endParaRPr lang="en-US" sz="1950" dirty="0"/>
          </a:p>
        </p:txBody>
      </p:sp>
      <p:sp>
        <p:nvSpPr>
          <p:cNvPr id="46" name="Shape 44"/>
          <p:cNvSpPr/>
          <p:nvPr/>
        </p:nvSpPr>
        <p:spPr>
          <a:xfrm>
            <a:off x="7124673" y="4335634"/>
            <a:ext cx="9525" cy="574341"/>
          </a:xfrm>
          <a:prstGeom prst="rect">
            <a:avLst/>
          </a:prstGeom>
          <a:solidFill>
            <a:srgbClr val="201E1D">
              <a:alpha val="25000"/>
            </a:srgbClr>
          </a:solidFill>
          <a:ln/>
        </p:spPr>
        <p:txBody>
          <a:bodyPr/>
          <a:lstStyle/>
          <a:p>
            <a:endParaRPr lang="en-US"/>
          </a:p>
        </p:txBody>
      </p:sp>
      <p:sp>
        <p:nvSpPr>
          <p:cNvPr id="47" name="Text 45"/>
          <p:cNvSpPr/>
          <p:nvPr/>
        </p:nvSpPr>
        <p:spPr>
          <a:xfrm>
            <a:off x="7171432" y="4430884"/>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49.5</a:t>
            </a:r>
            <a:endParaRPr lang="en-US" sz="1950" dirty="0"/>
          </a:p>
        </p:txBody>
      </p:sp>
      <p:sp>
        <p:nvSpPr>
          <p:cNvPr id="48" name="Text 46"/>
          <p:cNvSpPr/>
          <p:nvPr/>
        </p:nvSpPr>
        <p:spPr>
          <a:xfrm>
            <a:off x="8858195" y="4430884"/>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57.6</a:t>
            </a:r>
            <a:endParaRPr lang="en-US" sz="1950" dirty="0"/>
          </a:p>
        </p:txBody>
      </p:sp>
      <p:sp>
        <p:nvSpPr>
          <p:cNvPr id="49" name="Shape 47"/>
          <p:cNvSpPr/>
          <p:nvPr/>
        </p:nvSpPr>
        <p:spPr>
          <a:xfrm>
            <a:off x="10515586" y="4335634"/>
            <a:ext cx="9525" cy="574341"/>
          </a:xfrm>
          <a:prstGeom prst="rect">
            <a:avLst/>
          </a:prstGeom>
          <a:solidFill>
            <a:srgbClr val="201E1D">
              <a:alpha val="25000"/>
            </a:srgbClr>
          </a:solidFill>
          <a:ln/>
        </p:spPr>
        <p:txBody>
          <a:bodyPr/>
          <a:lstStyle/>
          <a:p>
            <a:endParaRPr lang="en-US"/>
          </a:p>
        </p:txBody>
      </p:sp>
      <p:sp>
        <p:nvSpPr>
          <p:cNvPr id="50" name="Text 48"/>
          <p:cNvSpPr/>
          <p:nvPr/>
        </p:nvSpPr>
        <p:spPr>
          <a:xfrm>
            <a:off x="10562345" y="4430884"/>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50.0</a:t>
            </a:r>
            <a:endParaRPr lang="en-US" sz="1950" dirty="0"/>
          </a:p>
        </p:txBody>
      </p:sp>
      <p:sp>
        <p:nvSpPr>
          <p:cNvPr id="51" name="Text 49"/>
          <p:cNvSpPr/>
          <p:nvPr/>
        </p:nvSpPr>
        <p:spPr>
          <a:xfrm>
            <a:off x="12249109" y="4430884"/>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59.4</a:t>
            </a:r>
            <a:endParaRPr lang="en-US" sz="1950" dirty="0"/>
          </a:p>
        </p:txBody>
      </p:sp>
      <p:sp>
        <p:nvSpPr>
          <p:cNvPr id="52" name="Shape 50"/>
          <p:cNvSpPr/>
          <p:nvPr/>
        </p:nvSpPr>
        <p:spPr>
          <a:xfrm>
            <a:off x="13906500" y="4335634"/>
            <a:ext cx="9525" cy="574341"/>
          </a:xfrm>
          <a:prstGeom prst="rect">
            <a:avLst/>
          </a:prstGeom>
          <a:solidFill>
            <a:srgbClr val="201E1D">
              <a:alpha val="25000"/>
            </a:srgbClr>
          </a:solidFill>
          <a:ln/>
        </p:spPr>
        <p:txBody>
          <a:bodyPr/>
          <a:lstStyle/>
          <a:p>
            <a:endParaRPr lang="en-US"/>
          </a:p>
        </p:txBody>
      </p:sp>
      <p:sp>
        <p:nvSpPr>
          <p:cNvPr id="53" name="Text 51"/>
          <p:cNvSpPr/>
          <p:nvPr/>
        </p:nvSpPr>
        <p:spPr>
          <a:xfrm>
            <a:off x="13953259" y="4430884"/>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25.6</a:t>
            </a:r>
            <a:endParaRPr lang="en-US" sz="1950" dirty="0"/>
          </a:p>
        </p:txBody>
      </p:sp>
      <p:sp>
        <p:nvSpPr>
          <p:cNvPr id="54" name="Text 52"/>
          <p:cNvSpPr/>
          <p:nvPr/>
        </p:nvSpPr>
        <p:spPr>
          <a:xfrm>
            <a:off x="15640022" y="4430884"/>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47.8</a:t>
            </a:r>
            <a:endParaRPr lang="en-US" sz="1950" dirty="0"/>
          </a:p>
        </p:txBody>
      </p:sp>
      <p:sp>
        <p:nvSpPr>
          <p:cNvPr id="55" name="Text 53"/>
          <p:cNvSpPr/>
          <p:nvPr/>
        </p:nvSpPr>
        <p:spPr>
          <a:xfrm>
            <a:off x="990586" y="5005225"/>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HippoRAG2</a:t>
            </a:r>
            <a:endParaRPr lang="en-US" sz="1950" dirty="0"/>
          </a:p>
        </p:txBody>
      </p:sp>
      <p:sp>
        <p:nvSpPr>
          <p:cNvPr id="56" name="Shape 54"/>
          <p:cNvSpPr/>
          <p:nvPr/>
        </p:nvSpPr>
        <p:spPr>
          <a:xfrm>
            <a:off x="3733759" y="4909975"/>
            <a:ext cx="9525" cy="574341"/>
          </a:xfrm>
          <a:prstGeom prst="rect">
            <a:avLst/>
          </a:prstGeom>
          <a:solidFill>
            <a:srgbClr val="201E1D">
              <a:alpha val="25000"/>
            </a:srgbClr>
          </a:solidFill>
          <a:ln/>
        </p:spPr>
        <p:txBody>
          <a:bodyPr/>
          <a:lstStyle/>
          <a:p>
            <a:endParaRPr lang="en-US"/>
          </a:p>
        </p:txBody>
      </p:sp>
      <p:sp>
        <p:nvSpPr>
          <p:cNvPr id="57" name="Text 55"/>
          <p:cNvSpPr/>
          <p:nvPr/>
        </p:nvSpPr>
        <p:spPr>
          <a:xfrm>
            <a:off x="3780518" y="5005225"/>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46.0</a:t>
            </a:r>
            <a:endParaRPr lang="en-US" sz="1950" dirty="0"/>
          </a:p>
        </p:txBody>
      </p:sp>
      <p:sp>
        <p:nvSpPr>
          <p:cNvPr id="58" name="Text 56"/>
          <p:cNvSpPr/>
          <p:nvPr/>
        </p:nvSpPr>
        <p:spPr>
          <a:xfrm>
            <a:off x="5467282" y="5005225"/>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67.6</a:t>
            </a:r>
            <a:endParaRPr lang="en-US" sz="1950" dirty="0"/>
          </a:p>
        </p:txBody>
      </p:sp>
      <p:sp>
        <p:nvSpPr>
          <p:cNvPr id="59" name="Shape 57"/>
          <p:cNvSpPr/>
          <p:nvPr/>
        </p:nvSpPr>
        <p:spPr>
          <a:xfrm>
            <a:off x="7124673" y="4909975"/>
            <a:ext cx="9525" cy="574341"/>
          </a:xfrm>
          <a:prstGeom prst="rect">
            <a:avLst/>
          </a:prstGeom>
          <a:solidFill>
            <a:srgbClr val="201E1D">
              <a:alpha val="25000"/>
            </a:srgbClr>
          </a:solidFill>
          <a:ln/>
        </p:spPr>
        <p:txBody>
          <a:bodyPr/>
          <a:lstStyle/>
          <a:p>
            <a:endParaRPr lang="en-US"/>
          </a:p>
        </p:txBody>
      </p:sp>
      <p:sp>
        <p:nvSpPr>
          <p:cNvPr id="60" name="Text 58"/>
          <p:cNvSpPr/>
          <p:nvPr/>
        </p:nvSpPr>
        <p:spPr>
          <a:xfrm>
            <a:off x="7171432" y="5005225"/>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45.0</a:t>
            </a:r>
            <a:endParaRPr lang="en-US" sz="1950" dirty="0"/>
          </a:p>
        </p:txBody>
      </p:sp>
      <p:sp>
        <p:nvSpPr>
          <p:cNvPr id="61" name="Text 59"/>
          <p:cNvSpPr/>
          <p:nvPr/>
        </p:nvSpPr>
        <p:spPr>
          <a:xfrm>
            <a:off x="8858195" y="5005225"/>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60.8</a:t>
            </a:r>
            <a:endParaRPr lang="en-US" sz="1950" dirty="0"/>
          </a:p>
        </p:txBody>
      </p:sp>
      <p:sp>
        <p:nvSpPr>
          <p:cNvPr id="62" name="Shape 60"/>
          <p:cNvSpPr/>
          <p:nvPr/>
        </p:nvSpPr>
        <p:spPr>
          <a:xfrm>
            <a:off x="10515586" y="4909975"/>
            <a:ext cx="9525" cy="574341"/>
          </a:xfrm>
          <a:prstGeom prst="rect">
            <a:avLst/>
          </a:prstGeom>
          <a:solidFill>
            <a:srgbClr val="201E1D">
              <a:alpha val="25000"/>
            </a:srgbClr>
          </a:solidFill>
          <a:ln/>
        </p:spPr>
        <p:txBody>
          <a:bodyPr/>
          <a:lstStyle/>
          <a:p>
            <a:endParaRPr lang="en-US"/>
          </a:p>
        </p:txBody>
      </p:sp>
      <p:sp>
        <p:nvSpPr>
          <p:cNvPr id="63" name="Text 61"/>
          <p:cNvSpPr/>
          <p:nvPr/>
        </p:nvSpPr>
        <p:spPr>
          <a:xfrm>
            <a:off x="10562345" y="5005225"/>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48.6</a:t>
            </a:r>
            <a:endParaRPr lang="en-US" sz="1950" dirty="0"/>
          </a:p>
        </p:txBody>
      </p:sp>
      <p:sp>
        <p:nvSpPr>
          <p:cNvPr id="64" name="Text 62"/>
          <p:cNvSpPr/>
          <p:nvPr/>
        </p:nvSpPr>
        <p:spPr>
          <a:xfrm>
            <a:off x="12249109" y="5005225"/>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72.8</a:t>
            </a:r>
            <a:endParaRPr lang="en-US" sz="1950" dirty="0"/>
          </a:p>
        </p:txBody>
      </p:sp>
      <p:sp>
        <p:nvSpPr>
          <p:cNvPr id="65" name="Shape 63"/>
          <p:cNvSpPr/>
          <p:nvPr/>
        </p:nvSpPr>
        <p:spPr>
          <a:xfrm>
            <a:off x="13906500" y="4909975"/>
            <a:ext cx="9525" cy="574341"/>
          </a:xfrm>
          <a:prstGeom prst="rect">
            <a:avLst/>
          </a:prstGeom>
          <a:solidFill>
            <a:srgbClr val="201E1D">
              <a:alpha val="25000"/>
            </a:srgbClr>
          </a:solidFill>
          <a:ln/>
        </p:spPr>
        <p:txBody>
          <a:bodyPr/>
          <a:lstStyle/>
          <a:p>
            <a:endParaRPr lang="en-US"/>
          </a:p>
        </p:txBody>
      </p:sp>
      <p:sp>
        <p:nvSpPr>
          <p:cNvPr id="66" name="Text 64"/>
          <p:cNvSpPr/>
          <p:nvPr/>
        </p:nvSpPr>
        <p:spPr>
          <a:xfrm>
            <a:off x="13953259" y="5005225"/>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22.6</a:t>
            </a:r>
            <a:endParaRPr lang="en-US" sz="1950" dirty="0"/>
          </a:p>
        </p:txBody>
      </p:sp>
      <p:sp>
        <p:nvSpPr>
          <p:cNvPr id="67" name="Text 65"/>
          <p:cNvSpPr/>
          <p:nvPr/>
        </p:nvSpPr>
        <p:spPr>
          <a:xfrm>
            <a:off x="15640022" y="5005225"/>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43.6</a:t>
            </a:r>
            <a:endParaRPr lang="en-US" sz="1950" dirty="0"/>
          </a:p>
        </p:txBody>
      </p:sp>
      <p:sp>
        <p:nvSpPr>
          <p:cNvPr id="68" name="Text 66"/>
          <p:cNvSpPr/>
          <p:nvPr/>
        </p:nvSpPr>
        <p:spPr>
          <a:xfrm>
            <a:off x="990586" y="5579566"/>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MKRAG</a:t>
            </a:r>
            <a:endParaRPr lang="en-US" sz="1950" dirty="0"/>
          </a:p>
        </p:txBody>
      </p:sp>
      <p:sp>
        <p:nvSpPr>
          <p:cNvPr id="69" name="Shape 67"/>
          <p:cNvSpPr/>
          <p:nvPr/>
        </p:nvSpPr>
        <p:spPr>
          <a:xfrm>
            <a:off x="3733759" y="5484316"/>
            <a:ext cx="9525" cy="574341"/>
          </a:xfrm>
          <a:prstGeom prst="rect">
            <a:avLst/>
          </a:prstGeom>
          <a:solidFill>
            <a:srgbClr val="201E1D">
              <a:alpha val="25000"/>
            </a:srgbClr>
          </a:solidFill>
          <a:ln/>
        </p:spPr>
        <p:txBody>
          <a:bodyPr/>
          <a:lstStyle/>
          <a:p>
            <a:endParaRPr lang="en-US"/>
          </a:p>
        </p:txBody>
      </p:sp>
      <p:sp>
        <p:nvSpPr>
          <p:cNvPr id="70" name="Text 68"/>
          <p:cNvSpPr/>
          <p:nvPr/>
        </p:nvSpPr>
        <p:spPr>
          <a:xfrm>
            <a:off x="3780518" y="5579566"/>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60.0</a:t>
            </a:r>
            <a:endParaRPr lang="en-US" sz="1950" dirty="0"/>
          </a:p>
        </p:txBody>
      </p:sp>
      <p:sp>
        <p:nvSpPr>
          <p:cNvPr id="71" name="Text 69"/>
          <p:cNvSpPr/>
          <p:nvPr/>
        </p:nvSpPr>
        <p:spPr>
          <a:xfrm>
            <a:off x="5467282" y="5579566"/>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71.1</a:t>
            </a:r>
            <a:endParaRPr lang="en-US" sz="1950" dirty="0"/>
          </a:p>
        </p:txBody>
      </p:sp>
      <p:sp>
        <p:nvSpPr>
          <p:cNvPr id="72" name="Shape 70"/>
          <p:cNvSpPr/>
          <p:nvPr/>
        </p:nvSpPr>
        <p:spPr>
          <a:xfrm>
            <a:off x="7124673" y="5484316"/>
            <a:ext cx="9525" cy="574341"/>
          </a:xfrm>
          <a:prstGeom prst="rect">
            <a:avLst/>
          </a:prstGeom>
          <a:solidFill>
            <a:srgbClr val="201E1D">
              <a:alpha val="25000"/>
            </a:srgbClr>
          </a:solidFill>
          <a:ln/>
        </p:spPr>
        <p:txBody>
          <a:bodyPr/>
          <a:lstStyle/>
          <a:p>
            <a:endParaRPr lang="en-US"/>
          </a:p>
        </p:txBody>
      </p:sp>
      <p:sp>
        <p:nvSpPr>
          <p:cNvPr id="73" name="Text 71"/>
          <p:cNvSpPr/>
          <p:nvPr/>
        </p:nvSpPr>
        <p:spPr>
          <a:xfrm>
            <a:off x="7171432" y="5579566"/>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51.3</a:t>
            </a:r>
            <a:endParaRPr lang="en-US" sz="1950" dirty="0"/>
          </a:p>
        </p:txBody>
      </p:sp>
      <p:sp>
        <p:nvSpPr>
          <p:cNvPr id="74" name="Text 72"/>
          <p:cNvSpPr/>
          <p:nvPr/>
        </p:nvSpPr>
        <p:spPr>
          <a:xfrm>
            <a:off x="8858195" y="5579566"/>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65.6</a:t>
            </a:r>
            <a:endParaRPr lang="en-US" sz="1950" dirty="0"/>
          </a:p>
        </p:txBody>
      </p:sp>
      <p:sp>
        <p:nvSpPr>
          <p:cNvPr id="75" name="Shape 73"/>
          <p:cNvSpPr/>
          <p:nvPr/>
        </p:nvSpPr>
        <p:spPr>
          <a:xfrm>
            <a:off x="10515586" y="5484316"/>
            <a:ext cx="9525" cy="574341"/>
          </a:xfrm>
          <a:prstGeom prst="rect">
            <a:avLst/>
          </a:prstGeom>
          <a:solidFill>
            <a:srgbClr val="201E1D">
              <a:alpha val="25000"/>
            </a:srgbClr>
          </a:solidFill>
          <a:ln/>
        </p:spPr>
        <p:txBody>
          <a:bodyPr/>
          <a:lstStyle/>
          <a:p>
            <a:endParaRPr lang="en-US"/>
          </a:p>
        </p:txBody>
      </p:sp>
      <p:sp>
        <p:nvSpPr>
          <p:cNvPr id="76" name="Text 74"/>
          <p:cNvSpPr/>
          <p:nvPr/>
        </p:nvSpPr>
        <p:spPr>
          <a:xfrm>
            <a:off x="10562345" y="5579566"/>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62.9</a:t>
            </a:r>
            <a:endParaRPr lang="en-US" sz="1950" dirty="0"/>
          </a:p>
        </p:txBody>
      </p:sp>
      <p:sp>
        <p:nvSpPr>
          <p:cNvPr id="77" name="Text 75"/>
          <p:cNvSpPr/>
          <p:nvPr/>
        </p:nvSpPr>
        <p:spPr>
          <a:xfrm>
            <a:off x="12249109" y="5579566"/>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79.3</a:t>
            </a:r>
            <a:endParaRPr lang="en-US" sz="1950" dirty="0"/>
          </a:p>
        </p:txBody>
      </p:sp>
      <p:sp>
        <p:nvSpPr>
          <p:cNvPr id="78" name="Shape 76"/>
          <p:cNvSpPr/>
          <p:nvPr/>
        </p:nvSpPr>
        <p:spPr>
          <a:xfrm>
            <a:off x="13906500" y="5484316"/>
            <a:ext cx="9525" cy="574341"/>
          </a:xfrm>
          <a:prstGeom prst="rect">
            <a:avLst/>
          </a:prstGeom>
          <a:solidFill>
            <a:srgbClr val="201E1D">
              <a:alpha val="25000"/>
            </a:srgbClr>
          </a:solidFill>
          <a:ln/>
        </p:spPr>
        <p:txBody>
          <a:bodyPr/>
          <a:lstStyle/>
          <a:p>
            <a:endParaRPr lang="en-US"/>
          </a:p>
        </p:txBody>
      </p:sp>
      <p:sp>
        <p:nvSpPr>
          <p:cNvPr id="79" name="Text 77"/>
          <p:cNvSpPr/>
          <p:nvPr/>
        </p:nvSpPr>
        <p:spPr>
          <a:xfrm>
            <a:off x="13953259" y="5579566"/>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28.8</a:t>
            </a:r>
            <a:endParaRPr lang="en-US" sz="1950" dirty="0"/>
          </a:p>
        </p:txBody>
      </p:sp>
      <p:sp>
        <p:nvSpPr>
          <p:cNvPr id="80" name="Text 78"/>
          <p:cNvSpPr/>
          <p:nvPr/>
        </p:nvSpPr>
        <p:spPr>
          <a:xfrm>
            <a:off x="15640022" y="5579566"/>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55.4</a:t>
            </a:r>
            <a:endParaRPr lang="en-US" sz="1950" dirty="0"/>
          </a:p>
        </p:txBody>
      </p:sp>
      <p:sp>
        <p:nvSpPr>
          <p:cNvPr id="81" name="Text 79"/>
          <p:cNvSpPr/>
          <p:nvPr/>
        </p:nvSpPr>
        <p:spPr>
          <a:xfrm>
            <a:off x="990586" y="6153908"/>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RAG</a:t>
            </a:r>
            <a:endParaRPr lang="en-US" sz="1950" dirty="0"/>
          </a:p>
        </p:txBody>
      </p:sp>
      <p:sp>
        <p:nvSpPr>
          <p:cNvPr id="82" name="Shape 80"/>
          <p:cNvSpPr/>
          <p:nvPr/>
        </p:nvSpPr>
        <p:spPr>
          <a:xfrm>
            <a:off x="3733759" y="6058658"/>
            <a:ext cx="9525" cy="574341"/>
          </a:xfrm>
          <a:prstGeom prst="rect">
            <a:avLst/>
          </a:prstGeom>
          <a:solidFill>
            <a:srgbClr val="201E1D">
              <a:alpha val="25000"/>
            </a:srgbClr>
          </a:solidFill>
          <a:ln/>
        </p:spPr>
        <p:txBody>
          <a:bodyPr/>
          <a:lstStyle/>
          <a:p>
            <a:endParaRPr lang="en-US"/>
          </a:p>
        </p:txBody>
      </p:sp>
      <p:sp>
        <p:nvSpPr>
          <p:cNvPr id="83" name="Text 81"/>
          <p:cNvSpPr/>
          <p:nvPr/>
        </p:nvSpPr>
        <p:spPr>
          <a:xfrm>
            <a:off x="3780518" y="6153908"/>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44.0</a:t>
            </a:r>
            <a:endParaRPr lang="en-US" sz="1950" dirty="0"/>
          </a:p>
        </p:txBody>
      </p:sp>
      <p:sp>
        <p:nvSpPr>
          <p:cNvPr id="84" name="Text 82"/>
          <p:cNvSpPr/>
          <p:nvPr/>
        </p:nvSpPr>
        <p:spPr>
          <a:xfrm>
            <a:off x="5467282" y="6153908"/>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52.4</a:t>
            </a:r>
            <a:endParaRPr lang="en-US" sz="1950" dirty="0"/>
          </a:p>
        </p:txBody>
      </p:sp>
      <p:sp>
        <p:nvSpPr>
          <p:cNvPr id="85" name="Shape 83"/>
          <p:cNvSpPr/>
          <p:nvPr/>
        </p:nvSpPr>
        <p:spPr>
          <a:xfrm>
            <a:off x="7124673" y="6058658"/>
            <a:ext cx="9525" cy="574341"/>
          </a:xfrm>
          <a:prstGeom prst="rect">
            <a:avLst/>
          </a:prstGeom>
          <a:solidFill>
            <a:srgbClr val="201E1D">
              <a:alpha val="25000"/>
            </a:srgbClr>
          </a:solidFill>
          <a:ln/>
        </p:spPr>
        <p:txBody>
          <a:bodyPr/>
          <a:lstStyle/>
          <a:p>
            <a:endParaRPr lang="en-US"/>
          </a:p>
        </p:txBody>
      </p:sp>
      <p:sp>
        <p:nvSpPr>
          <p:cNvPr id="86" name="Text 84"/>
          <p:cNvSpPr/>
          <p:nvPr/>
        </p:nvSpPr>
        <p:spPr>
          <a:xfrm>
            <a:off x="7171432" y="6153908"/>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51.3</a:t>
            </a:r>
            <a:endParaRPr lang="en-US" sz="1950" dirty="0"/>
          </a:p>
        </p:txBody>
      </p:sp>
      <p:sp>
        <p:nvSpPr>
          <p:cNvPr id="87" name="Text 85"/>
          <p:cNvSpPr/>
          <p:nvPr/>
        </p:nvSpPr>
        <p:spPr>
          <a:xfrm>
            <a:off x="8858195" y="6153908"/>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62.6</a:t>
            </a:r>
            <a:endParaRPr lang="en-US" sz="1950" dirty="0"/>
          </a:p>
        </p:txBody>
      </p:sp>
      <p:sp>
        <p:nvSpPr>
          <p:cNvPr id="88" name="Shape 86"/>
          <p:cNvSpPr/>
          <p:nvPr/>
        </p:nvSpPr>
        <p:spPr>
          <a:xfrm>
            <a:off x="10515586" y="6058658"/>
            <a:ext cx="9525" cy="574341"/>
          </a:xfrm>
          <a:prstGeom prst="rect">
            <a:avLst/>
          </a:prstGeom>
          <a:solidFill>
            <a:srgbClr val="201E1D">
              <a:alpha val="25000"/>
            </a:srgbClr>
          </a:solidFill>
          <a:ln/>
        </p:spPr>
        <p:txBody>
          <a:bodyPr/>
          <a:lstStyle/>
          <a:p>
            <a:endParaRPr lang="en-US"/>
          </a:p>
        </p:txBody>
      </p:sp>
      <p:sp>
        <p:nvSpPr>
          <p:cNvPr id="89" name="Text 87"/>
          <p:cNvSpPr/>
          <p:nvPr/>
        </p:nvSpPr>
        <p:spPr>
          <a:xfrm>
            <a:off x="10562345" y="6153908"/>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45.7</a:t>
            </a:r>
            <a:endParaRPr lang="en-US" sz="1950" dirty="0"/>
          </a:p>
        </p:txBody>
      </p:sp>
      <p:sp>
        <p:nvSpPr>
          <p:cNvPr id="90" name="Text 88"/>
          <p:cNvSpPr/>
          <p:nvPr/>
        </p:nvSpPr>
        <p:spPr>
          <a:xfrm>
            <a:off x="12249109" y="6153908"/>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55.0</a:t>
            </a:r>
            <a:endParaRPr lang="en-US" sz="1950" dirty="0"/>
          </a:p>
        </p:txBody>
      </p:sp>
      <p:sp>
        <p:nvSpPr>
          <p:cNvPr id="91" name="Shape 89"/>
          <p:cNvSpPr/>
          <p:nvPr/>
        </p:nvSpPr>
        <p:spPr>
          <a:xfrm>
            <a:off x="13906500" y="6058658"/>
            <a:ext cx="9525" cy="574341"/>
          </a:xfrm>
          <a:prstGeom prst="rect">
            <a:avLst/>
          </a:prstGeom>
          <a:solidFill>
            <a:srgbClr val="201E1D">
              <a:alpha val="25000"/>
            </a:srgbClr>
          </a:solidFill>
          <a:ln/>
        </p:spPr>
        <p:txBody>
          <a:bodyPr/>
          <a:lstStyle/>
          <a:p>
            <a:endParaRPr lang="en-US"/>
          </a:p>
        </p:txBody>
      </p:sp>
      <p:sp>
        <p:nvSpPr>
          <p:cNvPr id="92" name="Text 90"/>
          <p:cNvSpPr/>
          <p:nvPr/>
        </p:nvSpPr>
        <p:spPr>
          <a:xfrm>
            <a:off x="13953259" y="6153908"/>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31.8</a:t>
            </a:r>
            <a:endParaRPr lang="en-US" sz="1950" dirty="0"/>
          </a:p>
        </p:txBody>
      </p:sp>
      <p:sp>
        <p:nvSpPr>
          <p:cNvPr id="93" name="Text 91"/>
          <p:cNvSpPr/>
          <p:nvPr/>
        </p:nvSpPr>
        <p:spPr>
          <a:xfrm>
            <a:off x="15640022" y="6153908"/>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54.8</a:t>
            </a:r>
            <a:endParaRPr lang="en-US" sz="1950" dirty="0"/>
          </a:p>
        </p:txBody>
      </p:sp>
      <p:sp>
        <p:nvSpPr>
          <p:cNvPr id="94" name="Text 92"/>
          <p:cNvSpPr/>
          <p:nvPr/>
        </p:nvSpPr>
        <p:spPr>
          <a:xfrm>
            <a:off x="990586" y="6728249"/>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50000"/>
                  </a:srgbClr>
                </a:solidFill>
                <a:latin typeface="Arial" pitchFamily="34" charset="0"/>
                <a:ea typeface="Arial" pitchFamily="34" charset="-122"/>
                <a:cs typeface="Arial" pitchFamily="34" charset="-120"/>
              </a:rPr>
              <a:t>StructRAG</a:t>
            </a:r>
            <a:endParaRPr lang="en-US" sz="1950" dirty="0"/>
          </a:p>
        </p:txBody>
      </p:sp>
      <p:sp>
        <p:nvSpPr>
          <p:cNvPr id="95" name="Shape 93"/>
          <p:cNvSpPr/>
          <p:nvPr/>
        </p:nvSpPr>
        <p:spPr>
          <a:xfrm>
            <a:off x="3733759" y="6632999"/>
            <a:ext cx="9525" cy="574341"/>
          </a:xfrm>
          <a:prstGeom prst="rect">
            <a:avLst/>
          </a:prstGeom>
          <a:solidFill>
            <a:srgbClr val="201E1D">
              <a:alpha val="25000"/>
            </a:srgbClr>
          </a:solidFill>
          <a:ln/>
        </p:spPr>
        <p:txBody>
          <a:bodyPr/>
          <a:lstStyle/>
          <a:p>
            <a:endParaRPr lang="en-US"/>
          </a:p>
        </p:txBody>
      </p:sp>
      <p:sp>
        <p:nvSpPr>
          <p:cNvPr id="96" name="Text 94"/>
          <p:cNvSpPr/>
          <p:nvPr/>
        </p:nvSpPr>
        <p:spPr>
          <a:xfrm>
            <a:off x="3780518" y="6728249"/>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62.0</a:t>
            </a:r>
            <a:endParaRPr lang="en-US" sz="1950" dirty="0"/>
          </a:p>
        </p:txBody>
      </p:sp>
      <p:sp>
        <p:nvSpPr>
          <p:cNvPr id="97" name="Text 95"/>
          <p:cNvSpPr/>
          <p:nvPr/>
        </p:nvSpPr>
        <p:spPr>
          <a:xfrm>
            <a:off x="5467282" y="6728249"/>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71.2</a:t>
            </a:r>
            <a:endParaRPr lang="en-US" sz="1950" dirty="0"/>
          </a:p>
        </p:txBody>
      </p:sp>
      <p:sp>
        <p:nvSpPr>
          <p:cNvPr id="98" name="Shape 96"/>
          <p:cNvSpPr/>
          <p:nvPr/>
        </p:nvSpPr>
        <p:spPr>
          <a:xfrm>
            <a:off x="7124673" y="6632999"/>
            <a:ext cx="9525" cy="574341"/>
          </a:xfrm>
          <a:prstGeom prst="rect">
            <a:avLst/>
          </a:prstGeom>
          <a:solidFill>
            <a:srgbClr val="201E1D">
              <a:alpha val="25000"/>
            </a:srgbClr>
          </a:solidFill>
          <a:ln/>
        </p:spPr>
        <p:txBody>
          <a:bodyPr/>
          <a:lstStyle/>
          <a:p>
            <a:endParaRPr lang="en-US"/>
          </a:p>
        </p:txBody>
      </p:sp>
      <p:sp>
        <p:nvSpPr>
          <p:cNvPr id="99" name="Text 97"/>
          <p:cNvSpPr/>
          <p:nvPr/>
        </p:nvSpPr>
        <p:spPr>
          <a:xfrm>
            <a:off x="7171432" y="6728249"/>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71.8</a:t>
            </a:r>
            <a:endParaRPr lang="en-US" sz="1950" dirty="0"/>
          </a:p>
        </p:txBody>
      </p:sp>
      <p:sp>
        <p:nvSpPr>
          <p:cNvPr id="100" name="Text 98"/>
          <p:cNvSpPr/>
          <p:nvPr/>
        </p:nvSpPr>
        <p:spPr>
          <a:xfrm>
            <a:off x="8858195" y="6728249"/>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79.6</a:t>
            </a:r>
            <a:endParaRPr lang="en-US" sz="1950" dirty="0"/>
          </a:p>
        </p:txBody>
      </p:sp>
      <p:sp>
        <p:nvSpPr>
          <p:cNvPr id="101" name="Shape 99"/>
          <p:cNvSpPr/>
          <p:nvPr/>
        </p:nvSpPr>
        <p:spPr>
          <a:xfrm>
            <a:off x="10515586" y="6632999"/>
            <a:ext cx="9525" cy="574341"/>
          </a:xfrm>
          <a:prstGeom prst="rect">
            <a:avLst/>
          </a:prstGeom>
          <a:solidFill>
            <a:srgbClr val="201E1D">
              <a:alpha val="25000"/>
            </a:srgbClr>
          </a:solidFill>
          <a:ln/>
        </p:spPr>
        <p:txBody>
          <a:bodyPr/>
          <a:lstStyle/>
          <a:p>
            <a:endParaRPr lang="en-US"/>
          </a:p>
        </p:txBody>
      </p:sp>
      <p:sp>
        <p:nvSpPr>
          <p:cNvPr id="102" name="Text 100"/>
          <p:cNvSpPr/>
          <p:nvPr/>
        </p:nvSpPr>
        <p:spPr>
          <a:xfrm>
            <a:off x="10562345" y="6728249"/>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65.7</a:t>
            </a:r>
            <a:endParaRPr lang="en-US" sz="1950" dirty="0"/>
          </a:p>
        </p:txBody>
      </p:sp>
      <p:sp>
        <p:nvSpPr>
          <p:cNvPr id="103" name="Text 101"/>
          <p:cNvSpPr/>
          <p:nvPr/>
        </p:nvSpPr>
        <p:spPr>
          <a:xfrm>
            <a:off x="12249109" y="6728249"/>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78.6</a:t>
            </a:r>
            <a:endParaRPr lang="en-US" sz="1950" dirty="0"/>
          </a:p>
        </p:txBody>
      </p:sp>
      <p:sp>
        <p:nvSpPr>
          <p:cNvPr id="104" name="Shape 102"/>
          <p:cNvSpPr/>
          <p:nvPr/>
        </p:nvSpPr>
        <p:spPr>
          <a:xfrm>
            <a:off x="13906500" y="6632999"/>
            <a:ext cx="9525" cy="574341"/>
          </a:xfrm>
          <a:prstGeom prst="rect">
            <a:avLst/>
          </a:prstGeom>
          <a:solidFill>
            <a:srgbClr val="201E1D">
              <a:alpha val="25000"/>
            </a:srgbClr>
          </a:solidFill>
          <a:ln/>
        </p:spPr>
        <p:txBody>
          <a:bodyPr/>
          <a:lstStyle/>
          <a:p>
            <a:endParaRPr lang="en-US"/>
          </a:p>
        </p:txBody>
      </p:sp>
      <p:sp>
        <p:nvSpPr>
          <p:cNvPr id="105" name="Text 103"/>
          <p:cNvSpPr/>
          <p:nvPr/>
        </p:nvSpPr>
        <p:spPr>
          <a:xfrm>
            <a:off x="13953259" y="6728249"/>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31.8</a:t>
            </a:r>
            <a:endParaRPr lang="en-US" sz="1950" dirty="0"/>
          </a:p>
        </p:txBody>
      </p:sp>
      <p:sp>
        <p:nvSpPr>
          <p:cNvPr id="106" name="Text 104"/>
          <p:cNvSpPr/>
          <p:nvPr/>
        </p:nvSpPr>
        <p:spPr>
          <a:xfrm>
            <a:off x="15640022" y="6728249"/>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50000"/>
                  </a:srgbClr>
                </a:solidFill>
                <a:latin typeface="Courier New" pitchFamily="34" charset="0"/>
                <a:ea typeface="Courier New" pitchFamily="34" charset="-122"/>
                <a:cs typeface="Courier New" pitchFamily="34" charset="-120"/>
              </a:rPr>
              <a:t>55.1</a:t>
            </a:r>
            <a:endParaRPr lang="en-US" sz="1950" dirty="0"/>
          </a:p>
        </p:txBody>
      </p:sp>
      <p:sp>
        <p:nvSpPr>
          <p:cNvPr id="107" name="Text 105"/>
          <p:cNvSpPr/>
          <p:nvPr/>
        </p:nvSpPr>
        <p:spPr>
          <a:xfrm>
            <a:off x="990586" y="7302590"/>
            <a:ext cx="2825468" cy="421941"/>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201E1D">
                    <a:alpha val="72000"/>
                  </a:srgbClr>
                </a:solidFill>
                <a:latin typeface="Arial" pitchFamily="34" charset="0"/>
                <a:ea typeface="Arial" pitchFamily="34" charset="-122"/>
                <a:cs typeface="Arial" pitchFamily="34" charset="-120"/>
              </a:rPr>
              <a:t>MedRAG</a:t>
            </a:r>
            <a:endParaRPr lang="en-US" sz="1950" dirty="0"/>
          </a:p>
        </p:txBody>
      </p:sp>
      <p:sp>
        <p:nvSpPr>
          <p:cNvPr id="108" name="Shape 106"/>
          <p:cNvSpPr/>
          <p:nvPr/>
        </p:nvSpPr>
        <p:spPr>
          <a:xfrm>
            <a:off x="3733759" y="7207340"/>
            <a:ext cx="9525" cy="574341"/>
          </a:xfrm>
          <a:prstGeom prst="rect">
            <a:avLst/>
          </a:prstGeom>
          <a:solidFill>
            <a:srgbClr val="201E1D">
              <a:alpha val="25000"/>
            </a:srgbClr>
          </a:solidFill>
          <a:ln/>
        </p:spPr>
        <p:txBody>
          <a:bodyPr/>
          <a:lstStyle/>
          <a:p>
            <a:endParaRPr lang="en-US"/>
          </a:p>
        </p:txBody>
      </p:sp>
      <p:sp>
        <p:nvSpPr>
          <p:cNvPr id="109" name="Text 107"/>
          <p:cNvSpPr/>
          <p:nvPr/>
        </p:nvSpPr>
        <p:spPr>
          <a:xfrm>
            <a:off x="3780518" y="7302590"/>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57.0</a:t>
            </a:r>
            <a:endParaRPr lang="en-US" sz="1950" dirty="0"/>
          </a:p>
        </p:txBody>
      </p:sp>
      <p:sp>
        <p:nvSpPr>
          <p:cNvPr id="110" name="Text 108"/>
          <p:cNvSpPr/>
          <p:nvPr/>
        </p:nvSpPr>
        <p:spPr>
          <a:xfrm>
            <a:off x="5467282" y="7302590"/>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70.5</a:t>
            </a:r>
            <a:endParaRPr lang="en-US" sz="1950" dirty="0"/>
          </a:p>
        </p:txBody>
      </p:sp>
      <p:sp>
        <p:nvSpPr>
          <p:cNvPr id="111" name="Shape 109"/>
          <p:cNvSpPr/>
          <p:nvPr/>
        </p:nvSpPr>
        <p:spPr>
          <a:xfrm>
            <a:off x="7124673" y="7207340"/>
            <a:ext cx="9525" cy="574341"/>
          </a:xfrm>
          <a:prstGeom prst="rect">
            <a:avLst/>
          </a:prstGeom>
          <a:solidFill>
            <a:srgbClr val="201E1D">
              <a:alpha val="25000"/>
            </a:srgbClr>
          </a:solidFill>
          <a:ln/>
        </p:spPr>
        <p:txBody>
          <a:bodyPr/>
          <a:lstStyle/>
          <a:p>
            <a:endParaRPr lang="en-US"/>
          </a:p>
        </p:txBody>
      </p:sp>
      <p:sp>
        <p:nvSpPr>
          <p:cNvPr id="112" name="Text 110"/>
          <p:cNvSpPr/>
          <p:nvPr/>
        </p:nvSpPr>
        <p:spPr>
          <a:xfrm>
            <a:off x="7171432" y="7302590"/>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75.8</a:t>
            </a:r>
            <a:endParaRPr lang="en-US" sz="1950" dirty="0"/>
          </a:p>
        </p:txBody>
      </p:sp>
      <p:sp>
        <p:nvSpPr>
          <p:cNvPr id="113" name="Text 111"/>
          <p:cNvSpPr/>
          <p:nvPr/>
        </p:nvSpPr>
        <p:spPr>
          <a:xfrm>
            <a:off x="8858195" y="7302590"/>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84.4</a:t>
            </a:r>
            <a:endParaRPr lang="en-US" sz="1950" dirty="0"/>
          </a:p>
        </p:txBody>
      </p:sp>
      <p:sp>
        <p:nvSpPr>
          <p:cNvPr id="114" name="Shape 112"/>
          <p:cNvSpPr/>
          <p:nvPr/>
        </p:nvSpPr>
        <p:spPr>
          <a:xfrm>
            <a:off x="10515586" y="7207340"/>
            <a:ext cx="9525" cy="574341"/>
          </a:xfrm>
          <a:prstGeom prst="rect">
            <a:avLst/>
          </a:prstGeom>
          <a:solidFill>
            <a:srgbClr val="201E1D">
              <a:alpha val="25000"/>
            </a:srgbClr>
          </a:solidFill>
          <a:ln/>
        </p:spPr>
        <p:txBody>
          <a:bodyPr/>
          <a:lstStyle/>
          <a:p>
            <a:endParaRPr lang="en-US"/>
          </a:p>
        </p:txBody>
      </p:sp>
      <p:sp>
        <p:nvSpPr>
          <p:cNvPr id="115" name="Text 113"/>
          <p:cNvSpPr/>
          <p:nvPr/>
        </p:nvSpPr>
        <p:spPr>
          <a:xfrm>
            <a:off x="10562345" y="7302590"/>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74.3</a:t>
            </a:r>
            <a:endParaRPr lang="en-US" sz="1950" dirty="0"/>
          </a:p>
        </p:txBody>
      </p:sp>
      <p:sp>
        <p:nvSpPr>
          <p:cNvPr id="116" name="Text 114"/>
          <p:cNvSpPr/>
          <p:nvPr/>
        </p:nvSpPr>
        <p:spPr>
          <a:xfrm>
            <a:off x="12249109" y="7302590"/>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b="1" dirty="0">
                <a:solidFill>
                  <a:srgbClr val="201E1D">
                    <a:alpha val="72000"/>
                  </a:srgbClr>
                </a:solidFill>
                <a:latin typeface="Courier New" pitchFamily="34" charset="0"/>
                <a:ea typeface="Courier New" pitchFamily="34" charset="-122"/>
                <a:cs typeface="Courier New" pitchFamily="34" charset="-120"/>
              </a:rPr>
              <a:t>89.3</a:t>
            </a:r>
            <a:endParaRPr lang="en-US" sz="1950" b="1" dirty="0"/>
          </a:p>
        </p:txBody>
      </p:sp>
      <p:sp>
        <p:nvSpPr>
          <p:cNvPr id="117" name="Shape 115"/>
          <p:cNvSpPr/>
          <p:nvPr/>
        </p:nvSpPr>
        <p:spPr>
          <a:xfrm>
            <a:off x="13906500" y="7207340"/>
            <a:ext cx="9525" cy="574341"/>
          </a:xfrm>
          <a:prstGeom prst="rect">
            <a:avLst/>
          </a:prstGeom>
          <a:solidFill>
            <a:srgbClr val="201E1D">
              <a:alpha val="25000"/>
            </a:srgbClr>
          </a:solidFill>
          <a:ln/>
        </p:spPr>
        <p:txBody>
          <a:bodyPr/>
          <a:lstStyle/>
          <a:p>
            <a:endParaRPr lang="en-US"/>
          </a:p>
        </p:txBody>
      </p:sp>
      <p:sp>
        <p:nvSpPr>
          <p:cNvPr id="118" name="Text 116"/>
          <p:cNvSpPr/>
          <p:nvPr/>
        </p:nvSpPr>
        <p:spPr>
          <a:xfrm>
            <a:off x="13953259" y="7302590"/>
            <a:ext cx="1534364"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35.4</a:t>
            </a:r>
            <a:endParaRPr lang="en-US" sz="1950" dirty="0"/>
          </a:p>
        </p:txBody>
      </p:sp>
      <p:sp>
        <p:nvSpPr>
          <p:cNvPr id="119" name="Text 117"/>
          <p:cNvSpPr/>
          <p:nvPr/>
        </p:nvSpPr>
        <p:spPr>
          <a:xfrm>
            <a:off x="15640022" y="7302590"/>
            <a:ext cx="1543091" cy="421941"/>
          </a:xfrm>
          <a:prstGeom prst="rect">
            <a:avLst/>
          </a:prstGeom>
          <a:noFill/>
          <a:ln/>
        </p:spPr>
        <p:txBody>
          <a:bodyPr wrap="square" lIns="25400" tIns="25400" rIns="25400" bIns="25400" rtlCol="0" anchor="t">
            <a:normAutofit lnSpcReduction="10000"/>
          </a:bodyPr>
          <a:lstStyle/>
          <a:p>
            <a:pPr marL="0" indent="0" algn="r">
              <a:lnSpc>
                <a:spcPct val="136400"/>
              </a:lnSpc>
              <a:buNone/>
            </a:pPr>
            <a:r>
              <a:rPr lang="en-US" sz="1950" dirty="0">
                <a:solidFill>
                  <a:srgbClr val="201E1D">
                    <a:alpha val="72000"/>
                  </a:srgbClr>
                </a:solidFill>
                <a:latin typeface="Courier New" pitchFamily="34" charset="0"/>
                <a:ea typeface="Courier New" pitchFamily="34" charset="-122"/>
                <a:cs typeface="Courier New" pitchFamily="34" charset="-120"/>
              </a:rPr>
              <a:t>55.5</a:t>
            </a:r>
            <a:endParaRPr lang="en-US" sz="1950" dirty="0"/>
          </a:p>
        </p:txBody>
      </p:sp>
      <p:sp>
        <p:nvSpPr>
          <p:cNvPr id="120" name="Shape 118"/>
          <p:cNvSpPr/>
          <p:nvPr/>
        </p:nvSpPr>
        <p:spPr>
          <a:xfrm>
            <a:off x="990586" y="7781681"/>
            <a:ext cx="16306827" cy="19009"/>
          </a:xfrm>
          <a:prstGeom prst="rect">
            <a:avLst/>
          </a:prstGeom>
          <a:solidFill>
            <a:srgbClr val="3C5F82"/>
          </a:solidFill>
          <a:ln/>
        </p:spPr>
        <p:txBody>
          <a:bodyPr/>
          <a:lstStyle/>
          <a:p>
            <a:endParaRPr lang="en-US"/>
          </a:p>
        </p:txBody>
      </p:sp>
      <p:sp>
        <p:nvSpPr>
          <p:cNvPr id="121" name="Shape 119"/>
          <p:cNvSpPr/>
          <p:nvPr/>
        </p:nvSpPr>
        <p:spPr>
          <a:xfrm>
            <a:off x="990586" y="7800691"/>
            <a:ext cx="2743173" cy="737105"/>
          </a:xfrm>
          <a:prstGeom prst="rect">
            <a:avLst/>
          </a:prstGeom>
          <a:solidFill>
            <a:srgbClr val="E9EFF5"/>
          </a:solidFill>
          <a:ln/>
        </p:spPr>
        <p:txBody>
          <a:bodyPr/>
          <a:lstStyle/>
          <a:p>
            <a:endParaRPr lang="en-US"/>
          </a:p>
        </p:txBody>
      </p:sp>
      <p:sp>
        <p:nvSpPr>
          <p:cNvPr id="122" name="Text 120"/>
          <p:cNvSpPr/>
          <p:nvPr/>
        </p:nvSpPr>
        <p:spPr>
          <a:xfrm>
            <a:off x="990586" y="7953091"/>
            <a:ext cx="2825468" cy="470405"/>
          </a:xfrm>
          <a:prstGeom prst="rect">
            <a:avLst/>
          </a:prstGeom>
          <a:noFill/>
          <a:ln/>
        </p:spPr>
        <p:txBody>
          <a:bodyPr wrap="square" lIns="25400" tIns="25400" rIns="25400" bIns="25400" rtlCol="0" anchor="t">
            <a:normAutofit/>
          </a:bodyPr>
          <a:lstStyle/>
          <a:p>
            <a:pPr marL="0" indent="0" algn="l">
              <a:lnSpc>
                <a:spcPct val="133635"/>
              </a:lnSpc>
              <a:buNone/>
            </a:pPr>
            <a:r>
              <a:rPr lang="en-US" sz="2175" b="1" dirty="0">
                <a:solidFill>
                  <a:srgbClr val="201E1D"/>
                </a:solidFill>
                <a:highlight>
                  <a:srgbClr val="E9EFF5"/>
                </a:highlight>
                <a:latin typeface="Arial" pitchFamily="34" charset="0"/>
                <a:ea typeface="Arial" pitchFamily="34" charset="-122"/>
                <a:cs typeface="Arial" pitchFamily="34" charset="-120"/>
              </a:rPr>
              <a:t>CGR </a:t>
            </a:r>
            <a:r>
              <a:rPr lang="en-US" sz="2175" dirty="0">
                <a:solidFill>
                  <a:srgbClr val="201E1D">
                    <a:alpha val="60000"/>
                  </a:srgbClr>
                </a:solidFill>
                <a:latin typeface="Arial" pitchFamily="34" charset="0"/>
                <a:ea typeface="Arial" pitchFamily="34" charset="-122"/>
                <a:cs typeface="Arial" pitchFamily="34" charset="-120"/>
              </a:rPr>
              <a:t>(ours)</a:t>
            </a:r>
            <a:endParaRPr lang="en-US" sz="2175" dirty="0"/>
          </a:p>
        </p:txBody>
      </p:sp>
      <p:sp>
        <p:nvSpPr>
          <p:cNvPr id="123" name="Shape 121"/>
          <p:cNvSpPr/>
          <p:nvPr/>
        </p:nvSpPr>
        <p:spPr>
          <a:xfrm>
            <a:off x="3733759" y="7805020"/>
            <a:ext cx="1695423" cy="732776"/>
          </a:xfrm>
          <a:prstGeom prst="rect">
            <a:avLst/>
          </a:prstGeom>
          <a:solidFill>
            <a:srgbClr val="E9EFF5"/>
          </a:solidFill>
          <a:ln/>
        </p:spPr>
        <p:txBody>
          <a:bodyPr/>
          <a:lstStyle/>
          <a:p>
            <a:endParaRPr lang="en-US"/>
          </a:p>
        </p:txBody>
      </p:sp>
      <p:sp>
        <p:nvSpPr>
          <p:cNvPr id="124" name="Shape 122"/>
          <p:cNvSpPr/>
          <p:nvPr/>
        </p:nvSpPr>
        <p:spPr>
          <a:xfrm>
            <a:off x="3733759" y="7805020"/>
            <a:ext cx="9525" cy="732776"/>
          </a:xfrm>
          <a:prstGeom prst="rect">
            <a:avLst/>
          </a:prstGeom>
          <a:solidFill>
            <a:srgbClr val="3C5F82">
              <a:alpha val="30000"/>
            </a:srgbClr>
          </a:solidFill>
          <a:ln/>
        </p:spPr>
        <p:txBody>
          <a:bodyPr/>
          <a:lstStyle/>
          <a:p>
            <a:endParaRPr lang="en-US"/>
          </a:p>
        </p:txBody>
      </p:sp>
      <p:sp>
        <p:nvSpPr>
          <p:cNvPr id="125" name="Text 123"/>
          <p:cNvSpPr/>
          <p:nvPr/>
        </p:nvSpPr>
        <p:spPr>
          <a:xfrm>
            <a:off x="3780518" y="7957420"/>
            <a:ext cx="1534364"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82.0</a:t>
            </a:r>
            <a:endParaRPr lang="en-US" sz="2175" dirty="0"/>
          </a:p>
        </p:txBody>
      </p:sp>
      <p:sp>
        <p:nvSpPr>
          <p:cNvPr id="126" name="Shape 124"/>
          <p:cNvSpPr/>
          <p:nvPr/>
        </p:nvSpPr>
        <p:spPr>
          <a:xfrm>
            <a:off x="5429182" y="7805020"/>
            <a:ext cx="1695491" cy="732776"/>
          </a:xfrm>
          <a:prstGeom prst="rect">
            <a:avLst/>
          </a:prstGeom>
          <a:solidFill>
            <a:srgbClr val="E9EFF5"/>
          </a:solidFill>
          <a:ln/>
        </p:spPr>
        <p:txBody>
          <a:bodyPr/>
          <a:lstStyle/>
          <a:p>
            <a:endParaRPr lang="en-US"/>
          </a:p>
        </p:txBody>
      </p:sp>
      <p:sp>
        <p:nvSpPr>
          <p:cNvPr id="127" name="Text 125"/>
          <p:cNvSpPr/>
          <p:nvPr/>
        </p:nvSpPr>
        <p:spPr>
          <a:xfrm>
            <a:off x="5467282" y="7957420"/>
            <a:ext cx="1543091"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86.7</a:t>
            </a:r>
            <a:endParaRPr lang="en-US" sz="2175" dirty="0"/>
          </a:p>
        </p:txBody>
      </p:sp>
      <p:sp>
        <p:nvSpPr>
          <p:cNvPr id="128" name="Shape 126"/>
          <p:cNvSpPr/>
          <p:nvPr/>
        </p:nvSpPr>
        <p:spPr>
          <a:xfrm>
            <a:off x="7124673" y="7805020"/>
            <a:ext cx="1695423" cy="732776"/>
          </a:xfrm>
          <a:prstGeom prst="rect">
            <a:avLst/>
          </a:prstGeom>
          <a:solidFill>
            <a:srgbClr val="E9EFF5"/>
          </a:solidFill>
          <a:ln/>
        </p:spPr>
        <p:txBody>
          <a:bodyPr/>
          <a:lstStyle/>
          <a:p>
            <a:endParaRPr lang="en-US"/>
          </a:p>
        </p:txBody>
      </p:sp>
      <p:sp>
        <p:nvSpPr>
          <p:cNvPr id="129" name="Shape 127"/>
          <p:cNvSpPr/>
          <p:nvPr/>
        </p:nvSpPr>
        <p:spPr>
          <a:xfrm>
            <a:off x="7124673" y="7805020"/>
            <a:ext cx="9525" cy="732776"/>
          </a:xfrm>
          <a:prstGeom prst="rect">
            <a:avLst/>
          </a:prstGeom>
          <a:solidFill>
            <a:srgbClr val="3C5F82">
              <a:alpha val="30000"/>
            </a:srgbClr>
          </a:solidFill>
          <a:ln/>
        </p:spPr>
        <p:txBody>
          <a:bodyPr/>
          <a:lstStyle/>
          <a:p>
            <a:endParaRPr lang="en-US"/>
          </a:p>
        </p:txBody>
      </p:sp>
      <p:sp>
        <p:nvSpPr>
          <p:cNvPr id="130" name="Text 128"/>
          <p:cNvSpPr/>
          <p:nvPr/>
        </p:nvSpPr>
        <p:spPr>
          <a:xfrm>
            <a:off x="7171432" y="7957420"/>
            <a:ext cx="1534364"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86.8</a:t>
            </a:r>
            <a:endParaRPr lang="en-US" sz="2175" dirty="0"/>
          </a:p>
        </p:txBody>
      </p:sp>
      <p:sp>
        <p:nvSpPr>
          <p:cNvPr id="131" name="Shape 129"/>
          <p:cNvSpPr/>
          <p:nvPr/>
        </p:nvSpPr>
        <p:spPr>
          <a:xfrm>
            <a:off x="8820095" y="7805020"/>
            <a:ext cx="1695491" cy="732776"/>
          </a:xfrm>
          <a:prstGeom prst="rect">
            <a:avLst/>
          </a:prstGeom>
          <a:solidFill>
            <a:srgbClr val="E9EFF5"/>
          </a:solidFill>
          <a:ln/>
        </p:spPr>
        <p:txBody>
          <a:bodyPr/>
          <a:lstStyle/>
          <a:p>
            <a:endParaRPr lang="en-US"/>
          </a:p>
        </p:txBody>
      </p:sp>
      <p:sp>
        <p:nvSpPr>
          <p:cNvPr id="132" name="Text 130"/>
          <p:cNvSpPr/>
          <p:nvPr/>
        </p:nvSpPr>
        <p:spPr>
          <a:xfrm>
            <a:off x="8858195" y="7957420"/>
            <a:ext cx="1543091"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89.9</a:t>
            </a:r>
            <a:endParaRPr lang="en-US" sz="2175" dirty="0"/>
          </a:p>
        </p:txBody>
      </p:sp>
      <p:sp>
        <p:nvSpPr>
          <p:cNvPr id="133" name="Shape 131"/>
          <p:cNvSpPr/>
          <p:nvPr/>
        </p:nvSpPr>
        <p:spPr>
          <a:xfrm>
            <a:off x="10515586" y="7805020"/>
            <a:ext cx="1695423" cy="732776"/>
          </a:xfrm>
          <a:prstGeom prst="rect">
            <a:avLst/>
          </a:prstGeom>
          <a:solidFill>
            <a:srgbClr val="E9EFF5"/>
          </a:solidFill>
          <a:ln/>
        </p:spPr>
        <p:txBody>
          <a:bodyPr/>
          <a:lstStyle/>
          <a:p>
            <a:endParaRPr lang="en-US"/>
          </a:p>
        </p:txBody>
      </p:sp>
      <p:sp>
        <p:nvSpPr>
          <p:cNvPr id="134" name="Shape 132"/>
          <p:cNvSpPr/>
          <p:nvPr/>
        </p:nvSpPr>
        <p:spPr>
          <a:xfrm>
            <a:off x="10515586" y="7805020"/>
            <a:ext cx="9525" cy="732776"/>
          </a:xfrm>
          <a:prstGeom prst="rect">
            <a:avLst/>
          </a:prstGeom>
          <a:solidFill>
            <a:srgbClr val="3C5F82">
              <a:alpha val="30000"/>
            </a:srgbClr>
          </a:solidFill>
          <a:ln/>
        </p:spPr>
        <p:txBody>
          <a:bodyPr/>
          <a:lstStyle/>
          <a:p>
            <a:endParaRPr lang="en-US"/>
          </a:p>
        </p:txBody>
      </p:sp>
      <p:sp>
        <p:nvSpPr>
          <p:cNvPr id="135" name="Text 133"/>
          <p:cNvSpPr/>
          <p:nvPr/>
        </p:nvSpPr>
        <p:spPr>
          <a:xfrm>
            <a:off x="10562345" y="7957420"/>
            <a:ext cx="1534364"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80.0</a:t>
            </a:r>
            <a:endParaRPr lang="en-US" sz="2175" dirty="0"/>
          </a:p>
        </p:txBody>
      </p:sp>
      <p:sp>
        <p:nvSpPr>
          <p:cNvPr id="136" name="Shape 134"/>
          <p:cNvSpPr/>
          <p:nvPr/>
        </p:nvSpPr>
        <p:spPr>
          <a:xfrm>
            <a:off x="12211009" y="7805020"/>
            <a:ext cx="1695491" cy="732776"/>
          </a:xfrm>
          <a:prstGeom prst="rect">
            <a:avLst/>
          </a:prstGeom>
          <a:solidFill>
            <a:srgbClr val="E9EFF5"/>
          </a:solidFill>
          <a:ln/>
        </p:spPr>
        <p:txBody>
          <a:bodyPr/>
          <a:lstStyle/>
          <a:p>
            <a:endParaRPr lang="en-US"/>
          </a:p>
        </p:txBody>
      </p:sp>
      <p:sp>
        <p:nvSpPr>
          <p:cNvPr id="137" name="Text 135"/>
          <p:cNvSpPr/>
          <p:nvPr/>
        </p:nvSpPr>
        <p:spPr>
          <a:xfrm>
            <a:off x="12249109" y="7957420"/>
            <a:ext cx="1543091"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dirty="0">
                <a:solidFill>
                  <a:srgbClr val="3C5F82"/>
                </a:solidFill>
                <a:latin typeface="Courier New" pitchFamily="34" charset="0"/>
                <a:ea typeface="Courier New" pitchFamily="34" charset="-122"/>
                <a:cs typeface="Courier New" pitchFamily="34" charset="-120"/>
              </a:rPr>
              <a:t>85.4</a:t>
            </a:r>
            <a:endParaRPr lang="en-US" sz="2175" dirty="0"/>
          </a:p>
        </p:txBody>
      </p:sp>
      <p:sp>
        <p:nvSpPr>
          <p:cNvPr id="138" name="Shape 136"/>
          <p:cNvSpPr/>
          <p:nvPr/>
        </p:nvSpPr>
        <p:spPr>
          <a:xfrm>
            <a:off x="13906500" y="7805020"/>
            <a:ext cx="1695423" cy="732776"/>
          </a:xfrm>
          <a:prstGeom prst="rect">
            <a:avLst/>
          </a:prstGeom>
          <a:solidFill>
            <a:srgbClr val="E9EFF5"/>
          </a:solidFill>
          <a:ln/>
        </p:spPr>
        <p:txBody>
          <a:bodyPr/>
          <a:lstStyle/>
          <a:p>
            <a:endParaRPr lang="en-US"/>
          </a:p>
        </p:txBody>
      </p:sp>
      <p:sp>
        <p:nvSpPr>
          <p:cNvPr id="139" name="Shape 137"/>
          <p:cNvSpPr/>
          <p:nvPr/>
        </p:nvSpPr>
        <p:spPr>
          <a:xfrm>
            <a:off x="13906500" y="7805020"/>
            <a:ext cx="9525" cy="732776"/>
          </a:xfrm>
          <a:prstGeom prst="rect">
            <a:avLst/>
          </a:prstGeom>
          <a:solidFill>
            <a:srgbClr val="3C5F82">
              <a:alpha val="30000"/>
            </a:srgbClr>
          </a:solidFill>
          <a:ln/>
        </p:spPr>
        <p:txBody>
          <a:bodyPr/>
          <a:lstStyle/>
          <a:p>
            <a:endParaRPr lang="en-US"/>
          </a:p>
        </p:txBody>
      </p:sp>
      <p:sp>
        <p:nvSpPr>
          <p:cNvPr id="140" name="Text 138"/>
          <p:cNvSpPr/>
          <p:nvPr/>
        </p:nvSpPr>
        <p:spPr>
          <a:xfrm>
            <a:off x="13953259" y="7957420"/>
            <a:ext cx="1534364"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40.6</a:t>
            </a:r>
            <a:endParaRPr lang="en-US" sz="2175" dirty="0"/>
          </a:p>
        </p:txBody>
      </p:sp>
      <p:sp>
        <p:nvSpPr>
          <p:cNvPr id="141" name="Shape 139"/>
          <p:cNvSpPr/>
          <p:nvPr/>
        </p:nvSpPr>
        <p:spPr>
          <a:xfrm>
            <a:off x="15601922" y="7805020"/>
            <a:ext cx="1695491" cy="732776"/>
          </a:xfrm>
          <a:prstGeom prst="rect">
            <a:avLst/>
          </a:prstGeom>
          <a:solidFill>
            <a:srgbClr val="E9EFF5"/>
          </a:solidFill>
          <a:ln/>
        </p:spPr>
        <p:txBody>
          <a:bodyPr/>
          <a:lstStyle/>
          <a:p>
            <a:endParaRPr lang="en-US"/>
          </a:p>
        </p:txBody>
      </p:sp>
      <p:sp>
        <p:nvSpPr>
          <p:cNvPr id="142" name="Text 140"/>
          <p:cNvSpPr/>
          <p:nvPr/>
        </p:nvSpPr>
        <p:spPr>
          <a:xfrm>
            <a:off x="15640022" y="7957420"/>
            <a:ext cx="1543091"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58.0</a:t>
            </a:r>
            <a:endParaRPr lang="en-US" sz="2175" dirty="0"/>
          </a:p>
        </p:txBody>
      </p:sp>
      <p:sp>
        <p:nvSpPr>
          <p:cNvPr id="143" name="Shape 141"/>
          <p:cNvSpPr/>
          <p:nvPr/>
        </p:nvSpPr>
        <p:spPr>
          <a:xfrm>
            <a:off x="990586" y="8537796"/>
            <a:ext cx="16306827" cy="19009"/>
          </a:xfrm>
          <a:prstGeom prst="rect">
            <a:avLst/>
          </a:prstGeom>
          <a:solidFill>
            <a:srgbClr val="3C5F82"/>
          </a:solidFill>
          <a:ln/>
        </p:spPr>
        <p:txBody>
          <a:bodyPr/>
          <a:lstStyle/>
          <a:p>
            <a:endParaRPr lang="en-US"/>
          </a:p>
        </p:txBody>
      </p:sp>
      <p:sp>
        <p:nvSpPr>
          <p:cNvPr id="144" name="Text 142"/>
          <p:cNvSpPr/>
          <p:nvPr/>
        </p:nvSpPr>
        <p:spPr>
          <a:xfrm>
            <a:off x="990586" y="9029267"/>
            <a:ext cx="12253473" cy="762487"/>
          </a:xfrm>
          <a:prstGeom prst="rect">
            <a:avLst/>
          </a:prstGeom>
          <a:noFill/>
          <a:ln/>
        </p:spPr>
        <p:txBody>
          <a:bodyPr wrap="square" lIns="25400" tIns="25400" rIns="25400" bIns="25400" rtlCol="0" anchor="t">
            <a:normAutofit/>
          </a:bodyPr>
          <a:lstStyle/>
          <a:p>
            <a:pPr marL="0" indent="0" algn="l">
              <a:lnSpc>
                <a:spcPct val="120522"/>
              </a:lnSpc>
              <a:buNone/>
            </a:pPr>
            <a:r>
              <a:rPr lang="en-US" sz="2025" b="1" dirty="0">
                <a:solidFill>
                  <a:srgbClr val="201E1D"/>
                </a:solidFill>
                <a:latin typeface="Arial" pitchFamily="34" charset="0"/>
                <a:ea typeface="Arial" pitchFamily="34" charset="-122"/>
                <a:cs typeface="Arial" pitchFamily="34" charset="-120"/>
              </a:rPr>
              <a:t>+20.0 EM </a:t>
            </a:r>
            <a:r>
              <a:rPr lang="en-US" sz="2025" dirty="0">
                <a:solidFill>
                  <a:srgbClr val="201E1D">
                    <a:alpha val="72000"/>
                  </a:srgbClr>
                </a:solidFill>
                <a:latin typeface="Arial" pitchFamily="34" charset="0"/>
                <a:ea typeface="Arial" pitchFamily="34" charset="-122"/>
                <a:cs typeface="Arial" pitchFamily="34" charset="-120"/>
              </a:rPr>
              <a:t>on CondMedQA · </a:t>
            </a:r>
            <a:r>
              <a:rPr lang="en-US" sz="2025" b="1" dirty="0">
                <a:solidFill>
                  <a:srgbClr val="201E1D"/>
                </a:solidFill>
                <a:latin typeface="Arial" pitchFamily="34" charset="0"/>
                <a:ea typeface="Arial" pitchFamily="34" charset="-122"/>
                <a:cs typeface="Arial" pitchFamily="34" charset="-120"/>
              </a:rPr>
              <a:t>+11.0 EM </a:t>
            </a:r>
            <a:r>
              <a:rPr lang="en-US" sz="2025" dirty="0">
                <a:solidFill>
                  <a:srgbClr val="201E1D">
                    <a:alpha val="72000"/>
                  </a:srgbClr>
                </a:solidFill>
                <a:latin typeface="Arial" pitchFamily="34" charset="0"/>
                <a:ea typeface="Arial" pitchFamily="34" charset="-122"/>
                <a:cs typeface="Arial" pitchFamily="34" charset="-120"/>
              </a:rPr>
              <a:t>on MedHopQA · leads on BioASQ, where nothing is conditional </a:t>
            </a:r>
            <a:r>
              <a:rPr lang="en-US" sz="1875" dirty="0">
                <a:solidFill>
                  <a:srgbClr val="201E1D">
                    <a:alpha val="50000"/>
                  </a:srgbClr>
                </a:solidFill>
                <a:latin typeface="Arial" pitchFamily="34" charset="0"/>
                <a:ea typeface="Arial" pitchFamily="34" charset="-122"/>
                <a:cs typeface="Arial" pitchFamily="34" charset="-120"/>
              </a:rPr>
              <a:t>Exact match and token-level F1 · post-retrieval setting over gold documents</a:t>
            </a:r>
            <a:endParaRPr lang="en-US" sz="2025" dirty="0"/>
          </a:p>
        </p:txBody>
      </p:sp>
      <p:sp>
        <p:nvSpPr>
          <p:cNvPr id="145" name="Text 143"/>
          <p:cNvSpPr/>
          <p:nvPr/>
        </p:nvSpPr>
        <p:spPr>
          <a:xfrm>
            <a:off x="16347484" y="9046585"/>
            <a:ext cx="1026129"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12 / 16</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Ablation: Condition Gating</a:t>
            </a:r>
            <a:endParaRPr lang="en-US" sz="4650" dirty="0"/>
          </a:p>
        </p:txBody>
      </p:sp>
      <p:sp>
        <p:nvSpPr>
          <p:cNvPr id="7" name="Shape 5"/>
          <p:cNvSpPr/>
          <p:nvPr/>
        </p:nvSpPr>
        <p:spPr>
          <a:xfrm>
            <a:off x="990586" y="3088454"/>
            <a:ext cx="4927564" cy="19009"/>
          </a:xfrm>
          <a:prstGeom prst="rect">
            <a:avLst/>
          </a:prstGeom>
          <a:solidFill>
            <a:srgbClr val="3C5F82"/>
          </a:solidFill>
          <a:ln/>
        </p:spPr>
        <p:txBody>
          <a:bodyPr/>
          <a:lstStyle/>
          <a:p>
            <a:endParaRPr lang="en-US"/>
          </a:p>
        </p:txBody>
      </p:sp>
      <p:sp>
        <p:nvSpPr>
          <p:cNvPr id="8" name="Text 6"/>
          <p:cNvSpPr/>
          <p:nvPr/>
        </p:nvSpPr>
        <p:spPr>
          <a:xfrm>
            <a:off x="990586" y="3316973"/>
            <a:ext cx="5420320" cy="990600"/>
          </a:xfrm>
          <a:prstGeom prst="rect">
            <a:avLst/>
          </a:prstGeom>
          <a:noFill/>
          <a:ln/>
        </p:spPr>
        <p:txBody>
          <a:bodyPr wrap="square" lIns="25400" tIns="25400" rIns="25400" bIns="25400" rtlCol="0" anchor="t">
            <a:normAutofit fontScale="92500" lnSpcReduction="10000"/>
          </a:bodyPr>
          <a:lstStyle/>
          <a:p>
            <a:pPr marL="0" indent="0" algn="l">
              <a:lnSpc>
                <a:spcPct val="88353"/>
              </a:lnSpc>
              <a:buNone/>
            </a:pPr>
            <a:r>
              <a:rPr lang="en-US" sz="7500" b="1" kern="0" spc="-225" dirty="0">
                <a:solidFill>
                  <a:srgbClr val="3C5F82"/>
                </a:solidFill>
                <a:latin typeface="Courier New" pitchFamily="34" charset="0"/>
                <a:ea typeface="Courier New" pitchFamily="34" charset="-122"/>
                <a:cs typeface="Courier New" pitchFamily="34" charset="-120"/>
              </a:rPr>
              <a:t>+25.0</a:t>
            </a:r>
            <a:endParaRPr lang="en-US" sz="7500" dirty="0"/>
          </a:p>
        </p:txBody>
      </p:sp>
      <p:sp>
        <p:nvSpPr>
          <p:cNvPr id="9" name="Text 7"/>
          <p:cNvSpPr/>
          <p:nvPr/>
        </p:nvSpPr>
        <p:spPr>
          <a:xfrm>
            <a:off x="990586" y="4440896"/>
            <a:ext cx="5420320"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CondMedQA</a:t>
            </a:r>
            <a:endParaRPr lang="en-US" sz="2250" dirty="0"/>
          </a:p>
        </p:txBody>
      </p:sp>
      <p:sp>
        <p:nvSpPr>
          <p:cNvPr id="10" name="Text 8"/>
          <p:cNvSpPr/>
          <p:nvPr/>
        </p:nvSpPr>
        <p:spPr>
          <a:xfrm>
            <a:off x="990586" y="4959968"/>
            <a:ext cx="5075391" cy="731504"/>
          </a:xfrm>
          <a:prstGeom prst="rect">
            <a:avLst/>
          </a:prstGeom>
          <a:noFill/>
          <a:ln/>
        </p:spPr>
        <p:txBody>
          <a:bodyPr wrap="square" lIns="25400" tIns="25400" rIns="25400" bIns="25400" rtlCol="0" anchor="t">
            <a:normAutofit lnSpcReduction="10000"/>
          </a:bodyPr>
          <a:lstStyle/>
          <a:p>
            <a:pPr marL="0" indent="0" algn="l">
              <a:lnSpc>
                <a:spcPct val="121333"/>
              </a:lnSpc>
              <a:buNone/>
            </a:pPr>
            <a:r>
              <a:rPr lang="en-US" sz="1950" dirty="0">
                <a:solidFill>
                  <a:srgbClr val="201E1D">
                    <a:alpha val="60000"/>
                  </a:srgbClr>
                </a:solidFill>
                <a:latin typeface="Arial" pitchFamily="34" charset="0"/>
                <a:ea typeface="Arial" pitchFamily="34" charset="-122"/>
                <a:cs typeface="Arial" pitchFamily="34" charset="-120"/>
              </a:rPr>
              <a:t>EM, 57.0 → 82.0 — every question is conditional</a:t>
            </a:r>
            <a:endParaRPr lang="en-US" sz="1950" dirty="0"/>
          </a:p>
        </p:txBody>
      </p:sp>
      <p:sp>
        <p:nvSpPr>
          <p:cNvPr id="11" name="Shape 9"/>
          <p:cNvSpPr/>
          <p:nvPr/>
        </p:nvSpPr>
        <p:spPr>
          <a:xfrm>
            <a:off x="6680150" y="3088454"/>
            <a:ext cx="4927631" cy="19009"/>
          </a:xfrm>
          <a:prstGeom prst="rect">
            <a:avLst/>
          </a:prstGeom>
          <a:solidFill>
            <a:srgbClr val="201E1D">
              <a:alpha val="40000"/>
            </a:srgbClr>
          </a:solidFill>
          <a:ln/>
        </p:spPr>
        <p:txBody>
          <a:bodyPr/>
          <a:lstStyle/>
          <a:p>
            <a:endParaRPr lang="en-US"/>
          </a:p>
        </p:txBody>
      </p:sp>
      <p:sp>
        <p:nvSpPr>
          <p:cNvPr id="12" name="Text 10"/>
          <p:cNvSpPr/>
          <p:nvPr/>
        </p:nvSpPr>
        <p:spPr>
          <a:xfrm>
            <a:off x="6680150" y="3316973"/>
            <a:ext cx="5420394" cy="990600"/>
          </a:xfrm>
          <a:prstGeom prst="rect">
            <a:avLst/>
          </a:prstGeom>
          <a:noFill/>
          <a:ln/>
        </p:spPr>
        <p:txBody>
          <a:bodyPr wrap="square" lIns="25400" tIns="25400" rIns="25400" bIns="25400" rtlCol="0" anchor="t">
            <a:normAutofit fontScale="92500" lnSpcReduction="10000"/>
          </a:bodyPr>
          <a:lstStyle/>
          <a:p>
            <a:pPr marL="0" indent="0" algn="l">
              <a:lnSpc>
                <a:spcPct val="88353"/>
              </a:lnSpc>
              <a:buNone/>
            </a:pPr>
            <a:r>
              <a:rPr lang="en-US" sz="7500" b="1" kern="0" spc="-225" dirty="0">
                <a:solidFill>
                  <a:srgbClr val="201E1D"/>
                </a:solidFill>
                <a:latin typeface="Courier New" pitchFamily="34" charset="0"/>
                <a:ea typeface="Courier New" pitchFamily="34" charset="-122"/>
                <a:cs typeface="Courier New" pitchFamily="34" charset="-120"/>
              </a:rPr>
              <a:t>+17.1</a:t>
            </a:r>
            <a:endParaRPr lang="en-US" sz="7500" dirty="0"/>
          </a:p>
        </p:txBody>
      </p:sp>
      <p:sp>
        <p:nvSpPr>
          <p:cNvPr id="13" name="Text 11"/>
          <p:cNvSpPr/>
          <p:nvPr/>
        </p:nvSpPr>
        <p:spPr>
          <a:xfrm>
            <a:off x="6680150" y="4440896"/>
            <a:ext cx="5420394"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MedHopQA (Cond)</a:t>
            </a:r>
            <a:endParaRPr lang="en-US" sz="2250" dirty="0"/>
          </a:p>
        </p:txBody>
      </p:sp>
      <p:sp>
        <p:nvSpPr>
          <p:cNvPr id="14" name="Text 12"/>
          <p:cNvSpPr/>
          <p:nvPr/>
        </p:nvSpPr>
        <p:spPr>
          <a:xfrm>
            <a:off x="6680150" y="4959968"/>
            <a:ext cx="5420394" cy="384802"/>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201E1D">
                    <a:alpha val="60000"/>
                  </a:srgbClr>
                </a:solidFill>
                <a:latin typeface="Arial" pitchFamily="34" charset="0"/>
                <a:ea typeface="Arial" pitchFamily="34" charset="-122"/>
                <a:cs typeface="Arial" pitchFamily="34" charset="-120"/>
              </a:rPr>
              <a:t>EM, 62.9 → 80.0 — the conditional slice</a:t>
            </a:r>
            <a:endParaRPr lang="en-US" sz="1950" dirty="0"/>
          </a:p>
        </p:txBody>
      </p:sp>
      <p:sp>
        <p:nvSpPr>
          <p:cNvPr id="15" name="Shape 13"/>
          <p:cNvSpPr/>
          <p:nvPr/>
        </p:nvSpPr>
        <p:spPr>
          <a:xfrm>
            <a:off x="12369781" y="3088454"/>
            <a:ext cx="4927564" cy="19009"/>
          </a:xfrm>
          <a:prstGeom prst="rect">
            <a:avLst/>
          </a:prstGeom>
          <a:solidFill>
            <a:srgbClr val="201E1D">
              <a:alpha val="40000"/>
            </a:srgbClr>
          </a:solidFill>
          <a:ln/>
        </p:spPr>
        <p:txBody>
          <a:bodyPr/>
          <a:lstStyle/>
          <a:p>
            <a:endParaRPr lang="en-US"/>
          </a:p>
        </p:txBody>
      </p:sp>
      <p:sp>
        <p:nvSpPr>
          <p:cNvPr id="16" name="Text 14"/>
          <p:cNvSpPr/>
          <p:nvPr/>
        </p:nvSpPr>
        <p:spPr>
          <a:xfrm>
            <a:off x="12369781" y="3316973"/>
            <a:ext cx="5420320" cy="990600"/>
          </a:xfrm>
          <a:prstGeom prst="rect">
            <a:avLst/>
          </a:prstGeom>
          <a:noFill/>
          <a:ln/>
        </p:spPr>
        <p:txBody>
          <a:bodyPr wrap="square" lIns="25400" tIns="25400" rIns="25400" bIns="25400" rtlCol="0" anchor="t">
            <a:normAutofit fontScale="92500" lnSpcReduction="10000"/>
          </a:bodyPr>
          <a:lstStyle/>
          <a:p>
            <a:pPr marL="0" indent="0" algn="l">
              <a:lnSpc>
                <a:spcPct val="88353"/>
              </a:lnSpc>
              <a:buNone/>
            </a:pPr>
            <a:r>
              <a:rPr lang="en-US" sz="7500" b="1" kern="0" spc="-225" dirty="0">
                <a:solidFill>
                  <a:srgbClr val="201E1D"/>
                </a:solidFill>
                <a:latin typeface="Courier New" pitchFamily="34" charset="0"/>
                <a:ea typeface="Courier New" pitchFamily="34" charset="-122"/>
                <a:cs typeface="Courier New" pitchFamily="34" charset="-120"/>
              </a:rPr>
              <a:t>+14.3</a:t>
            </a:r>
            <a:endParaRPr lang="en-US" sz="7500" dirty="0"/>
          </a:p>
        </p:txBody>
      </p:sp>
      <p:sp>
        <p:nvSpPr>
          <p:cNvPr id="17" name="Text 15"/>
          <p:cNvSpPr/>
          <p:nvPr/>
        </p:nvSpPr>
        <p:spPr>
          <a:xfrm>
            <a:off x="12369781" y="4440896"/>
            <a:ext cx="5420320" cy="480999"/>
          </a:xfrm>
          <a:prstGeom prst="rect">
            <a:avLst/>
          </a:prstGeom>
          <a:noFill/>
          <a:ln/>
        </p:spPr>
        <p:txBody>
          <a:bodyPr wrap="square" lIns="25400" tIns="25400" rIns="25400" bIns="25400" rtlCol="0" anchor="t">
            <a:normAutofit/>
          </a:bodyPr>
          <a:lstStyle/>
          <a:p>
            <a:pPr marL="0" indent="0" algn="l">
              <a:lnSpc>
                <a:spcPct val="134605"/>
              </a:lnSpc>
              <a:buNone/>
            </a:pPr>
            <a:r>
              <a:rPr lang="en-US" sz="2250" b="1" dirty="0">
                <a:solidFill>
                  <a:srgbClr val="201E1D"/>
                </a:solidFill>
                <a:latin typeface="Arial" pitchFamily="34" charset="0"/>
                <a:ea typeface="Arial" pitchFamily="34" charset="-122"/>
                <a:cs typeface="Arial" pitchFamily="34" charset="-120"/>
              </a:rPr>
              <a:t>MedHopQA</a:t>
            </a:r>
            <a:endParaRPr lang="en-US" sz="2250" dirty="0"/>
          </a:p>
        </p:txBody>
      </p:sp>
      <p:sp>
        <p:nvSpPr>
          <p:cNvPr id="18" name="Text 16"/>
          <p:cNvSpPr/>
          <p:nvPr/>
        </p:nvSpPr>
        <p:spPr>
          <a:xfrm>
            <a:off x="12369781" y="4959968"/>
            <a:ext cx="5420320" cy="384802"/>
          </a:xfrm>
          <a:prstGeom prst="rect">
            <a:avLst/>
          </a:prstGeom>
          <a:noFill/>
          <a:ln/>
        </p:spPr>
        <p:txBody>
          <a:bodyPr wrap="square" lIns="25400" tIns="25400" rIns="25400" bIns="25400" rtlCol="0" anchor="t">
            <a:normAutofit/>
          </a:bodyPr>
          <a:lstStyle/>
          <a:p>
            <a:pPr marL="0" indent="0" algn="l">
              <a:lnSpc>
                <a:spcPct val="121333"/>
              </a:lnSpc>
              <a:buNone/>
            </a:pPr>
            <a:r>
              <a:rPr lang="en-US" sz="1950" dirty="0">
                <a:solidFill>
                  <a:srgbClr val="201E1D">
                    <a:alpha val="60000"/>
                  </a:srgbClr>
                </a:solidFill>
                <a:latin typeface="Arial" pitchFamily="34" charset="0"/>
                <a:ea typeface="Arial" pitchFamily="34" charset="-122"/>
                <a:cs typeface="Arial" pitchFamily="34" charset="-120"/>
              </a:rPr>
              <a:t>EM, 72.5 → 86.8 — mostly non-conditional</a:t>
            </a:r>
            <a:endParaRPr lang="en-US" sz="1950" dirty="0"/>
          </a:p>
        </p:txBody>
      </p:sp>
      <p:sp>
        <p:nvSpPr>
          <p:cNvPr id="19" name="Text 17"/>
          <p:cNvSpPr/>
          <p:nvPr/>
        </p:nvSpPr>
        <p:spPr>
          <a:xfrm>
            <a:off x="990586" y="6148631"/>
            <a:ext cx="3335655"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kern="0" spc="252" dirty="0">
                <a:solidFill>
                  <a:srgbClr val="201E1D">
                    <a:alpha val="50000"/>
                  </a:srgbClr>
                </a:solidFill>
                <a:latin typeface="Arial" pitchFamily="34" charset="0"/>
                <a:ea typeface="Arial" pitchFamily="34" charset="-122"/>
                <a:cs typeface="Arial" pitchFamily="34" charset="-120"/>
              </a:rPr>
              <a:t>CONFIGURATION</a:t>
            </a:r>
            <a:endParaRPr lang="en-US" sz="1800" dirty="0"/>
          </a:p>
        </p:txBody>
      </p:sp>
      <p:sp>
        <p:nvSpPr>
          <p:cNvPr id="20" name="Shape 18"/>
          <p:cNvSpPr/>
          <p:nvPr/>
        </p:nvSpPr>
        <p:spPr>
          <a:xfrm>
            <a:off x="4229086" y="6148631"/>
            <a:ext cx="9525" cy="449529"/>
          </a:xfrm>
          <a:prstGeom prst="rect">
            <a:avLst/>
          </a:prstGeom>
          <a:solidFill>
            <a:srgbClr val="201E1D">
              <a:alpha val="25000"/>
            </a:srgbClr>
          </a:solidFill>
          <a:ln/>
        </p:spPr>
        <p:txBody>
          <a:bodyPr/>
          <a:lstStyle/>
          <a:p>
            <a:endParaRPr lang="en-US"/>
          </a:p>
        </p:txBody>
      </p:sp>
      <p:sp>
        <p:nvSpPr>
          <p:cNvPr id="21" name="Text 19"/>
          <p:cNvSpPr/>
          <p:nvPr/>
        </p:nvSpPr>
        <p:spPr>
          <a:xfrm>
            <a:off x="4275845" y="6148631"/>
            <a:ext cx="2016973"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CondMedQA EM</a:t>
            </a:r>
            <a:endParaRPr lang="en-US" sz="1800" dirty="0"/>
          </a:p>
        </p:txBody>
      </p:sp>
      <p:sp>
        <p:nvSpPr>
          <p:cNvPr id="22" name="Text 20"/>
          <p:cNvSpPr/>
          <p:nvPr/>
        </p:nvSpPr>
        <p:spPr>
          <a:xfrm>
            <a:off x="6445218" y="6148631"/>
            <a:ext cx="2025632"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3" name="Shape 21"/>
          <p:cNvSpPr/>
          <p:nvPr/>
        </p:nvSpPr>
        <p:spPr>
          <a:xfrm>
            <a:off x="8585150" y="6148631"/>
            <a:ext cx="9525" cy="449529"/>
          </a:xfrm>
          <a:prstGeom prst="rect">
            <a:avLst/>
          </a:prstGeom>
          <a:solidFill>
            <a:srgbClr val="201E1D">
              <a:alpha val="25000"/>
            </a:srgbClr>
          </a:solidFill>
          <a:ln/>
        </p:spPr>
        <p:txBody>
          <a:bodyPr/>
          <a:lstStyle/>
          <a:p>
            <a:endParaRPr lang="en-US"/>
          </a:p>
        </p:txBody>
      </p:sp>
      <p:sp>
        <p:nvSpPr>
          <p:cNvPr id="24" name="Text 22"/>
          <p:cNvSpPr/>
          <p:nvPr/>
        </p:nvSpPr>
        <p:spPr>
          <a:xfrm>
            <a:off x="8631909" y="6148631"/>
            <a:ext cx="2017040"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MedHopQA EM</a:t>
            </a:r>
            <a:endParaRPr lang="en-US" sz="1800" dirty="0"/>
          </a:p>
        </p:txBody>
      </p:sp>
      <p:sp>
        <p:nvSpPr>
          <p:cNvPr id="25" name="Text 23"/>
          <p:cNvSpPr/>
          <p:nvPr/>
        </p:nvSpPr>
        <p:spPr>
          <a:xfrm>
            <a:off x="10801350" y="6148631"/>
            <a:ext cx="2025632"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6" name="Shape 24"/>
          <p:cNvSpPr/>
          <p:nvPr/>
        </p:nvSpPr>
        <p:spPr>
          <a:xfrm>
            <a:off x="12941281" y="6148631"/>
            <a:ext cx="9525" cy="449529"/>
          </a:xfrm>
          <a:prstGeom prst="rect">
            <a:avLst/>
          </a:prstGeom>
          <a:solidFill>
            <a:srgbClr val="201E1D">
              <a:alpha val="25000"/>
            </a:srgbClr>
          </a:solidFill>
          <a:ln/>
        </p:spPr>
        <p:txBody>
          <a:bodyPr/>
          <a:lstStyle/>
          <a:p>
            <a:endParaRPr lang="en-US"/>
          </a:p>
        </p:txBody>
      </p:sp>
      <p:sp>
        <p:nvSpPr>
          <p:cNvPr id="27" name="Text 25"/>
          <p:cNvSpPr/>
          <p:nvPr/>
        </p:nvSpPr>
        <p:spPr>
          <a:xfrm>
            <a:off x="12988040" y="6148631"/>
            <a:ext cx="2016973"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MedHop (C) EM</a:t>
            </a:r>
            <a:endParaRPr lang="en-US" sz="1800" dirty="0"/>
          </a:p>
        </p:txBody>
      </p:sp>
      <p:sp>
        <p:nvSpPr>
          <p:cNvPr id="28" name="Text 26"/>
          <p:cNvSpPr/>
          <p:nvPr/>
        </p:nvSpPr>
        <p:spPr>
          <a:xfrm>
            <a:off x="15157413" y="6148631"/>
            <a:ext cx="2025699" cy="392379"/>
          </a:xfrm>
          <a:prstGeom prst="rect">
            <a:avLst/>
          </a:prstGeom>
          <a:noFill/>
          <a:ln/>
        </p:spPr>
        <p:txBody>
          <a:bodyPr wrap="square" lIns="25400" tIns="25400" rIns="25400" bIns="25400" rtlCol="0" anchor="t">
            <a:normAutofit/>
          </a:bodyPr>
          <a:lstStyle/>
          <a:p>
            <a:pPr marL="0" indent="0" algn="ctr">
              <a:lnSpc>
                <a:spcPct val="134164"/>
              </a:lnSpc>
              <a:buNone/>
            </a:pPr>
            <a:r>
              <a:rPr lang="en-US" sz="1800" b="1" dirty="0">
                <a:solidFill>
                  <a:srgbClr val="201E1D">
                    <a:alpha val="50000"/>
                  </a:srgbClr>
                </a:solidFill>
                <a:latin typeface="Arial" pitchFamily="34" charset="0"/>
                <a:ea typeface="Arial" pitchFamily="34" charset="-122"/>
                <a:cs typeface="Arial" pitchFamily="34" charset="-120"/>
              </a:rPr>
              <a:t>F1</a:t>
            </a:r>
            <a:endParaRPr lang="en-US" sz="1800" dirty="0"/>
          </a:p>
        </p:txBody>
      </p:sp>
      <p:sp>
        <p:nvSpPr>
          <p:cNvPr id="29" name="Shape 27"/>
          <p:cNvSpPr/>
          <p:nvPr/>
        </p:nvSpPr>
        <p:spPr>
          <a:xfrm>
            <a:off x="990586" y="6598159"/>
            <a:ext cx="16306827" cy="19009"/>
          </a:xfrm>
          <a:prstGeom prst="rect">
            <a:avLst/>
          </a:prstGeom>
          <a:solidFill>
            <a:srgbClr val="201E1D"/>
          </a:solidFill>
          <a:ln/>
        </p:spPr>
        <p:txBody>
          <a:bodyPr/>
          <a:lstStyle/>
          <a:p>
            <a:endParaRPr lang="en-US"/>
          </a:p>
        </p:txBody>
      </p:sp>
      <p:sp>
        <p:nvSpPr>
          <p:cNvPr id="30" name="Text 28"/>
          <p:cNvSpPr/>
          <p:nvPr/>
        </p:nvSpPr>
        <p:spPr>
          <a:xfrm>
            <a:off x="990586" y="6750519"/>
            <a:ext cx="3335655" cy="436729"/>
          </a:xfrm>
          <a:prstGeom prst="rect">
            <a:avLst/>
          </a:prstGeom>
          <a:noFill/>
          <a:ln/>
        </p:spPr>
        <p:txBody>
          <a:bodyPr wrap="square" lIns="25400" tIns="25400" rIns="25400" bIns="25400" rtlCol="0" anchor="t">
            <a:normAutofit/>
          </a:bodyPr>
          <a:lstStyle/>
          <a:p>
            <a:pPr marL="0" indent="0" algn="ctr">
              <a:lnSpc>
                <a:spcPct val="133435"/>
              </a:lnSpc>
              <a:buNone/>
            </a:pPr>
            <a:r>
              <a:rPr lang="en-US" sz="2025" dirty="0">
                <a:solidFill>
                  <a:srgbClr val="201E1D">
                    <a:alpha val="50000"/>
                  </a:srgbClr>
                </a:solidFill>
                <a:latin typeface="Arial" pitchFamily="34" charset="0"/>
                <a:ea typeface="Arial" pitchFamily="34" charset="-122"/>
                <a:cs typeface="Arial" pitchFamily="34" charset="-120"/>
              </a:rPr>
              <a:t>CGR without gating</a:t>
            </a:r>
            <a:endParaRPr lang="en-US" sz="2025" dirty="0"/>
          </a:p>
        </p:txBody>
      </p:sp>
      <p:sp>
        <p:nvSpPr>
          <p:cNvPr id="31" name="Shape 29"/>
          <p:cNvSpPr/>
          <p:nvPr/>
        </p:nvSpPr>
        <p:spPr>
          <a:xfrm>
            <a:off x="4229086" y="6617169"/>
            <a:ext cx="9525" cy="665329"/>
          </a:xfrm>
          <a:prstGeom prst="rect">
            <a:avLst/>
          </a:prstGeom>
          <a:solidFill>
            <a:srgbClr val="201E1D">
              <a:alpha val="25000"/>
            </a:srgbClr>
          </a:solidFill>
          <a:ln/>
        </p:spPr>
        <p:txBody>
          <a:bodyPr/>
          <a:lstStyle/>
          <a:p>
            <a:endParaRPr lang="en-US"/>
          </a:p>
        </p:txBody>
      </p:sp>
      <p:sp>
        <p:nvSpPr>
          <p:cNvPr id="32" name="Text 30"/>
          <p:cNvSpPr/>
          <p:nvPr/>
        </p:nvSpPr>
        <p:spPr>
          <a:xfrm>
            <a:off x="4275845" y="6750519"/>
            <a:ext cx="2016973"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57.0</a:t>
            </a:r>
            <a:endParaRPr lang="en-US" sz="2025" dirty="0"/>
          </a:p>
        </p:txBody>
      </p:sp>
      <p:sp>
        <p:nvSpPr>
          <p:cNvPr id="33" name="Text 31"/>
          <p:cNvSpPr/>
          <p:nvPr/>
        </p:nvSpPr>
        <p:spPr>
          <a:xfrm>
            <a:off x="6445218" y="6750519"/>
            <a:ext cx="2025632"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60.2</a:t>
            </a:r>
            <a:endParaRPr lang="en-US" sz="2025" dirty="0"/>
          </a:p>
        </p:txBody>
      </p:sp>
      <p:sp>
        <p:nvSpPr>
          <p:cNvPr id="34" name="Shape 32"/>
          <p:cNvSpPr/>
          <p:nvPr/>
        </p:nvSpPr>
        <p:spPr>
          <a:xfrm>
            <a:off x="8585150" y="6617169"/>
            <a:ext cx="9525" cy="665329"/>
          </a:xfrm>
          <a:prstGeom prst="rect">
            <a:avLst/>
          </a:prstGeom>
          <a:solidFill>
            <a:srgbClr val="201E1D">
              <a:alpha val="25000"/>
            </a:srgbClr>
          </a:solidFill>
          <a:ln/>
        </p:spPr>
        <p:txBody>
          <a:bodyPr/>
          <a:lstStyle/>
          <a:p>
            <a:endParaRPr lang="en-US"/>
          </a:p>
        </p:txBody>
      </p:sp>
      <p:sp>
        <p:nvSpPr>
          <p:cNvPr id="35" name="Text 33"/>
          <p:cNvSpPr/>
          <p:nvPr/>
        </p:nvSpPr>
        <p:spPr>
          <a:xfrm>
            <a:off x="8631909" y="6750519"/>
            <a:ext cx="2017040"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72.5</a:t>
            </a:r>
            <a:endParaRPr lang="en-US" sz="2025" dirty="0"/>
          </a:p>
        </p:txBody>
      </p:sp>
      <p:sp>
        <p:nvSpPr>
          <p:cNvPr id="36" name="Text 34"/>
          <p:cNvSpPr/>
          <p:nvPr/>
        </p:nvSpPr>
        <p:spPr>
          <a:xfrm>
            <a:off x="10801350" y="6750519"/>
            <a:ext cx="2025632"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76.8</a:t>
            </a:r>
            <a:endParaRPr lang="en-US" sz="2025" dirty="0"/>
          </a:p>
        </p:txBody>
      </p:sp>
      <p:sp>
        <p:nvSpPr>
          <p:cNvPr id="37" name="Shape 35"/>
          <p:cNvSpPr/>
          <p:nvPr/>
        </p:nvSpPr>
        <p:spPr>
          <a:xfrm>
            <a:off x="12941281" y="6617169"/>
            <a:ext cx="9525" cy="665329"/>
          </a:xfrm>
          <a:prstGeom prst="rect">
            <a:avLst/>
          </a:prstGeom>
          <a:solidFill>
            <a:srgbClr val="201E1D">
              <a:alpha val="25000"/>
            </a:srgbClr>
          </a:solidFill>
          <a:ln/>
        </p:spPr>
        <p:txBody>
          <a:bodyPr/>
          <a:lstStyle/>
          <a:p>
            <a:endParaRPr lang="en-US"/>
          </a:p>
        </p:txBody>
      </p:sp>
      <p:sp>
        <p:nvSpPr>
          <p:cNvPr id="38" name="Text 36"/>
          <p:cNvSpPr/>
          <p:nvPr/>
        </p:nvSpPr>
        <p:spPr>
          <a:xfrm>
            <a:off x="12988040" y="6750519"/>
            <a:ext cx="2016973"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62.9</a:t>
            </a:r>
            <a:endParaRPr lang="en-US" sz="2025" dirty="0"/>
          </a:p>
        </p:txBody>
      </p:sp>
      <p:sp>
        <p:nvSpPr>
          <p:cNvPr id="39" name="Text 37"/>
          <p:cNvSpPr/>
          <p:nvPr/>
        </p:nvSpPr>
        <p:spPr>
          <a:xfrm>
            <a:off x="15157413" y="6750519"/>
            <a:ext cx="2025699" cy="436729"/>
          </a:xfrm>
          <a:prstGeom prst="rect">
            <a:avLst/>
          </a:prstGeom>
          <a:noFill/>
          <a:ln/>
        </p:spPr>
        <p:txBody>
          <a:bodyPr wrap="square" lIns="25400" tIns="25400" rIns="25400" bIns="25400" rtlCol="0" anchor="t">
            <a:normAutofit lnSpcReduction="10000"/>
          </a:bodyPr>
          <a:lstStyle/>
          <a:p>
            <a:pPr marL="0" indent="0" algn="ctr">
              <a:lnSpc>
                <a:spcPct val="137418"/>
              </a:lnSpc>
              <a:buNone/>
            </a:pPr>
            <a:r>
              <a:rPr lang="en-US" sz="2025" dirty="0">
                <a:solidFill>
                  <a:srgbClr val="201E1D">
                    <a:alpha val="50000"/>
                  </a:srgbClr>
                </a:solidFill>
                <a:latin typeface="Courier New" pitchFamily="34" charset="0"/>
                <a:ea typeface="Courier New" pitchFamily="34" charset="-122"/>
                <a:cs typeface="Courier New" pitchFamily="34" charset="-120"/>
              </a:rPr>
              <a:t>73.5</a:t>
            </a:r>
            <a:endParaRPr lang="en-US" sz="2025" dirty="0"/>
          </a:p>
        </p:txBody>
      </p:sp>
      <p:sp>
        <p:nvSpPr>
          <p:cNvPr id="40" name="Shape 38"/>
          <p:cNvSpPr/>
          <p:nvPr/>
        </p:nvSpPr>
        <p:spPr>
          <a:xfrm>
            <a:off x="990586" y="7282498"/>
            <a:ext cx="16306827" cy="19009"/>
          </a:xfrm>
          <a:prstGeom prst="rect">
            <a:avLst/>
          </a:prstGeom>
          <a:solidFill>
            <a:srgbClr val="3C5F82"/>
          </a:solidFill>
          <a:ln/>
        </p:spPr>
        <p:txBody>
          <a:bodyPr/>
          <a:lstStyle/>
          <a:p>
            <a:endParaRPr lang="en-US"/>
          </a:p>
        </p:txBody>
      </p:sp>
      <p:sp>
        <p:nvSpPr>
          <p:cNvPr id="41" name="Shape 39"/>
          <p:cNvSpPr/>
          <p:nvPr/>
        </p:nvSpPr>
        <p:spPr>
          <a:xfrm>
            <a:off x="990586" y="7301508"/>
            <a:ext cx="3238500" cy="732776"/>
          </a:xfrm>
          <a:prstGeom prst="rect">
            <a:avLst/>
          </a:prstGeom>
          <a:solidFill>
            <a:srgbClr val="E9EFF5"/>
          </a:solidFill>
          <a:ln/>
        </p:spPr>
        <p:txBody>
          <a:bodyPr/>
          <a:lstStyle/>
          <a:p>
            <a:endParaRPr lang="en-US"/>
          </a:p>
        </p:txBody>
      </p:sp>
      <p:sp>
        <p:nvSpPr>
          <p:cNvPr id="42" name="Text 40"/>
          <p:cNvSpPr/>
          <p:nvPr/>
        </p:nvSpPr>
        <p:spPr>
          <a:xfrm>
            <a:off x="990586" y="7453908"/>
            <a:ext cx="3335655" cy="466076"/>
          </a:xfrm>
          <a:prstGeom prst="rect">
            <a:avLst/>
          </a:prstGeom>
          <a:noFill/>
          <a:ln/>
        </p:spPr>
        <p:txBody>
          <a:bodyPr wrap="square" lIns="25400" tIns="25400" rIns="25400" bIns="25400" rtlCol="0" anchor="t">
            <a:normAutofit/>
          </a:bodyPr>
          <a:lstStyle/>
          <a:p>
            <a:pPr marL="0" indent="0" algn="ctr">
              <a:lnSpc>
                <a:spcPct val="133635"/>
              </a:lnSpc>
              <a:buNone/>
            </a:pPr>
            <a:r>
              <a:rPr lang="en-US" sz="2175" b="1" dirty="0">
                <a:solidFill>
                  <a:srgbClr val="201E1D"/>
                </a:solidFill>
                <a:latin typeface="Arial" pitchFamily="34" charset="0"/>
                <a:ea typeface="Arial" pitchFamily="34" charset="-122"/>
                <a:cs typeface="Arial" pitchFamily="34" charset="-120"/>
              </a:rPr>
              <a:t>CGR (full)</a:t>
            </a:r>
            <a:endParaRPr lang="en-US" sz="2175" dirty="0"/>
          </a:p>
        </p:txBody>
      </p:sp>
      <p:sp>
        <p:nvSpPr>
          <p:cNvPr id="43" name="Shape 41"/>
          <p:cNvSpPr/>
          <p:nvPr/>
        </p:nvSpPr>
        <p:spPr>
          <a:xfrm>
            <a:off x="4229086" y="7301508"/>
            <a:ext cx="2178032" cy="732776"/>
          </a:xfrm>
          <a:prstGeom prst="rect">
            <a:avLst/>
          </a:prstGeom>
          <a:solidFill>
            <a:srgbClr val="E9EFF5"/>
          </a:solidFill>
          <a:ln/>
        </p:spPr>
        <p:txBody>
          <a:bodyPr/>
          <a:lstStyle/>
          <a:p>
            <a:endParaRPr lang="en-US"/>
          </a:p>
        </p:txBody>
      </p:sp>
      <p:sp>
        <p:nvSpPr>
          <p:cNvPr id="44" name="Shape 42"/>
          <p:cNvSpPr/>
          <p:nvPr/>
        </p:nvSpPr>
        <p:spPr>
          <a:xfrm>
            <a:off x="4229086" y="7301508"/>
            <a:ext cx="9525" cy="732776"/>
          </a:xfrm>
          <a:prstGeom prst="rect">
            <a:avLst/>
          </a:prstGeom>
          <a:solidFill>
            <a:srgbClr val="3C5F82">
              <a:alpha val="30000"/>
            </a:srgbClr>
          </a:solidFill>
          <a:ln/>
        </p:spPr>
        <p:txBody>
          <a:bodyPr/>
          <a:lstStyle/>
          <a:p>
            <a:endParaRPr lang="en-US"/>
          </a:p>
        </p:txBody>
      </p:sp>
      <p:sp>
        <p:nvSpPr>
          <p:cNvPr id="45" name="Text 43"/>
          <p:cNvSpPr/>
          <p:nvPr/>
        </p:nvSpPr>
        <p:spPr>
          <a:xfrm>
            <a:off x="4275845" y="7453908"/>
            <a:ext cx="2016973" cy="466076"/>
          </a:xfrm>
          <a:prstGeom prst="rect">
            <a:avLst/>
          </a:prstGeom>
          <a:noFill/>
          <a:ln/>
        </p:spPr>
        <p:txBody>
          <a:bodyPr wrap="square" lIns="25400" tIns="25400" rIns="25400" bIns="25400" rtlCol="0" anchor="t">
            <a:normAutofit lnSpcReduction="10000"/>
          </a:bodyPr>
          <a:lstStyle/>
          <a:p>
            <a:pPr marL="0" indent="0" algn="ctr">
              <a:lnSpc>
                <a:spcPct val="137347"/>
              </a:lnSpc>
              <a:buNone/>
            </a:pPr>
            <a:r>
              <a:rPr lang="en-US" sz="2175" b="1" dirty="0">
                <a:solidFill>
                  <a:srgbClr val="3C5F82"/>
                </a:solidFill>
                <a:latin typeface="Courier New" pitchFamily="34" charset="0"/>
                <a:ea typeface="Courier New" pitchFamily="34" charset="-122"/>
                <a:cs typeface="Courier New" pitchFamily="34" charset="-120"/>
              </a:rPr>
              <a:t>82.0</a:t>
            </a:r>
            <a:endParaRPr lang="en-US" sz="2175" dirty="0"/>
          </a:p>
        </p:txBody>
      </p:sp>
      <p:sp>
        <p:nvSpPr>
          <p:cNvPr id="46" name="Shape 44"/>
          <p:cNvSpPr/>
          <p:nvPr/>
        </p:nvSpPr>
        <p:spPr>
          <a:xfrm>
            <a:off x="6407118" y="7301508"/>
            <a:ext cx="2178032" cy="732776"/>
          </a:xfrm>
          <a:prstGeom prst="rect">
            <a:avLst/>
          </a:prstGeom>
          <a:solidFill>
            <a:srgbClr val="E9EFF5"/>
          </a:solidFill>
          <a:ln/>
        </p:spPr>
        <p:txBody>
          <a:bodyPr/>
          <a:lstStyle/>
          <a:p>
            <a:endParaRPr lang="en-US"/>
          </a:p>
        </p:txBody>
      </p:sp>
      <p:sp>
        <p:nvSpPr>
          <p:cNvPr id="47" name="Text 45"/>
          <p:cNvSpPr/>
          <p:nvPr/>
        </p:nvSpPr>
        <p:spPr>
          <a:xfrm>
            <a:off x="6445218" y="7453908"/>
            <a:ext cx="2025632" cy="466076"/>
          </a:xfrm>
          <a:prstGeom prst="rect">
            <a:avLst/>
          </a:prstGeom>
          <a:noFill/>
          <a:ln/>
        </p:spPr>
        <p:txBody>
          <a:bodyPr wrap="square" lIns="25400" tIns="25400" rIns="25400" bIns="25400" rtlCol="0" anchor="t">
            <a:normAutofit lnSpcReduction="10000"/>
          </a:bodyPr>
          <a:lstStyle/>
          <a:p>
            <a:pPr marL="0" indent="0" algn="ctr">
              <a:lnSpc>
                <a:spcPct val="137347"/>
              </a:lnSpc>
              <a:buNone/>
            </a:pPr>
            <a:r>
              <a:rPr lang="en-US" sz="2175" b="1" dirty="0">
                <a:solidFill>
                  <a:srgbClr val="3C5F82"/>
                </a:solidFill>
                <a:latin typeface="Courier New" pitchFamily="34" charset="0"/>
                <a:ea typeface="Courier New" pitchFamily="34" charset="-122"/>
                <a:cs typeface="Courier New" pitchFamily="34" charset="-120"/>
              </a:rPr>
              <a:t>86.7</a:t>
            </a:r>
            <a:endParaRPr lang="en-US" sz="2175" dirty="0"/>
          </a:p>
        </p:txBody>
      </p:sp>
      <p:sp>
        <p:nvSpPr>
          <p:cNvPr id="48" name="Shape 46"/>
          <p:cNvSpPr/>
          <p:nvPr/>
        </p:nvSpPr>
        <p:spPr>
          <a:xfrm>
            <a:off x="8585150" y="7301508"/>
            <a:ext cx="2178099" cy="732776"/>
          </a:xfrm>
          <a:prstGeom prst="rect">
            <a:avLst/>
          </a:prstGeom>
          <a:solidFill>
            <a:srgbClr val="E9EFF5"/>
          </a:solidFill>
          <a:ln/>
        </p:spPr>
        <p:txBody>
          <a:bodyPr/>
          <a:lstStyle/>
          <a:p>
            <a:pPr algn="ctr"/>
            <a:endParaRPr lang="en-US"/>
          </a:p>
        </p:txBody>
      </p:sp>
      <p:sp>
        <p:nvSpPr>
          <p:cNvPr id="49" name="Shape 47"/>
          <p:cNvSpPr/>
          <p:nvPr/>
        </p:nvSpPr>
        <p:spPr>
          <a:xfrm>
            <a:off x="8585150" y="7301508"/>
            <a:ext cx="9525" cy="732776"/>
          </a:xfrm>
          <a:prstGeom prst="rect">
            <a:avLst/>
          </a:prstGeom>
          <a:solidFill>
            <a:srgbClr val="3C5F82">
              <a:alpha val="30000"/>
            </a:srgbClr>
          </a:solidFill>
          <a:ln/>
        </p:spPr>
        <p:txBody>
          <a:bodyPr/>
          <a:lstStyle/>
          <a:p>
            <a:endParaRPr lang="en-US"/>
          </a:p>
        </p:txBody>
      </p:sp>
      <p:sp>
        <p:nvSpPr>
          <p:cNvPr id="50" name="Text 48"/>
          <p:cNvSpPr/>
          <p:nvPr/>
        </p:nvSpPr>
        <p:spPr>
          <a:xfrm>
            <a:off x="8631909" y="7453908"/>
            <a:ext cx="2017040" cy="466076"/>
          </a:xfrm>
          <a:prstGeom prst="rect">
            <a:avLst/>
          </a:prstGeom>
          <a:noFill/>
          <a:ln/>
        </p:spPr>
        <p:txBody>
          <a:bodyPr wrap="square" lIns="25400" tIns="25400" rIns="25400" bIns="25400" rtlCol="0" anchor="t">
            <a:normAutofit lnSpcReduction="10000"/>
          </a:bodyPr>
          <a:lstStyle/>
          <a:p>
            <a:pPr marL="0" indent="0" algn="ctr">
              <a:lnSpc>
                <a:spcPct val="137347"/>
              </a:lnSpc>
              <a:buNone/>
            </a:pPr>
            <a:r>
              <a:rPr lang="en-US" sz="2175" b="1" dirty="0">
                <a:solidFill>
                  <a:srgbClr val="3C5F82"/>
                </a:solidFill>
                <a:latin typeface="Courier New" pitchFamily="34" charset="0"/>
                <a:ea typeface="Courier New" pitchFamily="34" charset="-122"/>
                <a:cs typeface="Courier New" pitchFamily="34" charset="-120"/>
              </a:rPr>
              <a:t>86.8</a:t>
            </a:r>
            <a:endParaRPr lang="en-US" sz="2175" dirty="0"/>
          </a:p>
        </p:txBody>
      </p:sp>
      <p:sp>
        <p:nvSpPr>
          <p:cNvPr id="51" name="Shape 49"/>
          <p:cNvSpPr/>
          <p:nvPr/>
        </p:nvSpPr>
        <p:spPr>
          <a:xfrm>
            <a:off x="10763250" y="7301508"/>
            <a:ext cx="2178032" cy="732776"/>
          </a:xfrm>
          <a:prstGeom prst="rect">
            <a:avLst/>
          </a:prstGeom>
          <a:solidFill>
            <a:srgbClr val="E9EFF5"/>
          </a:solidFill>
          <a:ln/>
        </p:spPr>
        <p:txBody>
          <a:bodyPr/>
          <a:lstStyle/>
          <a:p>
            <a:endParaRPr lang="en-US"/>
          </a:p>
        </p:txBody>
      </p:sp>
      <p:sp>
        <p:nvSpPr>
          <p:cNvPr id="52" name="Text 50"/>
          <p:cNvSpPr/>
          <p:nvPr/>
        </p:nvSpPr>
        <p:spPr>
          <a:xfrm>
            <a:off x="10801350" y="7453908"/>
            <a:ext cx="2025632" cy="466076"/>
          </a:xfrm>
          <a:prstGeom prst="rect">
            <a:avLst/>
          </a:prstGeom>
          <a:noFill/>
          <a:ln/>
        </p:spPr>
        <p:txBody>
          <a:bodyPr wrap="square" lIns="25400" tIns="25400" rIns="25400" bIns="25400" rtlCol="0" anchor="t">
            <a:normAutofit lnSpcReduction="10000"/>
          </a:bodyPr>
          <a:lstStyle/>
          <a:p>
            <a:pPr marL="0" indent="0" algn="ctr">
              <a:lnSpc>
                <a:spcPct val="137347"/>
              </a:lnSpc>
              <a:buNone/>
            </a:pPr>
            <a:r>
              <a:rPr lang="en-US" sz="2175" b="1" dirty="0">
                <a:solidFill>
                  <a:srgbClr val="3C5F82"/>
                </a:solidFill>
                <a:latin typeface="Courier New" pitchFamily="34" charset="0"/>
                <a:ea typeface="Courier New" pitchFamily="34" charset="-122"/>
                <a:cs typeface="Courier New" pitchFamily="34" charset="-120"/>
              </a:rPr>
              <a:t>89.9</a:t>
            </a:r>
            <a:endParaRPr lang="en-US" sz="2175" dirty="0"/>
          </a:p>
        </p:txBody>
      </p:sp>
      <p:sp>
        <p:nvSpPr>
          <p:cNvPr id="53" name="Shape 51"/>
          <p:cNvSpPr/>
          <p:nvPr/>
        </p:nvSpPr>
        <p:spPr>
          <a:xfrm>
            <a:off x="12941281" y="7301508"/>
            <a:ext cx="2178032" cy="732776"/>
          </a:xfrm>
          <a:prstGeom prst="rect">
            <a:avLst/>
          </a:prstGeom>
          <a:solidFill>
            <a:srgbClr val="E9EFF5"/>
          </a:solidFill>
          <a:ln/>
        </p:spPr>
        <p:txBody>
          <a:bodyPr/>
          <a:lstStyle/>
          <a:p>
            <a:pPr algn="ctr"/>
            <a:endParaRPr lang="en-US"/>
          </a:p>
        </p:txBody>
      </p:sp>
      <p:sp>
        <p:nvSpPr>
          <p:cNvPr id="54" name="Shape 52"/>
          <p:cNvSpPr/>
          <p:nvPr/>
        </p:nvSpPr>
        <p:spPr>
          <a:xfrm>
            <a:off x="12941281" y="7301508"/>
            <a:ext cx="9525" cy="732776"/>
          </a:xfrm>
          <a:prstGeom prst="rect">
            <a:avLst/>
          </a:prstGeom>
          <a:solidFill>
            <a:srgbClr val="3C5F82">
              <a:alpha val="30000"/>
            </a:srgbClr>
          </a:solidFill>
          <a:ln/>
        </p:spPr>
        <p:txBody>
          <a:bodyPr/>
          <a:lstStyle/>
          <a:p>
            <a:endParaRPr lang="en-US"/>
          </a:p>
        </p:txBody>
      </p:sp>
      <p:sp>
        <p:nvSpPr>
          <p:cNvPr id="55" name="Text 53"/>
          <p:cNvSpPr/>
          <p:nvPr/>
        </p:nvSpPr>
        <p:spPr>
          <a:xfrm>
            <a:off x="12988040" y="7453908"/>
            <a:ext cx="2016973" cy="466076"/>
          </a:xfrm>
          <a:prstGeom prst="rect">
            <a:avLst/>
          </a:prstGeom>
          <a:noFill/>
          <a:ln/>
        </p:spPr>
        <p:txBody>
          <a:bodyPr wrap="square" lIns="25400" tIns="25400" rIns="25400" bIns="25400" rtlCol="0" anchor="t">
            <a:normAutofit lnSpcReduction="10000"/>
          </a:bodyPr>
          <a:lstStyle/>
          <a:p>
            <a:pPr marL="0" indent="0" algn="r">
              <a:lnSpc>
                <a:spcPct val="137347"/>
              </a:lnSpc>
              <a:buNone/>
            </a:pPr>
            <a:r>
              <a:rPr lang="en-US" sz="2175" b="1" dirty="0">
                <a:solidFill>
                  <a:srgbClr val="3C5F82"/>
                </a:solidFill>
                <a:latin typeface="Courier New" pitchFamily="34" charset="0"/>
                <a:ea typeface="Courier New" pitchFamily="34" charset="-122"/>
                <a:cs typeface="Courier New" pitchFamily="34" charset="-120"/>
              </a:rPr>
              <a:t>80.0</a:t>
            </a:r>
            <a:endParaRPr lang="en-US" sz="2175" dirty="0"/>
          </a:p>
        </p:txBody>
      </p:sp>
      <p:sp>
        <p:nvSpPr>
          <p:cNvPr id="56" name="Shape 54"/>
          <p:cNvSpPr/>
          <p:nvPr/>
        </p:nvSpPr>
        <p:spPr>
          <a:xfrm>
            <a:off x="15119313" y="7301508"/>
            <a:ext cx="2178099" cy="732776"/>
          </a:xfrm>
          <a:prstGeom prst="rect">
            <a:avLst/>
          </a:prstGeom>
          <a:solidFill>
            <a:srgbClr val="E9EFF5"/>
          </a:solidFill>
          <a:ln/>
        </p:spPr>
        <p:txBody>
          <a:bodyPr/>
          <a:lstStyle/>
          <a:p>
            <a:endParaRPr lang="en-US"/>
          </a:p>
        </p:txBody>
      </p:sp>
      <p:sp>
        <p:nvSpPr>
          <p:cNvPr id="57" name="Text 55"/>
          <p:cNvSpPr/>
          <p:nvPr/>
        </p:nvSpPr>
        <p:spPr>
          <a:xfrm>
            <a:off x="15157413" y="7453908"/>
            <a:ext cx="2025699" cy="466076"/>
          </a:xfrm>
          <a:prstGeom prst="rect">
            <a:avLst/>
          </a:prstGeom>
          <a:noFill/>
          <a:ln/>
        </p:spPr>
        <p:txBody>
          <a:bodyPr wrap="square" lIns="25400" tIns="25400" rIns="25400" bIns="25400" rtlCol="0" anchor="t">
            <a:normAutofit lnSpcReduction="10000"/>
          </a:bodyPr>
          <a:lstStyle/>
          <a:p>
            <a:pPr marL="0" indent="0" algn="ctr">
              <a:lnSpc>
                <a:spcPct val="137347"/>
              </a:lnSpc>
              <a:buNone/>
            </a:pPr>
            <a:r>
              <a:rPr lang="en-US" sz="2175" b="1" dirty="0">
                <a:solidFill>
                  <a:srgbClr val="3C5F82"/>
                </a:solidFill>
                <a:latin typeface="Courier New" pitchFamily="34" charset="0"/>
                <a:ea typeface="Courier New" pitchFamily="34" charset="-122"/>
                <a:cs typeface="Courier New" pitchFamily="34" charset="-120"/>
              </a:rPr>
              <a:t>85.4</a:t>
            </a:r>
            <a:endParaRPr lang="en-US" sz="2175" dirty="0"/>
          </a:p>
        </p:txBody>
      </p:sp>
      <p:sp>
        <p:nvSpPr>
          <p:cNvPr id="58" name="Shape 56"/>
          <p:cNvSpPr/>
          <p:nvPr/>
        </p:nvSpPr>
        <p:spPr>
          <a:xfrm>
            <a:off x="990586" y="8034283"/>
            <a:ext cx="16306827" cy="19009"/>
          </a:xfrm>
          <a:prstGeom prst="rect">
            <a:avLst/>
          </a:prstGeom>
          <a:solidFill>
            <a:srgbClr val="3C5F82"/>
          </a:solidFill>
          <a:ln/>
        </p:spPr>
        <p:txBody>
          <a:bodyPr/>
          <a:lstStyle/>
          <a:p>
            <a:endParaRPr lang="en-US"/>
          </a:p>
        </p:txBody>
      </p:sp>
      <p:sp>
        <p:nvSpPr>
          <p:cNvPr id="59" name="Text 57"/>
          <p:cNvSpPr/>
          <p:nvPr/>
        </p:nvSpPr>
        <p:spPr>
          <a:xfrm>
            <a:off x="761965" y="8431749"/>
            <a:ext cx="16764000" cy="799694"/>
          </a:xfrm>
          <a:prstGeom prst="rect">
            <a:avLst/>
          </a:prstGeom>
          <a:noFill/>
          <a:ln/>
        </p:spPr>
        <p:txBody>
          <a:bodyPr wrap="square" lIns="25400" tIns="25400" rIns="25400" bIns="25400" rtlCol="0" anchor="t">
            <a:normAutofit/>
          </a:bodyPr>
          <a:lstStyle/>
          <a:p>
            <a:pPr marL="0" indent="0" algn="l">
              <a:lnSpc>
                <a:spcPct val="123200"/>
              </a:lnSpc>
              <a:buNone/>
            </a:pPr>
            <a:r>
              <a:rPr lang="en-US" sz="2100" dirty="0">
                <a:solidFill>
                  <a:srgbClr val="201E1D"/>
                </a:solidFill>
                <a:latin typeface="Arial" pitchFamily="34" charset="0"/>
                <a:ea typeface="Arial" pitchFamily="34" charset="-122"/>
                <a:cs typeface="Arial" pitchFamily="34" charset="-120"/>
              </a:rPr>
              <a:t>Extracting conditions is not sufficient. The gain comes from enforcing them </a:t>
            </a:r>
            <a:r>
              <a:rPr lang="en-US" sz="2100" b="1" i="1" dirty="0">
                <a:solidFill>
                  <a:srgbClr val="201E1D"/>
                </a:solidFill>
                <a:latin typeface="Arial" pitchFamily="34" charset="0"/>
                <a:ea typeface="Arial" pitchFamily="34" charset="-122"/>
                <a:cs typeface="Arial" pitchFamily="34" charset="-120"/>
              </a:rPr>
              <a:t>during search</a:t>
            </a:r>
            <a:r>
              <a:rPr lang="en-US" sz="2100" dirty="0">
                <a:solidFill>
                  <a:srgbClr val="201E1D"/>
                </a:solidFill>
                <a:latin typeface="Arial" pitchFamily="34" charset="0"/>
                <a:ea typeface="Arial" pitchFamily="34" charset="-122"/>
                <a:cs typeface="Arial" pitchFamily="34" charset="-120"/>
              </a:rPr>
              <a:t>, and it concentrates where conditions actually bind.</a:t>
            </a:r>
            <a:endParaRPr lang="en-US" sz="2100" dirty="0"/>
          </a:p>
        </p:txBody>
      </p:sp>
      <p:sp>
        <p:nvSpPr>
          <p:cNvPr id="60" name="Text 58"/>
          <p:cNvSpPr/>
          <p:nvPr/>
        </p:nvSpPr>
        <p:spPr>
          <a:xfrm>
            <a:off x="16346063" y="9399375"/>
            <a:ext cx="1027550"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13 / 16</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06653"/>
            <a:ext cx="16764000" cy="664058"/>
          </a:xfrm>
          <a:prstGeom prst="rect">
            <a:avLst/>
          </a:prstGeom>
          <a:noFill/>
          <a:ln/>
        </p:spPr>
        <p:txBody>
          <a:bodyPr wrap="square" lIns="25400" tIns="25400" rIns="25400" bIns="25400" rtlCol="0" anchor="t">
            <a:normAutofit lnSpcReduction="10000"/>
          </a:bodyPr>
          <a:lstStyle/>
          <a:p>
            <a:pPr marL="0" indent="0" algn="l">
              <a:lnSpc>
                <a:spcPct val="92682"/>
              </a:lnSpc>
              <a:buNone/>
            </a:pPr>
            <a:r>
              <a:rPr lang="en-US" sz="4650" b="1" kern="0" spc="-102" dirty="0">
                <a:solidFill>
                  <a:srgbClr val="201E1D"/>
                </a:solidFill>
                <a:latin typeface="Arial" pitchFamily="34" charset="0"/>
                <a:ea typeface="Arial" pitchFamily="34" charset="-122"/>
                <a:cs typeface="Arial" pitchFamily="34" charset="-120"/>
              </a:rPr>
              <a:t>Error Analysis</a:t>
            </a:r>
            <a:endParaRPr lang="en-US" sz="4650" dirty="0"/>
          </a:p>
        </p:txBody>
      </p:sp>
      <p:sp>
        <p:nvSpPr>
          <p:cNvPr id="7" name="Shape 5"/>
          <p:cNvSpPr/>
          <p:nvPr/>
        </p:nvSpPr>
        <p:spPr>
          <a:xfrm>
            <a:off x="990586" y="3517891"/>
            <a:ext cx="5627056" cy="19009"/>
          </a:xfrm>
          <a:prstGeom prst="rect">
            <a:avLst/>
          </a:prstGeom>
          <a:solidFill>
            <a:srgbClr val="3C5F82"/>
          </a:solidFill>
          <a:ln/>
        </p:spPr>
        <p:txBody>
          <a:bodyPr/>
          <a:lstStyle/>
          <a:p>
            <a:endParaRPr lang="en-US"/>
          </a:p>
        </p:txBody>
      </p:sp>
      <p:sp>
        <p:nvSpPr>
          <p:cNvPr id="8" name="Text 6"/>
          <p:cNvSpPr/>
          <p:nvPr/>
        </p:nvSpPr>
        <p:spPr>
          <a:xfrm>
            <a:off x="990586" y="4082612"/>
            <a:ext cx="1209594" cy="1028686"/>
          </a:xfrm>
          <a:prstGeom prst="rect">
            <a:avLst/>
          </a:prstGeom>
          <a:noFill/>
          <a:ln/>
        </p:spPr>
        <p:txBody>
          <a:bodyPr wrap="square" lIns="25400" tIns="25400" rIns="25400" bIns="25400" rtlCol="0" anchor="t">
            <a:normAutofit fontScale="92500" lnSpcReduction="10000"/>
          </a:bodyPr>
          <a:lstStyle/>
          <a:p>
            <a:pPr marL="0" indent="0" algn="l">
              <a:lnSpc>
                <a:spcPct val="88340"/>
              </a:lnSpc>
              <a:buNone/>
            </a:pPr>
            <a:r>
              <a:rPr lang="en-US" sz="7800" b="1" kern="0" spc="-234" dirty="0">
                <a:solidFill>
                  <a:srgbClr val="3C5F82"/>
                </a:solidFill>
                <a:latin typeface="Courier New" pitchFamily="34" charset="0"/>
                <a:ea typeface="Courier New" pitchFamily="34" charset="-122"/>
                <a:cs typeface="Courier New" pitchFamily="34" charset="-120"/>
              </a:rPr>
              <a:t>11</a:t>
            </a:r>
            <a:endParaRPr lang="en-US" sz="7800" dirty="0"/>
          </a:p>
        </p:txBody>
      </p:sp>
      <p:sp>
        <p:nvSpPr>
          <p:cNvPr id="9" name="Text 7"/>
          <p:cNvSpPr/>
          <p:nvPr/>
        </p:nvSpPr>
        <p:spPr>
          <a:xfrm>
            <a:off x="2333490" y="4246066"/>
            <a:ext cx="1912590" cy="539989"/>
          </a:xfrm>
          <a:prstGeom prst="rect">
            <a:avLst/>
          </a:prstGeom>
          <a:noFill/>
          <a:ln/>
        </p:spPr>
        <p:txBody>
          <a:bodyPr wrap="square" lIns="25400" tIns="25400" rIns="25400" bIns="25400" rtlCol="0" anchor="t">
            <a:normAutofit/>
          </a:bodyPr>
          <a:lstStyle/>
          <a:p>
            <a:pPr marL="0" indent="0" algn="l">
              <a:lnSpc>
                <a:spcPct val="134814"/>
              </a:lnSpc>
              <a:buNone/>
            </a:pPr>
            <a:r>
              <a:rPr lang="en-US" sz="2550" dirty="0">
                <a:solidFill>
                  <a:srgbClr val="201E1D">
                    <a:alpha val="55000"/>
                  </a:srgbClr>
                </a:solidFill>
                <a:latin typeface="Arial" pitchFamily="34" charset="0"/>
                <a:ea typeface="Arial" pitchFamily="34" charset="-122"/>
                <a:cs typeface="Arial" pitchFamily="34" charset="-120"/>
              </a:rPr>
              <a:t>of 18 · 61%</a:t>
            </a:r>
            <a:endParaRPr lang="en-US" sz="2550" dirty="0"/>
          </a:p>
        </p:txBody>
      </p:sp>
      <p:sp>
        <p:nvSpPr>
          <p:cNvPr id="10" name="Text 8"/>
          <p:cNvSpPr/>
          <p:nvPr/>
        </p:nvSpPr>
        <p:spPr>
          <a:xfrm>
            <a:off x="990586" y="4965582"/>
            <a:ext cx="6189762" cy="443454"/>
          </a:xfrm>
          <a:prstGeom prst="rect">
            <a:avLst/>
          </a:prstGeom>
          <a:noFill/>
          <a:ln/>
        </p:spPr>
        <p:txBody>
          <a:bodyPr wrap="square" lIns="25400" tIns="25400" rIns="25400" bIns="25400" rtlCol="0" anchor="t">
            <a:normAutofit lnSpcReduction="10000"/>
          </a:bodyPr>
          <a:lstStyle/>
          <a:p>
            <a:pPr marL="0" indent="0" algn="l">
              <a:lnSpc>
                <a:spcPct val="96528"/>
              </a:lnSpc>
              <a:buNone/>
            </a:pPr>
            <a:r>
              <a:rPr lang="en-US" sz="2850" b="1" kern="0" spc="-51" dirty="0">
                <a:solidFill>
                  <a:srgbClr val="201E1D"/>
                </a:solidFill>
                <a:latin typeface="Arial" pitchFamily="34" charset="0"/>
                <a:ea typeface="Arial" pitchFamily="34" charset="-122"/>
                <a:cs typeface="Arial" pitchFamily="34" charset="-120"/>
              </a:rPr>
              <a:t>Retrieval</a:t>
            </a:r>
            <a:endParaRPr lang="en-US" sz="2850" dirty="0"/>
          </a:p>
        </p:txBody>
      </p:sp>
      <p:sp>
        <p:nvSpPr>
          <p:cNvPr id="11" name="Text 9"/>
          <p:cNvSpPr/>
          <p:nvPr/>
        </p:nvSpPr>
        <p:spPr>
          <a:xfrm>
            <a:off x="990586" y="5523282"/>
            <a:ext cx="5795868" cy="1552629"/>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alpha val="72000"/>
                  </a:srgbClr>
                </a:solidFill>
                <a:latin typeface="Arial" pitchFamily="34" charset="0"/>
                <a:ea typeface="Arial" pitchFamily="34" charset="-122"/>
                <a:cs typeface="Arial" pitchFamily="34" charset="-120"/>
              </a:rPr>
              <a:t>The gold entity is in the graph and admissible, but a high-degree generic edge outranks the condition-appropriate path, so it misses the top-k.</a:t>
            </a:r>
            <a:endParaRPr lang="en-US" sz="2100" dirty="0"/>
          </a:p>
        </p:txBody>
      </p:sp>
      <p:sp>
        <p:nvSpPr>
          <p:cNvPr id="12" name="Shape 10"/>
          <p:cNvSpPr/>
          <p:nvPr/>
        </p:nvSpPr>
        <p:spPr>
          <a:xfrm>
            <a:off x="7455815" y="3517891"/>
            <a:ext cx="4501712" cy="19009"/>
          </a:xfrm>
          <a:prstGeom prst="rect">
            <a:avLst/>
          </a:prstGeom>
          <a:solidFill>
            <a:srgbClr val="201E1D">
              <a:alpha val="40000"/>
            </a:srgbClr>
          </a:solidFill>
          <a:ln/>
        </p:spPr>
        <p:txBody>
          <a:bodyPr/>
          <a:lstStyle/>
          <a:p>
            <a:endParaRPr lang="en-US"/>
          </a:p>
        </p:txBody>
      </p:sp>
      <p:sp>
        <p:nvSpPr>
          <p:cNvPr id="13" name="Text 11"/>
          <p:cNvSpPr/>
          <p:nvPr/>
        </p:nvSpPr>
        <p:spPr>
          <a:xfrm>
            <a:off x="7455815" y="4082612"/>
            <a:ext cx="642897" cy="1028686"/>
          </a:xfrm>
          <a:prstGeom prst="rect">
            <a:avLst/>
          </a:prstGeom>
          <a:noFill/>
          <a:ln/>
        </p:spPr>
        <p:txBody>
          <a:bodyPr wrap="square" lIns="25400" tIns="25400" rIns="25400" bIns="25400" rtlCol="0" anchor="t">
            <a:normAutofit fontScale="92500" lnSpcReduction="10000"/>
          </a:bodyPr>
          <a:lstStyle/>
          <a:p>
            <a:pPr marL="0" indent="0" algn="l">
              <a:lnSpc>
                <a:spcPct val="88340"/>
              </a:lnSpc>
              <a:buNone/>
            </a:pPr>
            <a:r>
              <a:rPr lang="en-US" sz="7800" b="1" kern="0" spc="-234" dirty="0">
                <a:solidFill>
                  <a:srgbClr val="201E1D"/>
                </a:solidFill>
                <a:latin typeface="Courier New" pitchFamily="34" charset="0"/>
                <a:ea typeface="Courier New" pitchFamily="34" charset="-122"/>
                <a:cs typeface="Courier New" pitchFamily="34" charset="-120"/>
              </a:rPr>
              <a:t>5</a:t>
            </a:r>
            <a:endParaRPr lang="en-US" sz="7800" dirty="0"/>
          </a:p>
        </p:txBody>
      </p:sp>
      <p:sp>
        <p:nvSpPr>
          <p:cNvPr id="14" name="Text 12"/>
          <p:cNvSpPr/>
          <p:nvPr/>
        </p:nvSpPr>
        <p:spPr>
          <a:xfrm>
            <a:off x="8232021" y="4246066"/>
            <a:ext cx="1929110" cy="539989"/>
          </a:xfrm>
          <a:prstGeom prst="rect">
            <a:avLst/>
          </a:prstGeom>
          <a:noFill/>
          <a:ln/>
        </p:spPr>
        <p:txBody>
          <a:bodyPr wrap="square" lIns="25400" tIns="25400" rIns="25400" bIns="25400" rtlCol="0" anchor="t">
            <a:normAutofit/>
          </a:bodyPr>
          <a:lstStyle/>
          <a:p>
            <a:pPr marL="0" indent="0" algn="l">
              <a:lnSpc>
                <a:spcPct val="134814"/>
              </a:lnSpc>
              <a:buNone/>
            </a:pPr>
            <a:r>
              <a:rPr lang="en-US" sz="2550" dirty="0">
                <a:solidFill>
                  <a:srgbClr val="201E1D">
                    <a:alpha val="55000"/>
                  </a:srgbClr>
                </a:solidFill>
                <a:latin typeface="Arial" pitchFamily="34" charset="0"/>
                <a:ea typeface="Arial" pitchFamily="34" charset="-122"/>
                <a:cs typeface="Arial" pitchFamily="34" charset="-120"/>
              </a:rPr>
              <a:t>of 18 · 28%</a:t>
            </a:r>
            <a:endParaRPr lang="en-US" sz="2550" dirty="0"/>
          </a:p>
        </p:txBody>
      </p:sp>
      <p:sp>
        <p:nvSpPr>
          <p:cNvPr id="15" name="Text 13"/>
          <p:cNvSpPr/>
          <p:nvPr/>
        </p:nvSpPr>
        <p:spPr>
          <a:xfrm>
            <a:off x="7455815" y="4965582"/>
            <a:ext cx="4951884" cy="443454"/>
          </a:xfrm>
          <a:prstGeom prst="rect">
            <a:avLst/>
          </a:prstGeom>
          <a:noFill/>
          <a:ln/>
        </p:spPr>
        <p:txBody>
          <a:bodyPr wrap="square" lIns="25400" tIns="25400" rIns="25400" bIns="25400" rtlCol="0" anchor="t">
            <a:normAutofit lnSpcReduction="10000"/>
          </a:bodyPr>
          <a:lstStyle/>
          <a:p>
            <a:pPr marL="0" indent="0" algn="l">
              <a:lnSpc>
                <a:spcPct val="96528"/>
              </a:lnSpc>
              <a:buNone/>
            </a:pPr>
            <a:r>
              <a:rPr lang="en-US" sz="2850" b="1" kern="0" spc="-51" dirty="0">
                <a:solidFill>
                  <a:srgbClr val="201E1D"/>
                </a:solidFill>
                <a:latin typeface="Arial" pitchFamily="34" charset="0"/>
                <a:ea typeface="Arial" pitchFamily="34" charset="-122"/>
                <a:cs typeface="Arial" pitchFamily="34" charset="-120"/>
              </a:rPr>
              <a:t>Extraction</a:t>
            </a:r>
            <a:endParaRPr lang="en-US" sz="2850" dirty="0"/>
          </a:p>
        </p:txBody>
      </p:sp>
      <p:sp>
        <p:nvSpPr>
          <p:cNvPr id="16" name="Text 14"/>
          <p:cNvSpPr/>
          <p:nvPr/>
        </p:nvSpPr>
        <p:spPr>
          <a:xfrm>
            <a:off x="7455815" y="5523282"/>
            <a:ext cx="4636764" cy="1173997"/>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alpha val="72000"/>
                  </a:srgbClr>
                </a:solidFill>
                <a:latin typeface="Arial" pitchFamily="34" charset="0"/>
                <a:ea typeface="Arial" pitchFamily="34" charset="-122"/>
                <a:cs typeface="Arial" pitchFamily="34" charset="-120"/>
              </a:rPr>
              <a:t>The entity never entered the graph, or UMLS resolved it wrongly — </a:t>
            </a:r>
            <a:r>
              <a:rPr lang="en-US" sz="1875" dirty="0">
                <a:solidFill>
                  <a:srgbClr val="201E1D">
                    <a:alpha val="72000"/>
                  </a:srgbClr>
                </a:solidFill>
                <a:latin typeface="Courier New" pitchFamily="34" charset="0"/>
                <a:ea typeface="Courier New" pitchFamily="34" charset="-122"/>
                <a:cs typeface="Courier New" pitchFamily="34" charset="-120"/>
              </a:rPr>
              <a:t>SSRI → SsrI endonuclease </a:t>
            </a:r>
            <a:r>
              <a:rPr lang="en-US" sz="2100" dirty="0">
                <a:solidFill>
                  <a:srgbClr val="201E1D">
                    <a:alpha val="72000"/>
                  </a:srgbClr>
                </a:solidFill>
                <a:latin typeface="Arial" pitchFamily="34" charset="0"/>
                <a:ea typeface="Arial" pitchFamily="34" charset="-122"/>
                <a:cs typeface="Arial" pitchFamily="34" charset="-120"/>
              </a:rPr>
              <a:t>.</a:t>
            </a:r>
            <a:endParaRPr lang="en-US" sz="2100" dirty="0"/>
          </a:p>
        </p:txBody>
      </p:sp>
      <p:sp>
        <p:nvSpPr>
          <p:cNvPr id="17" name="Shape 15"/>
          <p:cNvSpPr/>
          <p:nvPr/>
        </p:nvSpPr>
        <p:spPr>
          <a:xfrm>
            <a:off x="12795700" y="3517891"/>
            <a:ext cx="4501712" cy="19009"/>
          </a:xfrm>
          <a:prstGeom prst="rect">
            <a:avLst/>
          </a:prstGeom>
          <a:solidFill>
            <a:srgbClr val="201E1D">
              <a:alpha val="40000"/>
            </a:srgbClr>
          </a:solidFill>
          <a:ln/>
        </p:spPr>
        <p:txBody>
          <a:bodyPr/>
          <a:lstStyle/>
          <a:p>
            <a:endParaRPr lang="en-US"/>
          </a:p>
        </p:txBody>
      </p:sp>
      <p:sp>
        <p:nvSpPr>
          <p:cNvPr id="18" name="Text 16"/>
          <p:cNvSpPr/>
          <p:nvPr/>
        </p:nvSpPr>
        <p:spPr>
          <a:xfrm>
            <a:off x="12795700" y="4082612"/>
            <a:ext cx="642897" cy="1028686"/>
          </a:xfrm>
          <a:prstGeom prst="rect">
            <a:avLst/>
          </a:prstGeom>
          <a:noFill/>
          <a:ln/>
        </p:spPr>
        <p:txBody>
          <a:bodyPr wrap="square" lIns="25400" tIns="25400" rIns="25400" bIns="25400" rtlCol="0" anchor="t">
            <a:normAutofit fontScale="92500" lnSpcReduction="10000"/>
          </a:bodyPr>
          <a:lstStyle/>
          <a:p>
            <a:pPr marL="0" indent="0" algn="l">
              <a:lnSpc>
                <a:spcPct val="88340"/>
              </a:lnSpc>
              <a:buNone/>
            </a:pPr>
            <a:r>
              <a:rPr lang="en-US" sz="7800" b="1" kern="0" spc="-234" dirty="0">
                <a:solidFill>
                  <a:srgbClr val="201E1D"/>
                </a:solidFill>
                <a:latin typeface="Courier New" pitchFamily="34" charset="0"/>
                <a:ea typeface="Courier New" pitchFamily="34" charset="-122"/>
                <a:cs typeface="Courier New" pitchFamily="34" charset="-120"/>
              </a:rPr>
              <a:t>2</a:t>
            </a:r>
            <a:endParaRPr lang="en-US" sz="7800" dirty="0"/>
          </a:p>
        </p:txBody>
      </p:sp>
      <p:sp>
        <p:nvSpPr>
          <p:cNvPr id="19" name="Text 17"/>
          <p:cNvSpPr/>
          <p:nvPr/>
        </p:nvSpPr>
        <p:spPr>
          <a:xfrm>
            <a:off x="13571906" y="4246066"/>
            <a:ext cx="1894061" cy="539989"/>
          </a:xfrm>
          <a:prstGeom prst="rect">
            <a:avLst/>
          </a:prstGeom>
          <a:noFill/>
          <a:ln/>
        </p:spPr>
        <p:txBody>
          <a:bodyPr wrap="square" lIns="25400" tIns="25400" rIns="25400" bIns="25400" rtlCol="0" anchor="t">
            <a:normAutofit/>
          </a:bodyPr>
          <a:lstStyle/>
          <a:p>
            <a:pPr marL="0" indent="0" algn="l">
              <a:lnSpc>
                <a:spcPct val="134814"/>
              </a:lnSpc>
              <a:buNone/>
            </a:pPr>
            <a:r>
              <a:rPr lang="en-US" sz="2550" dirty="0">
                <a:solidFill>
                  <a:srgbClr val="201E1D">
                    <a:alpha val="55000"/>
                  </a:srgbClr>
                </a:solidFill>
                <a:latin typeface="Arial" pitchFamily="34" charset="0"/>
                <a:ea typeface="Arial" pitchFamily="34" charset="-122"/>
                <a:cs typeface="Arial" pitchFamily="34" charset="-120"/>
              </a:rPr>
              <a:t>of 18 · 11%</a:t>
            </a:r>
            <a:endParaRPr lang="en-US" sz="2550" dirty="0"/>
          </a:p>
        </p:txBody>
      </p:sp>
      <p:sp>
        <p:nvSpPr>
          <p:cNvPr id="20" name="Text 18"/>
          <p:cNvSpPr/>
          <p:nvPr/>
        </p:nvSpPr>
        <p:spPr>
          <a:xfrm>
            <a:off x="12795700" y="4965582"/>
            <a:ext cx="4951884" cy="443454"/>
          </a:xfrm>
          <a:prstGeom prst="rect">
            <a:avLst/>
          </a:prstGeom>
          <a:noFill/>
          <a:ln/>
        </p:spPr>
        <p:txBody>
          <a:bodyPr wrap="square" lIns="25400" tIns="25400" rIns="25400" bIns="25400" rtlCol="0" anchor="t">
            <a:normAutofit lnSpcReduction="10000"/>
          </a:bodyPr>
          <a:lstStyle/>
          <a:p>
            <a:pPr marL="0" indent="0" algn="l">
              <a:lnSpc>
                <a:spcPct val="96528"/>
              </a:lnSpc>
              <a:buNone/>
            </a:pPr>
            <a:r>
              <a:rPr lang="en-US" sz="2850" b="1" kern="0" spc="-51" dirty="0">
                <a:solidFill>
                  <a:srgbClr val="201E1D"/>
                </a:solidFill>
                <a:latin typeface="Arial" pitchFamily="34" charset="0"/>
                <a:ea typeface="Arial" pitchFamily="34" charset="-122"/>
                <a:cs typeface="Arial" pitchFamily="34" charset="-120"/>
              </a:rPr>
              <a:t>Reasoning</a:t>
            </a:r>
            <a:endParaRPr lang="en-US" sz="2850" dirty="0"/>
          </a:p>
        </p:txBody>
      </p:sp>
      <p:sp>
        <p:nvSpPr>
          <p:cNvPr id="21" name="Text 19"/>
          <p:cNvSpPr/>
          <p:nvPr/>
        </p:nvSpPr>
        <p:spPr>
          <a:xfrm>
            <a:off x="12795700" y="5523282"/>
            <a:ext cx="4636764" cy="1552629"/>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alpha val="72000"/>
                  </a:srgbClr>
                </a:solidFill>
                <a:latin typeface="Arial" pitchFamily="34" charset="0"/>
                <a:ea typeface="Arial" pitchFamily="34" charset="-122"/>
                <a:cs typeface="Arial" pitchFamily="34" charset="-120"/>
              </a:rPr>
              <a:t>The evidence was right and the model answered the wrong question — naming the drug to replace instead of the replacement.</a:t>
            </a:r>
            <a:endParaRPr lang="en-US" sz="2100" dirty="0"/>
          </a:p>
        </p:txBody>
      </p:sp>
      <p:sp>
        <p:nvSpPr>
          <p:cNvPr id="22" name="Shape 20"/>
          <p:cNvSpPr/>
          <p:nvPr/>
        </p:nvSpPr>
        <p:spPr>
          <a:xfrm>
            <a:off x="990586" y="8223092"/>
            <a:ext cx="16306827" cy="19009"/>
          </a:xfrm>
          <a:prstGeom prst="rect">
            <a:avLst/>
          </a:prstGeom>
          <a:solidFill>
            <a:srgbClr val="201E1D">
              <a:alpha val="40000"/>
            </a:srgbClr>
          </a:solidFill>
          <a:ln/>
        </p:spPr>
        <p:txBody>
          <a:bodyPr/>
          <a:lstStyle/>
          <a:p>
            <a:endParaRPr lang="en-US"/>
          </a:p>
        </p:txBody>
      </p:sp>
      <p:sp>
        <p:nvSpPr>
          <p:cNvPr id="23" name="Text 21"/>
          <p:cNvSpPr/>
          <p:nvPr/>
        </p:nvSpPr>
        <p:spPr>
          <a:xfrm>
            <a:off x="990586" y="8470688"/>
            <a:ext cx="15304770" cy="795365"/>
          </a:xfrm>
          <a:prstGeom prst="rect">
            <a:avLst/>
          </a:prstGeom>
          <a:noFill/>
          <a:ln/>
        </p:spPr>
        <p:txBody>
          <a:bodyPr wrap="square" lIns="25400" tIns="25400" rIns="25400" bIns="25400" rtlCol="0" anchor="t">
            <a:normAutofit lnSpcReduction="10000"/>
          </a:bodyPr>
          <a:lstStyle/>
          <a:p>
            <a:pPr marL="0" indent="0" algn="l">
              <a:lnSpc>
                <a:spcPct val="123200"/>
              </a:lnSpc>
              <a:buNone/>
            </a:pPr>
            <a:r>
              <a:rPr lang="en-US" sz="2100" dirty="0">
                <a:solidFill>
                  <a:srgbClr val="201E1D"/>
                </a:solidFill>
                <a:latin typeface="Arial" pitchFamily="34" charset="0"/>
                <a:ea typeface="Arial" pitchFamily="34" charset="-122"/>
                <a:cs typeface="Arial" pitchFamily="34" charset="-120"/>
              </a:rPr>
              <a:t>Ranking is purely semantic today — it does not know a path survived the gate. Both dominant categories are addressable without changing the gate.</a:t>
            </a:r>
            <a:endParaRPr lang="en-US" sz="2100" dirty="0"/>
          </a:p>
        </p:txBody>
      </p:sp>
      <p:sp>
        <p:nvSpPr>
          <p:cNvPr id="24" name="Text 22"/>
          <p:cNvSpPr/>
          <p:nvPr/>
        </p:nvSpPr>
        <p:spPr>
          <a:xfrm>
            <a:off x="16350189" y="9399375"/>
            <a:ext cx="1023423"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14 / 16</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3">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7" name="Text 5"/>
          <p:cNvSpPr/>
          <p:nvPr/>
        </p:nvSpPr>
        <p:spPr>
          <a:xfrm>
            <a:off x="990586" y="1654684"/>
            <a:ext cx="16764000" cy="603512"/>
          </a:xfrm>
          <a:prstGeom prst="rect">
            <a:avLst/>
          </a:prstGeom>
          <a:noFill/>
          <a:ln/>
        </p:spPr>
        <p:txBody>
          <a:bodyPr wrap="square" lIns="25400" tIns="25400" rIns="25400" bIns="25400" rtlCol="0" anchor="t">
            <a:normAutofit lnSpcReduction="10000"/>
          </a:bodyPr>
          <a:lstStyle/>
          <a:p>
            <a:pPr marL="0" indent="0" algn="l">
              <a:lnSpc>
                <a:spcPct val="91966"/>
              </a:lnSpc>
              <a:buNone/>
            </a:pPr>
            <a:r>
              <a:rPr lang="en-US" sz="4200" b="1" kern="0" spc="-92" dirty="0">
                <a:solidFill>
                  <a:srgbClr val="201E1D"/>
                </a:solidFill>
                <a:latin typeface="Arial" pitchFamily="34" charset="0"/>
                <a:ea typeface="Arial" pitchFamily="34" charset="-122"/>
                <a:cs typeface="Arial" pitchFamily="34" charset="-120"/>
              </a:rPr>
              <a:t>Limitations and Future Work</a:t>
            </a:r>
            <a:endParaRPr lang="en-US" sz="4200" dirty="0"/>
          </a:p>
        </p:txBody>
      </p:sp>
      <p:sp>
        <p:nvSpPr>
          <p:cNvPr id="8" name="Shape 6"/>
          <p:cNvSpPr/>
          <p:nvPr/>
        </p:nvSpPr>
        <p:spPr>
          <a:xfrm>
            <a:off x="990586" y="3121670"/>
            <a:ext cx="7696240" cy="19009"/>
          </a:xfrm>
          <a:prstGeom prst="rect">
            <a:avLst/>
          </a:prstGeom>
          <a:solidFill>
            <a:srgbClr val="201E1D">
              <a:alpha val="40000"/>
            </a:srgbClr>
          </a:solidFill>
          <a:ln/>
        </p:spPr>
        <p:txBody>
          <a:bodyPr/>
          <a:lstStyle/>
          <a:p>
            <a:endParaRPr lang="en-US"/>
          </a:p>
        </p:txBody>
      </p:sp>
      <p:sp>
        <p:nvSpPr>
          <p:cNvPr id="9" name="Text 7"/>
          <p:cNvSpPr/>
          <p:nvPr/>
        </p:nvSpPr>
        <p:spPr>
          <a:xfrm>
            <a:off x="990586" y="3350189"/>
            <a:ext cx="8465864" cy="413688"/>
          </a:xfrm>
          <a:prstGeom prst="rect">
            <a:avLst/>
          </a:prstGeom>
          <a:noFill/>
          <a:ln/>
        </p:spPr>
        <p:txBody>
          <a:bodyPr wrap="square" lIns="25400" tIns="25400" rIns="25400" bIns="25400" rtlCol="0" anchor="t">
            <a:normAutofit lnSpcReduction="10000"/>
          </a:bodyPr>
          <a:lstStyle/>
          <a:p>
            <a:pPr marL="0" indent="0" algn="l">
              <a:lnSpc>
                <a:spcPct val="100893"/>
              </a:lnSpc>
              <a:buNone/>
            </a:pPr>
            <a:r>
              <a:rPr lang="en-US" sz="2550" b="1" kern="0" spc="-38" dirty="0">
                <a:solidFill>
                  <a:srgbClr val="201E1D"/>
                </a:solidFill>
                <a:latin typeface="Arial" pitchFamily="34" charset="0"/>
                <a:ea typeface="Arial" pitchFamily="34" charset="-122"/>
                <a:cs typeface="Arial" pitchFamily="34" charset="-120"/>
              </a:rPr>
              <a:t>Benchmark scope</a:t>
            </a:r>
            <a:endParaRPr lang="en-US" sz="2550" dirty="0"/>
          </a:p>
        </p:txBody>
      </p:sp>
      <p:sp>
        <p:nvSpPr>
          <p:cNvPr id="10" name="Text 8"/>
          <p:cNvSpPr/>
          <p:nvPr/>
        </p:nvSpPr>
        <p:spPr>
          <a:xfrm>
            <a:off x="990586" y="3878123"/>
            <a:ext cx="7927127" cy="1156746"/>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100 questions makes CondMedQA a diagnostic instrument, not a training set. Broader coverage across condition types and clinical specialties is the next step.</a:t>
            </a:r>
            <a:endParaRPr lang="en-US" sz="2025" dirty="0"/>
          </a:p>
        </p:txBody>
      </p:sp>
      <p:sp>
        <p:nvSpPr>
          <p:cNvPr id="11" name="Shape 9"/>
          <p:cNvSpPr/>
          <p:nvPr/>
        </p:nvSpPr>
        <p:spPr>
          <a:xfrm>
            <a:off x="9601173" y="3121670"/>
            <a:ext cx="7696240" cy="19009"/>
          </a:xfrm>
          <a:prstGeom prst="rect">
            <a:avLst/>
          </a:prstGeom>
          <a:solidFill>
            <a:srgbClr val="201E1D">
              <a:alpha val="40000"/>
            </a:srgbClr>
          </a:solidFill>
          <a:ln/>
        </p:spPr>
        <p:txBody>
          <a:bodyPr/>
          <a:lstStyle/>
          <a:p>
            <a:endParaRPr lang="en-US"/>
          </a:p>
        </p:txBody>
      </p:sp>
      <p:sp>
        <p:nvSpPr>
          <p:cNvPr id="12" name="Text 10"/>
          <p:cNvSpPr/>
          <p:nvPr/>
        </p:nvSpPr>
        <p:spPr>
          <a:xfrm>
            <a:off x="9601173" y="3350189"/>
            <a:ext cx="8465864" cy="413688"/>
          </a:xfrm>
          <a:prstGeom prst="rect">
            <a:avLst/>
          </a:prstGeom>
          <a:noFill/>
          <a:ln/>
        </p:spPr>
        <p:txBody>
          <a:bodyPr wrap="square" lIns="25400" tIns="25400" rIns="25400" bIns="25400" rtlCol="0" anchor="t">
            <a:normAutofit lnSpcReduction="10000"/>
          </a:bodyPr>
          <a:lstStyle/>
          <a:p>
            <a:pPr marL="0" indent="0" algn="l">
              <a:lnSpc>
                <a:spcPct val="100893"/>
              </a:lnSpc>
              <a:buNone/>
            </a:pPr>
            <a:r>
              <a:rPr lang="en-US" sz="2550" b="1" kern="0" spc="-38" dirty="0">
                <a:solidFill>
                  <a:srgbClr val="201E1D"/>
                </a:solidFill>
                <a:latin typeface="Arial" pitchFamily="34" charset="0"/>
                <a:ea typeface="Arial" pitchFamily="34" charset="-122"/>
                <a:cs typeface="Arial" pitchFamily="34" charset="-120"/>
              </a:rPr>
              <a:t>Knowledge-source dependence</a:t>
            </a:r>
            <a:endParaRPr lang="en-US" sz="2550" dirty="0"/>
          </a:p>
        </p:txBody>
      </p:sp>
      <p:sp>
        <p:nvSpPr>
          <p:cNvPr id="13" name="Text 11"/>
          <p:cNvSpPr/>
          <p:nvPr/>
        </p:nvSpPr>
        <p:spPr>
          <a:xfrm>
            <a:off x="9601173" y="3878123"/>
            <a:ext cx="7927127" cy="783864"/>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CGR inherits the errors, omissions and biases of its source documents. Extraction quality bounds everything downstream of it.</a:t>
            </a:r>
            <a:endParaRPr lang="en-US" sz="2025" dirty="0"/>
          </a:p>
        </p:txBody>
      </p:sp>
      <p:sp>
        <p:nvSpPr>
          <p:cNvPr id="14" name="Shape 12"/>
          <p:cNvSpPr/>
          <p:nvPr/>
        </p:nvSpPr>
        <p:spPr>
          <a:xfrm>
            <a:off x="990586" y="5916188"/>
            <a:ext cx="7696240" cy="19009"/>
          </a:xfrm>
          <a:prstGeom prst="rect">
            <a:avLst/>
          </a:prstGeom>
          <a:solidFill>
            <a:srgbClr val="3C5F82"/>
          </a:solidFill>
          <a:ln/>
        </p:spPr>
        <p:txBody>
          <a:bodyPr/>
          <a:lstStyle/>
          <a:p>
            <a:endParaRPr lang="en-US"/>
          </a:p>
        </p:txBody>
      </p:sp>
      <p:sp>
        <p:nvSpPr>
          <p:cNvPr id="15" name="Text 13"/>
          <p:cNvSpPr/>
          <p:nvPr/>
        </p:nvSpPr>
        <p:spPr>
          <a:xfrm>
            <a:off x="990586" y="6144707"/>
            <a:ext cx="8465864" cy="413688"/>
          </a:xfrm>
          <a:prstGeom prst="rect">
            <a:avLst/>
          </a:prstGeom>
          <a:noFill/>
          <a:ln/>
        </p:spPr>
        <p:txBody>
          <a:bodyPr wrap="square" lIns="25400" tIns="25400" rIns="25400" bIns="25400" rtlCol="0" anchor="t">
            <a:normAutofit lnSpcReduction="10000"/>
          </a:bodyPr>
          <a:lstStyle/>
          <a:p>
            <a:pPr marL="0" indent="0" algn="l">
              <a:lnSpc>
                <a:spcPct val="100893"/>
              </a:lnSpc>
              <a:buNone/>
            </a:pPr>
            <a:r>
              <a:rPr lang="en-US" sz="2550" b="1" kern="0" spc="-38" dirty="0">
                <a:solidFill>
                  <a:srgbClr val="201E1D"/>
                </a:solidFill>
                <a:latin typeface="Arial" pitchFamily="34" charset="0"/>
                <a:ea typeface="Arial" pitchFamily="34" charset="-122"/>
                <a:cs typeface="Arial" pitchFamily="34" charset="-120"/>
              </a:rPr>
              <a:t>Ranking is condition-blind</a:t>
            </a:r>
            <a:endParaRPr lang="en-US" sz="2550" dirty="0"/>
          </a:p>
        </p:txBody>
      </p:sp>
      <p:sp>
        <p:nvSpPr>
          <p:cNvPr id="16" name="Text 14"/>
          <p:cNvSpPr/>
          <p:nvPr/>
        </p:nvSpPr>
        <p:spPr>
          <a:xfrm>
            <a:off x="990586" y="6672641"/>
            <a:ext cx="7927127" cy="1156746"/>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Path ranking uses semantic similarity alone. Folding a condition-match signal into the score would address the dominant error category.</a:t>
            </a:r>
            <a:endParaRPr lang="en-US" sz="2025" dirty="0"/>
          </a:p>
        </p:txBody>
      </p:sp>
      <p:sp>
        <p:nvSpPr>
          <p:cNvPr id="17" name="Shape 15"/>
          <p:cNvSpPr/>
          <p:nvPr/>
        </p:nvSpPr>
        <p:spPr>
          <a:xfrm>
            <a:off x="9601173" y="5916188"/>
            <a:ext cx="7696240" cy="19009"/>
          </a:xfrm>
          <a:prstGeom prst="rect">
            <a:avLst/>
          </a:prstGeom>
          <a:solidFill>
            <a:srgbClr val="201E1D">
              <a:alpha val="40000"/>
            </a:srgbClr>
          </a:solidFill>
          <a:ln/>
        </p:spPr>
        <p:txBody>
          <a:bodyPr/>
          <a:lstStyle/>
          <a:p>
            <a:endParaRPr lang="en-US"/>
          </a:p>
        </p:txBody>
      </p:sp>
      <p:sp>
        <p:nvSpPr>
          <p:cNvPr id="18" name="Text 16"/>
          <p:cNvSpPr/>
          <p:nvPr/>
        </p:nvSpPr>
        <p:spPr>
          <a:xfrm>
            <a:off x="9601173" y="6144707"/>
            <a:ext cx="8465864" cy="413688"/>
          </a:xfrm>
          <a:prstGeom prst="rect">
            <a:avLst/>
          </a:prstGeom>
          <a:noFill/>
          <a:ln/>
        </p:spPr>
        <p:txBody>
          <a:bodyPr wrap="square" lIns="25400" tIns="25400" rIns="25400" bIns="25400" rtlCol="0" anchor="t">
            <a:normAutofit lnSpcReduction="10000"/>
          </a:bodyPr>
          <a:lstStyle/>
          <a:p>
            <a:pPr marL="0" indent="0" algn="l">
              <a:lnSpc>
                <a:spcPct val="100893"/>
              </a:lnSpc>
              <a:buNone/>
            </a:pPr>
            <a:r>
              <a:rPr lang="en-US" sz="2550" b="1" kern="0" spc="-38" dirty="0">
                <a:solidFill>
                  <a:srgbClr val="201E1D"/>
                </a:solidFill>
                <a:latin typeface="Arial" pitchFamily="34" charset="0"/>
                <a:ea typeface="Arial" pitchFamily="34" charset="-122"/>
                <a:cs typeface="Arial" pitchFamily="34" charset="-120"/>
              </a:rPr>
              <a:t>Entity normalization</a:t>
            </a:r>
            <a:endParaRPr lang="en-US" sz="2550" dirty="0"/>
          </a:p>
        </p:txBody>
      </p:sp>
      <p:sp>
        <p:nvSpPr>
          <p:cNvPr id="19" name="Text 17"/>
          <p:cNvSpPr/>
          <p:nvPr/>
        </p:nvSpPr>
        <p:spPr>
          <a:xfrm>
            <a:off x="9601173" y="6672641"/>
            <a:ext cx="7927127" cy="783864"/>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dirty="0">
                <a:solidFill>
                  <a:srgbClr val="201E1D">
                    <a:alpha val="72000"/>
                  </a:srgbClr>
                </a:solidFill>
                <a:latin typeface="Arial" pitchFamily="34" charset="0"/>
                <a:ea typeface="Arial" pitchFamily="34" charset="-122"/>
                <a:cs typeface="Arial" pitchFamily="34" charset="-120"/>
              </a:rPr>
              <a:t>UMLS CUI resolution can compound errors — </a:t>
            </a:r>
            <a:r>
              <a:rPr lang="en-US" sz="1875" dirty="0">
                <a:solidFill>
                  <a:srgbClr val="201E1D">
                    <a:alpha val="72000"/>
                  </a:srgbClr>
                </a:solidFill>
                <a:latin typeface="Courier New" pitchFamily="34" charset="0"/>
                <a:ea typeface="Courier New" pitchFamily="34" charset="-122"/>
                <a:cs typeface="Courier New" pitchFamily="34" charset="-120"/>
              </a:rPr>
              <a:t>SSRI → SsrI endonuclease </a:t>
            </a:r>
            <a:r>
              <a:rPr lang="en-US" sz="2025" dirty="0">
                <a:solidFill>
                  <a:srgbClr val="201E1D">
                    <a:alpha val="72000"/>
                  </a:srgbClr>
                </a:solidFill>
                <a:latin typeface="Arial" pitchFamily="34" charset="0"/>
                <a:ea typeface="Arial" pitchFamily="34" charset="-122"/>
                <a:cs typeface="Arial" pitchFamily="34" charset="-120"/>
              </a:rPr>
              <a:t>. Auditing that pipeline is necessary work.</a:t>
            </a:r>
            <a:endParaRPr lang="en-US" sz="2025" dirty="0"/>
          </a:p>
        </p:txBody>
      </p:sp>
      <p:sp>
        <p:nvSpPr>
          <p:cNvPr id="20" name="Shape 18"/>
          <p:cNvSpPr/>
          <p:nvPr/>
        </p:nvSpPr>
        <p:spPr>
          <a:xfrm>
            <a:off x="990586" y="8215515"/>
            <a:ext cx="16306827" cy="19009"/>
          </a:xfrm>
          <a:prstGeom prst="rect">
            <a:avLst/>
          </a:prstGeom>
          <a:solidFill>
            <a:srgbClr val="201E1D">
              <a:alpha val="40000"/>
            </a:srgbClr>
          </a:solidFill>
          <a:ln/>
        </p:spPr>
        <p:txBody>
          <a:bodyPr/>
          <a:lstStyle/>
          <a:p>
            <a:endParaRPr lang="en-US"/>
          </a:p>
        </p:txBody>
      </p:sp>
      <p:sp>
        <p:nvSpPr>
          <p:cNvPr id="21" name="Text 19"/>
          <p:cNvSpPr/>
          <p:nvPr/>
        </p:nvSpPr>
        <p:spPr>
          <a:xfrm>
            <a:off x="990586" y="8463111"/>
            <a:ext cx="15893415" cy="783864"/>
          </a:xfrm>
          <a:prstGeom prst="rect">
            <a:avLst/>
          </a:prstGeom>
          <a:noFill/>
          <a:ln/>
        </p:spPr>
        <p:txBody>
          <a:bodyPr wrap="square" lIns="25400" tIns="25400" rIns="25400" bIns="25400" rtlCol="0" anchor="t">
            <a:normAutofit lnSpcReduction="10000"/>
          </a:bodyPr>
          <a:lstStyle/>
          <a:p>
            <a:pPr marL="0" indent="0" algn="l">
              <a:lnSpc>
                <a:spcPct val="124826"/>
              </a:lnSpc>
              <a:buNone/>
            </a:pPr>
            <a:r>
              <a:rPr lang="en-US" sz="2025" b="1" dirty="0">
                <a:solidFill>
                  <a:srgbClr val="201E1D"/>
                </a:solidFill>
                <a:latin typeface="Arial" pitchFamily="34" charset="0"/>
                <a:ea typeface="Arial" pitchFamily="34" charset="-122"/>
                <a:cs typeface="Arial" pitchFamily="34" charset="-120"/>
              </a:rPr>
              <a:t>Future directions. </a:t>
            </a:r>
            <a:r>
              <a:rPr lang="en-US" sz="2025" dirty="0">
                <a:solidFill>
                  <a:srgbClr val="201E1D"/>
                </a:solidFill>
                <a:latin typeface="Arial" pitchFamily="34" charset="0"/>
                <a:ea typeface="Arial" pitchFamily="34" charset="-122"/>
                <a:cs typeface="Arial" pitchFamily="34" charset="-120"/>
              </a:rPr>
              <a:t>Condition-aware path ranking, multi-modal knowledge graphs, privacy-preserving deployment, demographic bias auditing, and extension to other high-stakes domains.</a:t>
            </a:r>
            <a:endParaRPr lang="en-US" sz="2025" dirty="0"/>
          </a:p>
        </p:txBody>
      </p:sp>
      <p:sp>
        <p:nvSpPr>
          <p:cNvPr id="22" name="Text 20"/>
          <p:cNvSpPr/>
          <p:nvPr/>
        </p:nvSpPr>
        <p:spPr>
          <a:xfrm>
            <a:off x="16475408" y="9399375"/>
            <a:ext cx="898205"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B7 / 7</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3C5F8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F3F2F2">
              <a:alpha val="50000"/>
            </a:srgbClr>
          </a:solidFill>
          <a:ln/>
        </p:spPr>
        <p:txBody>
          <a:bodyPr/>
          <a:lstStyle/>
          <a:p>
            <a:endParaRPr lang="en-US"/>
          </a:p>
        </p:txBody>
      </p:sp>
      <p:sp>
        <p:nvSpPr>
          <p:cNvPr id="6" name="Text 4"/>
          <p:cNvSpPr/>
          <p:nvPr/>
        </p:nvSpPr>
        <p:spPr>
          <a:xfrm>
            <a:off x="990586" y="1763816"/>
            <a:ext cx="16973550" cy="790967"/>
          </a:xfrm>
          <a:prstGeom prst="rect">
            <a:avLst/>
          </a:prstGeom>
          <a:noFill/>
          <a:ln/>
        </p:spPr>
        <p:txBody>
          <a:bodyPr wrap="square" lIns="25400" tIns="25400" rIns="25400" bIns="25400" rtlCol="0" anchor="t">
            <a:normAutofit lnSpcReduction="10000"/>
          </a:bodyPr>
          <a:lstStyle/>
          <a:p>
            <a:pPr marL="0" indent="0" algn="l">
              <a:lnSpc>
                <a:spcPct val="91041"/>
              </a:lnSpc>
              <a:buNone/>
            </a:pPr>
            <a:r>
              <a:rPr lang="en-US" sz="5700" b="1" kern="0" spc="-171" dirty="0">
                <a:solidFill>
                  <a:srgbClr val="F3F2F2"/>
                </a:solidFill>
                <a:latin typeface="Arial" pitchFamily="34" charset="0"/>
                <a:ea typeface="Arial" pitchFamily="34" charset="-122"/>
                <a:cs typeface="Arial" pitchFamily="34" charset="-120"/>
              </a:rPr>
              <a:t>Knowing </a:t>
            </a:r>
            <a:r>
              <a:rPr lang="en-US" sz="5700" b="1" i="1" kern="0" spc="-171" dirty="0">
                <a:solidFill>
                  <a:srgbClr val="F3F2F2"/>
                </a:solidFill>
                <a:latin typeface="Arial" pitchFamily="34" charset="0"/>
                <a:ea typeface="Arial" pitchFamily="34" charset="-122"/>
                <a:cs typeface="Arial" pitchFamily="34" charset="-120"/>
              </a:rPr>
              <a:t>when </a:t>
            </a:r>
            <a:r>
              <a:rPr lang="en-US" sz="5700" b="1" kern="0" spc="-171" dirty="0">
                <a:solidFill>
                  <a:srgbClr val="F3F2F2"/>
                </a:solidFill>
                <a:latin typeface="Arial" pitchFamily="34" charset="0"/>
                <a:ea typeface="Arial" pitchFamily="34" charset="-122"/>
                <a:cs typeface="Arial" pitchFamily="34" charset="-120"/>
              </a:rPr>
              <a:t>knowledge applies is a requirement.</a:t>
            </a:r>
            <a:endParaRPr lang="en-US" sz="5700" dirty="0"/>
          </a:p>
        </p:txBody>
      </p:sp>
      <p:sp>
        <p:nvSpPr>
          <p:cNvPr id="7" name="Shape 5"/>
          <p:cNvSpPr/>
          <p:nvPr/>
        </p:nvSpPr>
        <p:spPr>
          <a:xfrm>
            <a:off x="990586" y="4889613"/>
            <a:ext cx="3676663" cy="19009"/>
          </a:xfrm>
          <a:prstGeom prst="rect">
            <a:avLst/>
          </a:prstGeom>
          <a:solidFill>
            <a:srgbClr val="F3F2F2"/>
          </a:solidFill>
          <a:ln/>
        </p:spPr>
        <p:txBody>
          <a:bodyPr/>
          <a:lstStyle/>
          <a:p>
            <a:endParaRPr lang="en-US"/>
          </a:p>
        </p:txBody>
      </p:sp>
      <p:sp>
        <p:nvSpPr>
          <p:cNvPr id="8" name="Text 6"/>
          <p:cNvSpPr/>
          <p:nvPr/>
        </p:nvSpPr>
        <p:spPr>
          <a:xfrm>
            <a:off x="990586" y="5099122"/>
            <a:ext cx="404433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88" dirty="0">
                <a:solidFill>
                  <a:srgbClr val="F3F2F2">
                    <a:alpha val="75000"/>
                  </a:srgbClr>
                </a:solidFill>
                <a:latin typeface="Arial" pitchFamily="34" charset="0"/>
                <a:ea typeface="Arial" pitchFamily="34" charset="-122"/>
                <a:cs typeface="Arial" pitchFamily="34" charset="-120"/>
              </a:rPr>
              <a:t>BENCHMARK</a:t>
            </a:r>
            <a:endParaRPr lang="en-US" sz="1800" dirty="0"/>
          </a:p>
        </p:txBody>
      </p:sp>
      <p:sp>
        <p:nvSpPr>
          <p:cNvPr id="9" name="Text 7"/>
          <p:cNvSpPr/>
          <p:nvPr/>
        </p:nvSpPr>
        <p:spPr>
          <a:xfrm>
            <a:off x="990586" y="5586737"/>
            <a:ext cx="3786963" cy="1198148"/>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dirty="0">
                <a:solidFill>
                  <a:srgbClr val="F3F2F2"/>
                </a:solidFill>
                <a:latin typeface="Arial" pitchFamily="34" charset="0"/>
                <a:ea typeface="Arial" pitchFamily="34" charset="-122"/>
                <a:cs typeface="Arial" pitchFamily="34" charset="-120"/>
              </a:rPr>
              <a:t>100 questions where a patient-specific constraint changes the correct answer.</a:t>
            </a:r>
            <a:endParaRPr lang="en-US" sz="2175" dirty="0"/>
          </a:p>
        </p:txBody>
      </p:sp>
      <p:sp>
        <p:nvSpPr>
          <p:cNvPr id="10" name="Shape 8"/>
          <p:cNvSpPr/>
          <p:nvPr/>
        </p:nvSpPr>
        <p:spPr>
          <a:xfrm>
            <a:off x="5200596" y="4889613"/>
            <a:ext cx="3676731" cy="19009"/>
          </a:xfrm>
          <a:prstGeom prst="rect">
            <a:avLst/>
          </a:prstGeom>
          <a:solidFill>
            <a:srgbClr val="F3F2F2"/>
          </a:solidFill>
          <a:ln/>
        </p:spPr>
        <p:txBody>
          <a:bodyPr/>
          <a:lstStyle/>
          <a:p>
            <a:endParaRPr lang="en-US"/>
          </a:p>
        </p:txBody>
      </p:sp>
      <p:sp>
        <p:nvSpPr>
          <p:cNvPr id="11" name="Text 9"/>
          <p:cNvSpPr/>
          <p:nvPr/>
        </p:nvSpPr>
        <p:spPr>
          <a:xfrm>
            <a:off x="5200596" y="5099122"/>
            <a:ext cx="404440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88" dirty="0">
                <a:solidFill>
                  <a:srgbClr val="F3F2F2">
                    <a:alpha val="75000"/>
                  </a:srgbClr>
                </a:solidFill>
                <a:latin typeface="Arial" pitchFamily="34" charset="0"/>
                <a:ea typeface="Arial" pitchFamily="34" charset="-122"/>
                <a:cs typeface="Arial" pitchFamily="34" charset="-120"/>
              </a:rPr>
              <a:t>METHOD</a:t>
            </a:r>
            <a:endParaRPr lang="en-US" sz="1800" dirty="0"/>
          </a:p>
        </p:txBody>
      </p:sp>
      <p:sp>
        <p:nvSpPr>
          <p:cNvPr id="12" name="Text 10"/>
          <p:cNvSpPr/>
          <p:nvPr/>
        </p:nvSpPr>
        <p:spPr>
          <a:xfrm>
            <a:off x="5200596" y="5586737"/>
            <a:ext cx="3787033" cy="1198148"/>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dirty="0">
                <a:solidFill>
                  <a:srgbClr val="F3F2F2"/>
                </a:solidFill>
                <a:latin typeface="Arial" pitchFamily="34" charset="0"/>
                <a:ea typeface="Arial" pitchFamily="34" charset="-122"/>
                <a:cs typeface="Arial" pitchFamily="34" charset="-120"/>
              </a:rPr>
              <a:t>Conditions ride on the edge; the gate enforces them during traversal.</a:t>
            </a:r>
            <a:endParaRPr lang="en-US" sz="2175" dirty="0"/>
          </a:p>
        </p:txBody>
      </p:sp>
      <p:sp>
        <p:nvSpPr>
          <p:cNvPr id="13" name="Shape 11"/>
          <p:cNvSpPr/>
          <p:nvPr/>
        </p:nvSpPr>
        <p:spPr>
          <a:xfrm>
            <a:off x="9410673" y="4889613"/>
            <a:ext cx="3676663" cy="19009"/>
          </a:xfrm>
          <a:prstGeom prst="rect">
            <a:avLst/>
          </a:prstGeom>
          <a:solidFill>
            <a:srgbClr val="F3F2F2"/>
          </a:solidFill>
          <a:ln/>
        </p:spPr>
        <p:txBody>
          <a:bodyPr/>
          <a:lstStyle/>
          <a:p>
            <a:endParaRPr lang="en-US"/>
          </a:p>
        </p:txBody>
      </p:sp>
      <p:sp>
        <p:nvSpPr>
          <p:cNvPr id="14" name="Text 12"/>
          <p:cNvSpPr/>
          <p:nvPr/>
        </p:nvSpPr>
        <p:spPr>
          <a:xfrm>
            <a:off x="9410673" y="5099122"/>
            <a:ext cx="404433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88" dirty="0">
                <a:solidFill>
                  <a:srgbClr val="F3F2F2">
                    <a:alpha val="75000"/>
                  </a:srgbClr>
                </a:solidFill>
                <a:latin typeface="Arial" pitchFamily="34" charset="0"/>
                <a:ea typeface="Arial" pitchFamily="34" charset="-122"/>
                <a:cs typeface="Arial" pitchFamily="34" charset="-120"/>
              </a:rPr>
              <a:t>RESULT</a:t>
            </a:r>
            <a:endParaRPr lang="en-US" sz="1800" dirty="0"/>
          </a:p>
        </p:txBody>
      </p:sp>
      <p:sp>
        <p:nvSpPr>
          <p:cNvPr id="15" name="Text 13"/>
          <p:cNvSpPr/>
          <p:nvPr/>
        </p:nvSpPr>
        <p:spPr>
          <a:xfrm>
            <a:off x="9410673" y="5586737"/>
            <a:ext cx="3786963" cy="1198148"/>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dirty="0">
                <a:solidFill>
                  <a:srgbClr val="F3F2F2"/>
                </a:solidFill>
                <a:latin typeface="Arial" pitchFamily="34" charset="0"/>
                <a:ea typeface="Arial" pitchFamily="34" charset="-122"/>
                <a:cs typeface="Arial" pitchFamily="34" charset="-120"/>
              </a:rPr>
              <a:t>82.0 EM on CondMedQA (+20), 86.8 on MedHopQA (+11), stable across models.</a:t>
            </a:r>
            <a:endParaRPr lang="en-US" sz="2175" dirty="0"/>
          </a:p>
        </p:txBody>
      </p:sp>
      <p:sp>
        <p:nvSpPr>
          <p:cNvPr id="16" name="Shape 14"/>
          <p:cNvSpPr/>
          <p:nvPr/>
        </p:nvSpPr>
        <p:spPr>
          <a:xfrm>
            <a:off x="13620681" y="4889613"/>
            <a:ext cx="3676731" cy="19009"/>
          </a:xfrm>
          <a:prstGeom prst="rect">
            <a:avLst/>
          </a:prstGeom>
          <a:solidFill>
            <a:srgbClr val="F3F2F2"/>
          </a:solidFill>
          <a:ln/>
        </p:spPr>
        <p:txBody>
          <a:bodyPr/>
          <a:lstStyle/>
          <a:p>
            <a:endParaRPr lang="en-US"/>
          </a:p>
        </p:txBody>
      </p:sp>
      <p:sp>
        <p:nvSpPr>
          <p:cNvPr id="17" name="Text 15"/>
          <p:cNvSpPr/>
          <p:nvPr/>
        </p:nvSpPr>
        <p:spPr>
          <a:xfrm>
            <a:off x="13620681" y="5099122"/>
            <a:ext cx="404440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288" dirty="0">
                <a:solidFill>
                  <a:srgbClr val="F3F2F2">
                    <a:alpha val="75000"/>
                  </a:srgbClr>
                </a:solidFill>
                <a:latin typeface="Arial" pitchFamily="34" charset="0"/>
                <a:ea typeface="Arial" pitchFamily="34" charset="-122"/>
                <a:cs typeface="Arial" pitchFamily="34" charset="-120"/>
              </a:rPr>
              <a:t>NEXT</a:t>
            </a:r>
            <a:endParaRPr lang="en-US" sz="1800" dirty="0"/>
          </a:p>
        </p:txBody>
      </p:sp>
      <p:sp>
        <p:nvSpPr>
          <p:cNvPr id="18" name="Text 16"/>
          <p:cNvSpPr/>
          <p:nvPr/>
        </p:nvSpPr>
        <p:spPr>
          <a:xfrm>
            <a:off x="13620681" y="5586737"/>
            <a:ext cx="3787033" cy="1198148"/>
          </a:xfrm>
          <a:prstGeom prst="rect">
            <a:avLst/>
          </a:prstGeom>
          <a:noFill/>
          <a:ln/>
        </p:spPr>
        <p:txBody>
          <a:bodyPr wrap="square" lIns="25400" tIns="25400" rIns="25400" bIns="25400" rtlCol="0" anchor="t">
            <a:normAutofit lnSpcReduction="10000"/>
          </a:bodyPr>
          <a:lstStyle/>
          <a:p>
            <a:pPr marL="0" indent="0" algn="l">
              <a:lnSpc>
                <a:spcPct val="120703"/>
              </a:lnSpc>
              <a:buNone/>
            </a:pPr>
            <a:r>
              <a:rPr lang="en-US" sz="2175" dirty="0">
                <a:solidFill>
                  <a:srgbClr val="F3F2F2"/>
                </a:solidFill>
                <a:latin typeface="Arial" pitchFamily="34" charset="0"/>
                <a:ea typeface="Arial" pitchFamily="34" charset="-122"/>
                <a:cs typeface="Arial" pitchFamily="34" charset="-120"/>
              </a:rPr>
              <a:t>Condition-aware path ranking, broader condition coverage, bias auditing.</a:t>
            </a:r>
            <a:endParaRPr lang="en-US" sz="2175" dirty="0"/>
          </a:p>
        </p:txBody>
      </p:sp>
      <p:sp>
        <p:nvSpPr>
          <p:cNvPr id="19" name="Shape 17"/>
          <p:cNvSpPr/>
          <p:nvPr/>
        </p:nvSpPr>
        <p:spPr>
          <a:xfrm>
            <a:off x="990586" y="9119781"/>
            <a:ext cx="16306827" cy="19009"/>
          </a:xfrm>
          <a:prstGeom prst="rect">
            <a:avLst/>
          </a:prstGeom>
          <a:solidFill>
            <a:srgbClr val="F3F2F2">
              <a:alpha val="50000"/>
            </a:srgbClr>
          </a:solidFill>
          <a:ln/>
        </p:spPr>
        <p:txBody>
          <a:bodyPr/>
          <a:lstStyle/>
          <a:p>
            <a:endParaRPr lang="en-US"/>
          </a:p>
        </p:txBody>
      </p:sp>
      <p:sp>
        <p:nvSpPr>
          <p:cNvPr id="21" name="Text 19"/>
          <p:cNvSpPr/>
          <p:nvPr/>
        </p:nvSpPr>
        <p:spPr>
          <a:xfrm>
            <a:off x="16346536" y="9399375"/>
            <a:ext cx="1027076"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F3F2F2">
                    <a:alpha val="65000"/>
                  </a:srgbClr>
                </a:solidFill>
                <a:latin typeface="Arial" pitchFamily="34" charset="0"/>
                <a:ea typeface="Arial" pitchFamily="34" charset="-122"/>
                <a:cs typeface="Arial" pitchFamily="34" charset="-120"/>
              </a:rPr>
              <a:t>15 / 16</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a:effectLst/>
      </p:bgPr>
    </p:bg>
    <p:spTree>
      <p:nvGrpSpPr>
        <p:cNvPr id="1" name=""/>
        <p:cNvGrpSpPr/>
        <p:nvPr/>
      </p:nvGrpSpPr>
      <p:grpSpPr>
        <a:xfrm>
          <a:off x="0" y="0"/>
          <a:ext cx="0" cy="0"/>
          <a:chOff x="0" y="0"/>
          <a:chExt cx="0" cy="0"/>
        </a:xfrm>
      </p:grpSpPr>
      <p:sp>
        <p:nvSpPr>
          <p:cNvPr id="5" name="Shape 3"/>
          <p:cNvSpPr/>
          <p:nvPr/>
        </p:nvSpPr>
        <p:spPr>
          <a:xfrm>
            <a:off x="990586" y="1249547"/>
            <a:ext cx="16306827" cy="19009"/>
          </a:xfrm>
          <a:prstGeom prst="rect">
            <a:avLst/>
          </a:prstGeom>
          <a:solidFill>
            <a:srgbClr val="201E1D">
              <a:alpha val="40000"/>
            </a:srgbClr>
          </a:solidFill>
          <a:ln/>
        </p:spPr>
        <p:txBody>
          <a:bodyPr/>
          <a:lstStyle/>
          <a:p>
            <a:endParaRPr lang="en-US"/>
          </a:p>
        </p:txBody>
      </p:sp>
      <p:sp>
        <p:nvSpPr>
          <p:cNvPr id="6" name="Text 4"/>
          <p:cNvSpPr/>
          <p:nvPr/>
        </p:nvSpPr>
        <p:spPr>
          <a:xfrm>
            <a:off x="990586" y="1763816"/>
            <a:ext cx="17937509" cy="1295427"/>
          </a:xfrm>
          <a:prstGeom prst="rect">
            <a:avLst/>
          </a:prstGeom>
          <a:noFill/>
          <a:ln/>
        </p:spPr>
        <p:txBody>
          <a:bodyPr wrap="square" lIns="25400" tIns="25400" rIns="25400" bIns="25400" rtlCol="0" anchor="t">
            <a:normAutofit lnSpcReduction="10000"/>
          </a:bodyPr>
          <a:lstStyle/>
          <a:p>
            <a:pPr marL="0" indent="0" algn="l">
              <a:lnSpc>
                <a:spcPct val="86687"/>
              </a:lnSpc>
              <a:buNone/>
            </a:pPr>
            <a:r>
              <a:rPr lang="en-US" sz="9900" b="1" kern="0" spc="-346" dirty="0">
                <a:solidFill>
                  <a:srgbClr val="201E1D"/>
                </a:solidFill>
                <a:latin typeface="Arial" pitchFamily="34" charset="0"/>
                <a:ea typeface="Arial" pitchFamily="34" charset="-122"/>
                <a:cs typeface="Arial" pitchFamily="34" charset="-120"/>
              </a:rPr>
              <a:t>Questions?</a:t>
            </a:r>
            <a:endParaRPr lang="en-US" sz="9900" dirty="0"/>
          </a:p>
        </p:txBody>
      </p:sp>
      <p:sp>
        <p:nvSpPr>
          <p:cNvPr id="7" name="Shape 5"/>
          <p:cNvSpPr/>
          <p:nvPr/>
        </p:nvSpPr>
        <p:spPr>
          <a:xfrm>
            <a:off x="990586" y="4939944"/>
            <a:ext cx="2857500" cy="19009"/>
          </a:xfrm>
          <a:prstGeom prst="rect">
            <a:avLst/>
          </a:prstGeom>
          <a:solidFill>
            <a:srgbClr val="201E1D"/>
          </a:solidFill>
          <a:ln/>
        </p:spPr>
        <p:txBody>
          <a:bodyPr/>
          <a:lstStyle/>
          <a:p>
            <a:endParaRPr lang="en-US"/>
          </a:p>
        </p:txBody>
      </p:sp>
      <p:sp>
        <p:nvSpPr>
          <p:cNvPr id="8" name="Shape 6"/>
          <p:cNvSpPr/>
          <p:nvPr/>
        </p:nvSpPr>
        <p:spPr>
          <a:xfrm>
            <a:off x="4533846" y="4939944"/>
            <a:ext cx="2857500" cy="19009"/>
          </a:xfrm>
          <a:prstGeom prst="rect">
            <a:avLst/>
          </a:prstGeom>
          <a:solidFill>
            <a:srgbClr val="201E1D"/>
          </a:solidFill>
          <a:ln/>
        </p:spPr>
        <p:txBody>
          <a:bodyPr/>
          <a:lstStyle/>
          <a:p>
            <a:endParaRPr lang="en-US"/>
          </a:p>
        </p:txBody>
      </p:sp>
      <p:sp>
        <p:nvSpPr>
          <p:cNvPr id="9" name="Text 7"/>
          <p:cNvSpPr/>
          <p:nvPr/>
        </p:nvSpPr>
        <p:spPr>
          <a:xfrm>
            <a:off x="990586" y="5149453"/>
            <a:ext cx="31432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PAPER</a:t>
            </a:r>
            <a:endParaRPr lang="en-US" sz="1800" dirty="0"/>
          </a:p>
        </p:txBody>
      </p:sp>
      <p:sp>
        <p:nvSpPr>
          <p:cNvPr id="10" name="Text 8"/>
          <p:cNvSpPr/>
          <p:nvPr/>
        </p:nvSpPr>
        <p:spPr>
          <a:xfrm>
            <a:off x="4533846" y="5149453"/>
            <a:ext cx="3143250"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3C5F82"/>
                </a:solidFill>
                <a:latin typeface="Arial" pitchFamily="34" charset="0"/>
                <a:ea typeface="Arial" pitchFamily="34" charset="-122"/>
                <a:cs typeface="Arial" pitchFamily="34" charset="-120"/>
              </a:rPr>
              <a:t>BENCHMARK</a:t>
            </a:r>
            <a:endParaRPr lang="en-US" sz="1800" dirty="0"/>
          </a:p>
        </p:txBody>
      </p:sp>
      <p:sp>
        <p:nvSpPr>
          <p:cNvPr id="13" name="Shape 11"/>
          <p:cNvSpPr/>
          <p:nvPr/>
        </p:nvSpPr>
        <p:spPr>
          <a:xfrm>
            <a:off x="8153346" y="4958953"/>
            <a:ext cx="9144067" cy="19009"/>
          </a:xfrm>
          <a:prstGeom prst="rect">
            <a:avLst/>
          </a:prstGeom>
          <a:solidFill>
            <a:srgbClr val="201E1D">
              <a:alpha val="40000"/>
            </a:srgbClr>
          </a:solidFill>
          <a:ln/>
        </p:spPr>
        <p:txBody>
          <a:bodyPr/>
          <a:lstStyle/>
          <a:p>
            <a:endParaRPr lang="en-US"/>
          </a:p>
        </p:txBody>
      </p:sp>
      <p:sp>
        <p:nvSpPr>
          <p:cNvPr id="14" name="Text 12"/>
          <p:cNvSpPr/>
          <p:nvPr/>
        </p:nvSpPr>
        <p:spPr>
          <a:xfrm>
            <a:off x="8153345" y="5149453"/>
            <a:ext cx="10058474" cy="392379"/>
          </a:xfrm>
          <a:prstGeom prst="rect">
            <a:avLst/>
          </a:prstGeom>
          <a:noFill/>
          <a:ln/>
        </p:spPr>
        <p:txBody>
          <a:bodyPr wrap="square" lIns="25400" tIns="25400" rIns="25400" bIns="25400" rtlCol="0" anchor="t">
            <a:normAutofit/>
          </a:bodyPr>
          <a:lstStyle/>
          <a:p>
            <a:pPr marL="0" indent="0" algn="l">
              <a:lnSpc>
                <a:spcPct val="134164"/>
              </a:lnSpc>
              <a:buNone/>
            </a:pPr>
            <a:r>
              <a:rPr lang="en-US" sz="1800" b="1" kern="0" spc="324" dirty="0">
                <a:solidFill>
                  <a:srgbClr val="201E1D">
                    <a:alpha val="50000"/>
                  </a:srgbClr>
                </a:solidFill>
                <a:latin typeface="Arial" pitchFamily="34" charset="0"/>
                <a:ea typeface="Arial" pitchFamily="34" charset="-122"/>
                <a:cs typeface="Arial" pitchFamily="34" charset="-120"/>
              </a:rPr>
              <a:t>CONTACT</a:t>
            </a:r>
            <a:endParaRPr lang="en-US" sz="1800" dirty="0"/>
          </a:p>
        </p:txBody>
      </p:sp>
      <p:sp>
        <p:nvSpPr>
          <p:cNvPr id="15" name="Text 13"/>
          <p:cNvSpPr/>
          <p:nvPr/>
        </p:nvSpPr>
        <p:spPr>
          <a:xfrm>
            <a:off x="8153345" y="5707902"/>
            <a:ext cx="10058474" cy="518138"/>
          </a:xfrm>
          <a:prstGeom prst="rect">
            <a:avLst/>
          </a:prstGeom>
          <a:noFill/>
          <a:ln/>
        </p:spPr>
        <p:txBody>
          <a:bodyPr wrap="square" lIns="25400" tIns="25400" rIns="25400" bIns="25400" rtlCol="0" anchor="t">
            <a:normAutofit lnSpcReduction="10000"/>
          </a:bodyPr>
          <a:lstStyle/>
          <a:p>
            <a:pPr marL="0" indent="0" algn="l">
              <a:lnSpc>
                <a:spcPct val="103626"/>
              </a:lnSpc>
              <a:buNone/>
            </a:pPr>
            <a:r>
              <a:rPr lang="en-US" sz="3150" b="1" kern="0" spc="-47" dirty="0">
                <a:solidFill>
                  <a:srgbClr val="201E1D"/>
                </a:solidFill>
                <a:latin typeface="Arial" pitchFamily="34" charset="0"/>
                <a:ea typeface="Arial" pitchFamily="34" charset="-122"/>
                <a:cs typeface="Arial" pitchFamily="34" charset="-120"/>
              </a:rPr>
              <a:t>jashrp2@illinois.edu</a:t>
            </a:r>
            <a:endParaRPr lang="en-US" sz="3150" dirty="0"/>
          </a:p>
        </p:txBody>
      </p:sp>
      <p:sp>
        <p:nvSpPr>
          <p:cNvPr id="18" name="Text 16"/>
          <p:cNvSpPr/>
          <p:nvPr/>
        </p:nvSpPr>
        <p:spPr>
          <a:xfrm>
            <a:off x="16346063" y="9399375"/>
            <a:ext cx="1027550" cy="392379"/>
          </a:xfrm>
          <a:prstGeom prst="rect">
            <a:avLst/>
          </a:prstGeom>
          <a:noFill/>
          <a:ln/>
        </p:spPr>
        <p:txBody>
          <a:bodyPr wrap="square" lIns="25400" tIns="25400" rIns="25400" bIns="25400" rtlCol="0" anchor="t">
            <a:normAutofit fontScale="92500"/>
          </a:bodyPr>
          <a:lstStyle/>
          <a:p>
            <a:pPr marL="0" indent="0" algn="l">
              <a:lnSpc>
                <a:spcPct val="134164"/>
              </a:lnSpc>
              <a:buNone/>
            </a:pPr>
            <a:r>
              <a:rPr lang="en-US" sz="1800" kern="0" spc="324" dirty="0">
                <a:solidFill>
                  <a:srgbClr val="201E1D">
                    <a:alpha val="34000"/>
                  </a:srgbClr>
                </a:solidFill>
                <a:latin typeface="Arial" pitchFamily="34" charset="0"/>
                <a:ea typeface="Arial" pitchFamily="34" charset="-122"/>
                <a:cs typeface="Arial" pitchFamily="34" charset="-120"/>
              </a:rPr>
              <a:t>16 / 16</a:t>
            </a:r>
            <a:endParaRPr lang="en-US" sz="1800" dirty="0"/>
          </a:p>
        </p:txBody>
      </p:sp>
      <p:pic>
        <p:nvPicPr>
          <p:cNvPr id="19" name="Picture 18">
            <a:extLst>
              <a:ext uri="{FF2B5EF4-FFF2-40B4-BE49-F238E27FC236}">
                <a16:creationId xmlns:a16="http://schemas.microsoft.com/office/drawing/2014/main" id="{2D047EBF-4E7A-E46F-23C3-83EFBE3820D3}"/>
              </a:ext>
            </a:extLst>
          </p:cNvPr>
          <p:cNvPicPr>
            <a:picLocks noChangeAspect="1"/>
          </p:cNvPicPr>
          <p:nvPr/>
        </p:nvPicPr>
        <p:blipFill>
          <a:blip r:embed="rId3"/>
          <a:stretch>
            <a:fillRect/>
          </a:stretch>
        </p:blipFill>
        <p:spPr>
          <a:xfrm>
            <a:off x="990585" y="5707902"/>
            <a:ext cx="2857499" cy="2857499"/>
          </a:xfrm>
          <a:prstGeom prst="rect">
            <a:avLst/>
          </a:prstGeom>
        </p:spPr>
      </p:pic>
      <p:pic>
        <p:nvPicPr>
          <p:cNvPr id="20" name="Picture 19">
            <a:extLst>
              <a:ext uri="{FF2B5EF4-FFF2-40B4-BE49-F238E27FC236}">
                <a16:creationId xmlns:a16="http://schemas.microsoft.com/office/drawing/2014/main" id="{21603CF6-24C8-27AA-2167-06A1F216287F}"/>
              </a:ext>
            </a:extLst>
          </p:cNvPr>
          <p:cNvPicPr>
            <a:picLocks noChangeAspect="1"/>
          </p:cNvPicPr>
          <p:nvPr/>
        </p:nvPicPr>
        <p:blipFill>
          <a:blip r:embed="rId4"/>
          <a:stretch>
            <a:fillRect/>
          </a:stretch>
        </p:blipFill>
        <p:spPr>
          <a:xfrm>
            <a:off x="4533846" y="5708905"/>
            <a:ext cx="2857498" cy="285248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1300</TotalTime>
  <Words>3502</Words>
  <Application>Microsoft Macintosh PowerPoint</Application>
  <PresentationFormat>Custom</PresentationFormat>
  <Paragraphs>336</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Parekh, Jash Rajesh</cp:lastModifiedBy>
  <cp:revision>22</cp:revision>
  <dcterms:created xsi:type="dcterms:W3CDTF">2026-08-01T19:21:39Z</dcterms:created>
  <dcterms:modified xsi:type="dcterms:W3CDTF">2026-09-01T19:25:06Z</dcterms:modified>
</cp:coreProperties>
</file>